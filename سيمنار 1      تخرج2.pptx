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48" r:id="rId1"/>
  </p:sldMasterIdLst>
  <p:notesMasterIdLst>
    <p:notesMasterId r:id="rId12"/>
  </p:notesMasterIdLst>
  <p:sldIdLst>
    <p:sldId id="267" r:id="rId2"/>
    <p:sldId id="294" r:id="rId3"/>
    <p:sldId id="296" r:id="rId4"/>
    <p:sldId id="288" r:id="rId5"/>
    <p:sldId id="271" r:id="rId6"/>
    <p:sldId id="289" r:id="rId7"/>
    <p:sldId id="290" r:id="rId8"/>
    <p:sldId id="285" r:id="rId9"/>
    <p:sldId id="292" r:id="rId10"/>
    <p:sldId id="293"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0" d="100"/>
          <a:sy n="80" d="100"/>
        </p:scale>
        <p:origin x="782"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2D380A-B25C-4554-9D12-6A864851EAA3}" type="datetimeFigureOut">
              <a:rPr lang="en-US" smtClean="0"/>
              <a:t>10/28/2026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8C53628-D422-490A-B670-D481D4DAFA63}" type="slidenum">
              <a:rPr lang="en-US" smtClean="0"/>
              <a:t>‹#›</a:t>
            </a:fld>
            <a:endParaRPr lang="en-US"/>
          </a:p>
        </p:txBody>
      </p:sp>
    </p:spTree>
    <p:extLst>
      <p:ext uri="{BB962C8B-B14F-4D97-AF65-F5344CB8AC3E}">
        <p14:creationId xmlns:p14="http://schemas.microsoft.com/office/powerpoint/2010/main" val="3409141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E74F2E77-788A-9C1E-A253-E519B641DDB1}"/>
              </a:ext>
            </a:extLst>
          </p:cNvPr>
          <p:cNvSpPr>
            <a:spLocks noGrp="1"/>
          </p:cNvSpPr>
          <p:nvPr>
            <p:ph type="dt" sz="half" idx="10"/>
          </p:nvPr>
        </p:nvSpPr>
        <p:spPr/>
        <p:txBody>
          <a:bodyPr/>
          <a:lstStyle/>
          <a:p>
            <a:fld id="{4E54A005-A4AE-48B5-9B72-AC59F9D0C9F3}" type="datetime1">
              <a:rPr lang="en-US" smtClean="0"/>
              <a:t>10/28/2026</a:t>
            </a:fld>
            <a:endParaRPr lang="en-US"/>
          </a:p>
        </p:txBody>
      </p:sp>
      <p:sp>
        <p:nvSpPr>
          <p:cNvPr id="5" name="Footer Placeholder 4">
            <a:extLst>
              <a:ext uri="{FF2B5EF4-FFF2-40B4-BE49-F238E27FC236}">
                <a16:creationId xmlns:a16="http://schemas.microsoft.com/office/drawing/2014/main" id="{884498E3-ED2D-6826-7063-38EB88912EBA}"/>
              </a:ext>
            </a:extLst>
          </p:cNvPr>
          <p:cNvSpPr>
            <a:spLocks noGrp="1"/>
          </p:cNvSpPr>
          <p:nvPr>
            <p:ph type="ftr" sz="quarter" idx="11"/>
          </p:nvPr>
        </p:nvSpPr>
        <p:spPr/>
        <p:txBody>
          <a:bodyPr/>
          <a:lstStyle/>
          <a:p>
            <a:r>
              <a:rPr lang="ar-LB"/>
              <a:t>مشروع فصلي....</a:t>
            </a:r>
            <a:endParaRPr lang="en-US"/>
          </a:p>
        </p:txBody>
      </p:sp>
      <p:sp>
        <p:nvSpPr>
          <p:cNvPr id="6" name="Slide Number Placeholder 5">
            <a:extLst>
              <a:ext uri="{FF2B5EF4-FFF2-40B4-BE49-F238E27FC236}">
                <a16:creationId xmlns:a16="http://schemas.microsoft.com/office/drawing/2014/main" id="{058161BF-6988-026C-DC94-2566B9B74374}"/>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37354282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3947E8-ECBE-386A-59D3-99FCD9C8600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3B1C658-EDE0-BA68-5E59-5A8AE19B74F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F6B6D6-EA20-5153-F9E6-69BE378DA17E}"/>
              </a:ext>
            </a:extLst>
          </p:cNvPr>
          <p:cNvSpPr>
            <a:spLocks noGrp="1"/>
          </p:cNvSpPr>
          <p:nvPr>
            <p:ph type="dt" sz="half" idx="10"/>
          </p:nvPr>
        </p:nvSpPr>
        <p:spPr/>
        <p:txBody>
          <a:bodyPr/>
          <a:lstStyle/>
          <a:p>
            <a:fld id="{CF5F1D80-E922-4C56-BACD-EEFC21DCFF81}" type="datetime1">
              <a:rPr lang="en-US" smtClean="0"/>
              <a:t>10/28/2026</a:t>
            </a:fld>
            <a:endParaRPr lang="en-US"/>
          </a:p>
        </p:txBody>
      </p:sp>
      <p:sp>
        <p:nvSpPr>
          <p:cNvPr id="5" name="Footer Placeholder 4">
            <a:extLst>
              <a:ext uri="{FF2B5EF4-FFF2-40B4-BE49-F238E27FC236}">
                <a16:creationId xmlns:a16="http://schemas.microsoft.com/office/drawing/2014/main" id="{025D8551-6A6D-0059-4C2D-C744DB801887}"/>
              </a:ext>
            </a:extLst>
          </p:cNvPr>
          <p:cNvSpPr>
            <a:spLocks noGrp="1"/>
          </p:cNvSpPr>
          <p:nvPr>
            <p:ph type="ftr" sz="quarter" idx="11"/>
          </p:nvPr>
        </p:nvSpPr>
        <p:spPr/>
        <p:txBody>
          <a:bodyPr/>
          <a:lstStyle/>
          <a:p>
            <a:r>
              <a:rPr lang="ar-LB"/>
              <a:t>مشروع فصلي....</a:t>
            </a:r>
            <a:endParaRPr lang="en-US"/>
          </a:p>
        </p:txBody>
      </p:sp>
      <p:sp>
        <p:nvSpPr>
          <p:cNvPr id="6" name="Slide Number Placeholder 5">
            <a:extLst>
              <a:ext uri="{FF2B5EF4-FFF2-40B4-BE49-F238E27FC236}">
                <a16:creationId xmlns:a16="http://schemas.microsoft.com/office/drawing/2014/main" id="{6AFFA687-E925-6CDC-8C7E-7C88CD08FADC}"/>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36171934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EB5B58-257B-3360-2D4E-3A189798CD5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3FB5218-484E-2B62-9425-B97EE0F44D4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C4002CB-4614-0299-EDD5-8B440101ABD2}"/>
              </a:ext>
            </a:extLst>
          </p:cNvPr>
          <p:cNvSpPr>
            <a:spLocks noGrp="1"/>
          </p:cNvSpPr>
          <p:nvPr>
            <p:ph type="dt" sz="half" idx="10"/>
          </p:nvPr>
        </p:nvSpPr>
        <p:spPr/>
        <p:txBody>
          <a:bodyPr/>
          <a:lstStyle/>
          <a:p>
            <a:fld id="{49343454-2FB9-4C8F-B182-7B2E5743343C}" type="datetime1">
              <a:rPr lang="en-US" smtClean="0"/>
              <a:t>10/28/2026</a:t>
            </a:fld>
            <a:endParaRPr lang="en-US"/>
          </a:p>
        </p:txBody>
      </p:sp>
      <p:sp>
        <p:nvSpPr>
          <p:cNvPr id="5" name="Footer Placeholder 4">
            <a:extLst>
              <a:ext uri="{FF2B5EF4-FFF2-40B4-BE49-F238E27FC236}">
                <a16:creationId xmlns:a16="http://schemas.microsoft.com/office/drawing/2014/main" id="{BE8D11BC-DD39-8C40-2266-8449E8E24A52}"/>
              </a:ext>
            </a:extLst>
          </p:cNvPr>
          <p:cNvSpPr>
            <a:spLocks noGrp="1"/>
          </p:cNvSpPr>
          <p:nvPr>
            <p:ph type="ftr" sz="quarter" idx="11"/>
          </p:nvPr>
        </p:nvSpPr>
        <p:spPr/>
        <p:txBody>
          <a:bodyPr/>
          <a:lstStyle/>
          <a:p>
            <a:r>
              <a:rPr lang="ar-LB"/>
              <a:t>مشروع فصلي....</a:t>
            </a:r>
            <a:endParaRPr lang="en-US"/>
          </a:p>
        </p:txBody>
      </p:sp>
      <p:sp>
        <p:nvSpPr>
          <p:cNvPr id="6" name="Slide Number Placeholder 5">
            <a:extLst>
              <a:ext uri="{FF2B5EF4-FFF2-40B4-BE49-F238E27FC236}">
                <a16:creationId xmlns:a16="http://schemas.microsoft.com/office/drawing/2014/main" id="{07E50166-28D8-2DDD-636F-FD317779A847}"/>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25775612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7172B2-850D-2F4C-6716-85D5B2D7D4C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D7800FC-42E7-C5BA-C8AC-E0FEED1D1B6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0CF8609-C937-CBCC-AEB9-BF37DF6818C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1A492CB-5016-8804-EC3D-0E23BC9DE510}"/>
              </a:ext>
            </a:extLst>
          </p:cNvPr>
          <p:cNvSpPr>
            <a:spLocks noGrp="1"/>
          </p:cNvSpPr>
          <p:nvPr>
            <p:ph type="dt" sz="half" idx="10"/>
          </p:nvPr>
        </p:nvSpPr>
        <p:spPr/>
        <p:txBody>
          <a:bodyPr/>
          <a:lstStyle/>
          <a:p>
            <a:fld id="{5D83650C-01B7-4756-A73F-6F4EA1E5431E}" type="datetime1">
              <a:rPr lang="en-US" smtClean="0"/>
              <a:t>10/28/2026</a:t>
            </a:fld>
            <a:endParaRPr lang="en-US"/>
          </a:p>
        </p:txBody>
      </p:sp>
      <p:sp>
        <p:nvSpPr>
          <p:cNvPr id="6" name="Footer Placeholder 5">
            <a:extLst>
              <a:ext uri="{FF2B5EF4-FFF2-40B4-BE49-F238E27FC236}">
                <a16:creationId xmlns:a16="http://schemas.microsoft.com/office/drawing/2014/main" id="{336F2CA0-62A7-3F15-B164-0AEED105DF29}"/>
              </a:ext>
            </a:extLst>
          </p:cNvPr>
          <p:cNvSpPr>
            <a:spLocks noGrp="1"/>
          </p:cNvSpPr>
          <p:nvPr>
            <p:ph type="ftr" sz="quarter" idx="11"/>
          </p:nvPr>
        </p:nvSpPr>
        <p:spPr/>
        <p:txBody>
          <a:bodyPr/>
          <a:lstStyle/>
          <a:p>
            <a:r>
              <a:rPr lang="ar-LB"/>
              <a:t>مشروع فصلي....</a:t>
            </a:r>
            <a:endParaRPr lang="en-US"/>
          </a:p>
        </p:txBody>
      </p:sp>
      <p:sp>
        <p:nvSpPr>
          <p:cNvPr id="7" name="Slide Number Placeholder 6">
            <a:extLst>
              <a:ext uri="{FF2B5EF4-FFF2-40B4-BE49-F238E27FC236}">
                <a16:creationId xmlns:a16="http://schemas.microsoft.com/office/drawing/2014/main" id="{EC2D77B4-97C3-0109-492A-4CB1B0659F93}"/>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14801741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10D8A-FA99-1027-FEC9-8FDFF362905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A742391-9774-2E4C-C170-3FE9774B85A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621A0E3-5607-927A-7181-9A807B9F4CE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D18725F-934A-682D-D056-CDE6C388BF5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9A43AAD-ACFD-0BD4-4A71-BA3ECBF9919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CE2CC47-F10F-8A91-81CA-F3A857264525}"/>
              </a:ext>
            </a:extLst>
          </p:cNvPr>
          <p:cNvSpPr>
            <a:spLocks noGrp="1"/>
          </p:cNvSpPr>
          <p:nvPr>
            <p:ph type="dt" sz="half" idx="10"/>
          </p:nvPr>
        </p:nvSpPr>
        <p:spPr/>
        <p:txBody>
          <a:bodyPr/>
          <a:lstStyle/>
          <a:p>
            <a:fld id="{733A1D95-9BF9-4CE1-A0EA-90FF297D19D0}" type="datetime1">
              <a:rPr lang="en-US" smtClean="0"/>
              <a:t>10/28/2026</a:t>
            </a:fld>
            <a:endParaRPr lang="en-US"/>
          </a:p>
        </p:txBody>
      </p:sp>
      <p:sp>
        <p:nvSpPr>
          <p:cNvPr id="8" name="Footer Placeholder 7">
            <a:extLst>
              <a:ext uri="{FF2B5EF4-FFF2-40B4-BE49-F238E27FC236}">
                <a16:creationId xmlns:a16="http://schemas.microsoft.com/office/drawing/2014/main" id="{72BC06B0-830C-FBEE-FECE-C6406EF9FF3A}"/>
              </a:ext>
            </a:extLst>
          </p:cNvPr>
          <p:cNvSpPr>
            <a:spLocks noGrp="1"/>
          </p:cNvSpPr>
          <p:nvPr>
            <p:ph type="ftr" sz="quarter" idx="11"/>
          </p:nvPr>
        </p:nvSpPr>
        <p:spPr/>
        <p:txBody>
          <a:bodyPr/>
          <a:lstStyle/>
          <a:p>
            <a:r>
              <a:rPr lang="ar-LB"/>
              <a:t>مشروع فصلي....</a:t>
            </a:r>
            <a:endParaRPr lang="en-US"/>
          </a:p>
        </p:txBody>
      </p:sp>
      <p:sp>
        <p:nvSpPr>
          <p:cNvPr id="9" name="Slide Number Placeholder 8">
            <a:extLst>
              <a:ext uri="{FF2B5EF4-FFF2-40B4-BE49-F238E27FC236}">
                <a16:creationId xmlns:a16="http://schemas.microsoft.com/office/drawing/2014/main" id="{ADBB5166-40BA-5202-2D38-1BA48B8A0967}"/>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33983040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952DB-965F-D567-974C-4831D027315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2D18B86-2CE2-5395-B958-F12A10036B39}"/>
              </a:ext>
            </a:extLst>
          </p:cNvPr>
          <p:cNvSpPr>
            <a:spLocks noGrp="1"/>
          </p:cNvSpPr>
          <p:nvPr>
            <p:ph type="dt" sz="half" idx="10"/>
          </p:nvPr>
        </p:nvSpPr>
        <p:spPr/>
        <p:txBody>
          <a:bodyPr/>
          <a:lstStyle/>
          <a:p>
            <a:fld id="{F9E80EBF-8A8A-40F0-86A7-7286F440E0F3}" type="datetime1">
              <a:rPr lang="en-US" smtClean="0"/>
              <a:t>10/28/2026</a:t>
            </a:fld>
            <a:endParaRPr lang="en-US"/>
          </a:p>
        </p:txBody>
      </p:sp>
      <p:sp>
        <p:nvSpPr>
          <p:cNvPr id="4" name="Footer Placeholder 3">
            <a:extLst>
              <a:ext uri="{FF2B5EF4-FFF2-40B4-BE49-F238E27FC236}">
                <a16:creationId xmlns:a16="http://schemas.microsoft.com/office/drawing/2014/main" id="{25D887C2-51F3-E8A5-28C0-2C405A478D61}"/>
              </a:ext>
            </a:extLst>
          </p:cNvPr>
          <p:cNvSpPr>
            <a:spLocks noGrp="1"/>
          </p:cNvSpPr>
          <p:nvPr>
            <p:ph type="ftr" sz="quarter" idx="11"/>
          </p:nvPr>
        </p:nvSpPr>
        <p:spPr/>
        <p:txBody>
          <a:bodyPr/>
          <a:lstStyle/>
          <a:p>
            <a:r>
              <a:rPr lang="ar-LB"/>
              <a:t>مشروع فصلي....</a:t>
            </a:r>
            <a:endParaRPr lang="en-US"/>
          </a:p>
        </p:txBody>
      </p:sp>
      <p:sp>
        <p:nvSpPr>
          <p:cNvPr id="5" name="Slide Number Placeholder 4">
            <a:extLst>
              <a:ext uri="{FF2B5EF4-FFF2-40B4-BE49-F238E27FC236}">
                <a16:creationId xmlns:a16="http://schemas.microsoft.com/office/drawing/2014/main" id="{577BC180-A612-3483-A0E1-6AB31CA0C98D}"/>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4635227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B5F26E7-965A-6AC1-351E-3BF6ACBDDEE2}"/>
              </a:ext>
            </a:extLst>
          </p:cNvPr>
          <p:cNvSpPr>
            <a:spLocks noGrp="1"/>
          </p:cNvSpPr>
          <p:nvPr>
            <p:ph type="dt" sz="half" idx="10"/>
          </p:nvPr>
        </p:nvSpPr>
        <p:spPr/>
        <p:txBody>
          <a:bodyPr/>
          <a:lstStyle/>
          <a:p>
            <a:fld id="{0BEA7337-48F7-4AF7-9A31-C231AA9DABEB}" type="datetime1">
              <a:rPr lang="en-US" smtClean="0"/>
              <a:t>10/28/2026</a:t>
            </a:fld>
            <a:endParaRPr lang="en-US"/>
          </a:p>
        </p:txBody>
      </p:sp>
      <p:sp>
        <p:nvSpPr>
          <p:cNvPr id="3" name="Footer Placeholder 2">
            <a:extLst>
              <a:ext uri="{FF2B5EF4-FFF2-40B4-BE49-F238E27FC236}">
                <a16:creationId xmlns:a16="http://schemas.microsoft.com/office/drawing/2014/main" id="{753F3A08-7728-7EE4-12FE-99584A0608B1}"/>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D511E605-1894-7F38-96D7-5711BA104A8A}"/>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20358356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BED52C-F553-7253-3DE6-B294241BB84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6B6EE6A-61D8-D2C7-AC2A-BAD820BACEA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134D0E1-40CD-A415-635E-7B576877B76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DFD09A8-16DE-895E-2FE5-490F44A79359}"/>
              </a:ext>
            </a:extLst>
          </p:cNvPr>
          <p:cNvSpPr>
            <a:spLocks noGrp="1"/>
          </p:cNvSpPr>
          <p:nvPr>
            <p:ph type="dt" sz="half" idx="10"/>
          </p:nvPr>
        </p:nvSpPr>
        <p:spPr/>
        <p:txBody>
          <a:bodyPr/>
          <a:lstStyle/>
          <a:p>
            <a:fld id="{F9F60AB9-8616-4B55-B544-8181381708AB}" type="datetime1">
              <a:rPr lang="en-US" smtClean="0"/>
              <a:t>10/28/2026</a:t>
            </a:fld>
            <a:endParaRPr lang="en-US"/>
          </a:p>
        </p:txBody>
      </p:sp>
      <p:sp>
        <p:nvSpPr>
          <p:cNvPr id="6" name="Footer Placeholder 5">
            <a:extLst>
              <a:ext uri="{FF2B5EF4-FFF2-40B4-BE49-F238E27FC236}">
                <a16:creationId xmlns:a16="http://schemas.microsoft.com/office/drawing/2014/main" id="{FAE81FF2-B792-3CF2-49A0-9DAB42219CF1}"/>
              </a:ext>
            </a:extLst>
          </p:cNvPr>
          <p:cNvSpPr>
            <a:spLocks noGrp="1"/>
          </p:cNvSpPr>
          <p:nvPr>
            <p:ph type="ftr" sz="quarter" idx="11"/>
          </p:nvPr>
        </p:nvSpPr>
        <p:spPr/>
        <p:txBody>
          <a:bodyPr/>
          <a:lstStyle/>
          <a:p>
            <a:r>
              <a:rPr lang="ar-LB"/>
              <a:t>مشروع فصلي....</a:t>
            </a:r>
            <a:endParaRPr lang="en-US"/>
          </a:p>
        </p:txBody>
      </p:sp>
      <p:sp>
        <p:nvSpPr>
          <p:cNvPr id="7" name="Slide Number Placeholder 6">
            <a:extLst>
              <a:ext uri="{FF2B5EF4-FFF2-40B4-BE49-F238E27FC236}">
                <a16:creationId xmlns:a16="http://schemas.microsoft.com/office/drawing/2014/main" id="{BD1FA9E5-F4BF-CDB1-5103-4CD6FA630BF0}"/>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4222876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A2051-2331-215D-2FDD-370D7A88D8D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E30711D-48C9-0C54-AC74-04A3AAD4524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A3EC347-4A26-72BD-E2FC-29DFEC1F72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735EAAE-4733-3414-1943-04DD07D957AE}"/>
              </a:ext>
            </a:extLst>
          </p:cNvPr>
          <p:cNvSpPr>
            <a:spLocks noGrp="1"/>
          </p:cNvSpPr>
          <p:nvPr>
            <p:ph type="dt" sz="half" idx="10"/>
          </p:nvPr>
        </p:nvSpPr>
        <p:spPr/>
        <p:txBody>
          <a:bodyPr/>
          <a:lstStyle/>
          <a:p>
            <a:fld id="{E207D518-531C-4414-B657-2CD37CCA6B63}" type="datetime1">
              <a:rPr lang="en-US" smtClean="0"/>
              <a:t>10/28/2026</a:t>
            </a:fld>
            <a:endParaRPr lang="en-US"/>
          </a:p>
        </p:txBody>
      </p:sp>
      <p:sp>
        <p:nvSpPr>
          <p:cNvPr id="6" name="Footer Placeholder 5">
            <a:extLst>
              <a:ext uri="{FF2B5EF4-FFF2-40B4-BE49-F238E27FC236}">
                <a16:creationId xmlns:a16="http://schemas.microsoft.com/office/drawing/2014/main" id="{8D023DCB-8125-80EF-6294-84DE2F57B257}"/>
              </a:ext>
            </a:extLst>
          </p:cNvPr>
          <p:cNvSpPr>
            <a:spLocks noGrp="1"/>
          </p:cNvSpPr>
          <p:nvPr>
            <p:ph type="ftr" sz="quarter" idx="11"/>
          </p:nvPr>
        </p:nvSpPr>
        <p:spPr/>
        <p:txBody>
          <a:bodyPr/>
          <a:lstStyle/>
          <a:p>
            <a:r>
              <a:rPr lang="ar-LB"/>
              <a:t>مشروع فصلي....</a:t>
            </a:r>
            <a:endParaRPr lang="en-US"/>
          </a:p>
        </p:txBody>
      </p:sp>
      <p:sp>
        <p:nvSpPr>
          <p:cNvPr id="7" name="Slide Number Placeholder 6">
            <a:extLst>
              <a:ext uri="{FF2B5EF4-FFF2-40B4-BE49-F238E27FC236}">
                <a16:creationId xmlns:a16="http://schemas.microsoft.com/office/drawing/2014/main" id="{D63398A8-CDCE-094C-42A2-3D874E3BED05}"/>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34476690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F848C1-0408-D8AF-69A2-588425BC504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BFA3F95-D448-1D26-F510-A0FB77EC631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B69917-0033-D989-92E8-CE98F1132F8D}"/>
              </a:ext>
            </a:extLst>
          </p:cNvPr>
          <p:cNvSpPr>
            <a:spLocks noGrp="1"/>
          </p:cNvSpPr>
          <p:nvPr>
            <p:ph type="dt" sz="half" idx="10"/>
          </p:nvPr>
        </p:nvSpPr>
        <p:spPr/>
        <p:txBody>
          <a:bodyPr/>
          <a:lstStyle/>
          <a:p>
            <a:fld id="{07C97074-5979-461C-BB0D-F24AD7AEA7D7}" type="datetime1">
              <a:rPr lang="en-US" smtClean="0"/>
              <a:t>10/28/2026</a:t>
            </a:fld>
            <a:endParaRPr lang="en-US"/>
          </a:p>
        </p:txBody>
      </p:sp>
      <p:sp>
        <p:nvSpPr>
          <p:cNvPr id="5" name="Footer Placeholder 4">
            <a:extLst>
              <a:ext uri="{FF2B5EF4-FFF2-40B4-BE49-F238E27FC236}">
                <a16:creationId xmlns:a16="http://schemas.microsoft.com/office/drawing/2014/main" id="{DB90D59D-1B12-2463-BE4C-9D8702C27E0D}"/>
              </a:ext>
            </a:extLst>
          </p:cNvPr>
          <p:cNvSpPr>
            <a:spLocks noGrp="1"/>
          </p:cNvSpPr>
          <p:nvPr>
            <p:ph type="ftr" sz="quarter" idx="11"/>
          </p:nvPr>
        </p:nvSpPr>
        <p:spPr/>
        <p:txBody>
          <a:bodyPr/>
          <a:lstStyle/>
          <a:p>
            <a:r>
              <a:rPr lang="ar-LB"/>
              <a:t>مشروع فصلي....</a:t>
            </a:r>
            <a:endParaRPr lang="en-US"/>
          </a:p>
        </p:txBody>
      </p:sp>
      <p:sp>
        <p:nvSpPr>
          <p:cNvPr id="6" name="Slide Number Placeholder 5">
            <a:extLst>
              <a:ext uri="{FF2B5EF4-FFF2-40B4-BE49-F238E27FC236}">
                <a16:creationId xmlns:a16="http://schemas.microsoft.com/office/drawing/2014/main" id="{D114DA28-4071-592C-92AE-FA0CA34DF08D}"/>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4656906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084654F-0ECF-8954-9B9E-9F199056941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073D16A-A760-D48C-1E66-0E3F9C8F4F2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5E059-1E45-81B2-2FD4-F09024827648}"/>
              </a:ext>
            </a:extLst>
          </p:cNvPr>
          <p:cNvSpPr>
            <a:spLocks noGrp="1"/>
          </p:cNvSpPr>
          <p:nvPr>
            <p:ph type="dt" sz="half" idx="10"/>
          </p:nvPr>
        </p:nvSpPr>
        <p:spPr/>
        <p:txBody>
          <a:bodyPr/>
          <a:lstStyle/>
          <a:p>
            <a:fld id="{CF7CA7B2-F8F1-4C99-9A58-0619E9B4236C}" type="datetime1">
              <a:rPr lang="en-US" smtClean="0"/>
              <a:t>10/28/2026</a:t>
            </a:fld>
            <a:endParaRPr lang="en-US"/>
          </a:p>
        </p:txBody>
      </p:sp>
      <p:sp>
        <p:nvSpPr>
          <p:cNvPr id="5" name="Footer Placeholder 4">
            <a:extLst>
              <a:ext uri="{FF2B5EF4-FFF2-40B4-BE49-F238E27FC236}">
                <a16:creationId xmlns:a16="http://schemas.microsoft.com/office/drawing/2014/main" id="{FDDB7F42-4E93-CA7A-A3D6-1E12EACCB8F8}"/>
              </a:ext>
            </a:extLst>
          </p:cNvPr>
          <p:cNvSpPr>
            <a:spLocks noGrp="1"/>
          </p:cNvSpPr>
          <p:nvPr>
            <p:ph type="ftr" sz="quarter" idx="11"/>
          </p:nvPr>
        </p:nvSpPr>
        <p:spPr/>
        <p:txBody>
          <a:bodyPr/>
          <a:lstStyle/>
          <a:p>
            <a:r>
              <a:rPr lang="ar-LB"/>
              <a:t>مشروع فصلي....</a:t>
            </a:r>
            <a:endParaRPr lang="en-US"/>
          </a:p>
        </p:txBody>
      </p:sp>
      <p:sp>
        <p:nvSpPr>
          <p:cNvPr id="6" name="Slide Number Placeholder 5">
            <a:extLst>
              <a:ext uri="{FF2B5EF4-FFF2-40B4-BE49-F238E27FC236}">
                <a16:creationId xmlns:a16="http://schemas.microsoft.com/office/drawing/2014/main" id="{D5C4C34D-6493-F571-4B38-C06CB99FB7C6}"/>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352379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99C9861-6315-7D19-1FC2-C18236A744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E11EFFF-1B3C-0223-E81F-FF7E22B499E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77E9D6D-05BC-2BD6-8D4D-8631CA54E7B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359F99F-ECCB-4E1D-B4DE-BB12197DD00B}" type="datetime1">
              <a:rPr lang="en-US" smtClean="0"/>
              <a:t>10/28/2026</a:t>
            </a:fld>
            <a:endParaRPr lang="en-US"/>
          </a:p>
        </p:txBody>
      </p:sp>
      <p:sp>
        <p:nvSpPr>
          <p:cNvPr id="5" name="Footer Placeholder 4">
            <a:extLst>
              <a:ext uri="{FF2B5EF4-FFF2-40B4-BE49-F238E27FC236}">
                <a16:creationId xmlns:a16="http://schemas.microsoft.com/office/drawing/2014/main" id="{F7B39DBC-854C-A039-E3A7-5A146D3F615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ar-LB"/>
              <a:t>مشروع فصلي....</a:t>
            </a:r>
            <a:endParaRPr lang="en-US"/>
          </a:p>
        </p:txBody>
      </p:sp>
      <p:sp>
        <p:nvSpPr>
          <p:cNvPr id="6" name="Slide Number Placeholder 5">
            <a:extLst>
              <a:ext uri="{FF2B5EF4-FFF2-40B4-BE49-F238E27FC236}">
                <a16:creationId xmlns:a16="http://schemas.microsoft.com/office/drawing/2014/main" id="{D585C828-C825-6DB3-1130-384DF2FBA1D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C11977B-EEE1-4D56-A6CE-8035002D8A82}" type="slidenum">
              <a:rPr lang="en-US" smtClean="0"/>
              <a:t>‹#›</a:t>
            </a:fld>
            <a:endParaRPr lang="en-US"/>
          </a:p>
        </p:txBody>
      </p:sp>
    </p:spTree>
    <p:extLst>
      <p:ext uri="{BB962C8B-B14F-4D97-AF65-F5344CB8AC3E}">
        <p14:creationId xmlns:p14="http://schemas.microsoft.com/office/powerpoint/2010/main" val="61958213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image" Target="../media/image8.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6CCBCD6-3161-4836-AB74-F29EDADE8A3B}"/>
              </a:ext>
            </a:extLst>
          </p:cNvPr>
          <p:cNvSpPr>
            <a:spLocks noGrp="1"/>
          </p:cNvSpPr>
          <p:nvPr>
            <p:ph type="dt" sz="half" idx="10"/>
          </p:nvPr>
        </p:nvSpPr>
        <p:spPr/>
        <p:txBody>
          <a:bodyPr/>
          <a:lstStyle/>
          <a:p>
            <a:fld id="{4E54A005-A4AE-48B5-9B72-AC59F9D0C9F3}" type="datetime1">
              <a:rPr lang="en-US" smtClean="0"/>
              <a:t>10/28/2026</a:t>
            </a:fld>
            <a:endParaRPr lang="en-US"/>
          </a:p>
        </p:txBody>
      </p:sp>
      <p:sp>
        <p:nvSpPr>
          <p:cNvPr id="3" name="Footer Placeholder 2">
            <a:extLst>
              <a:ext uri="{FF2B5EF4-FFF2-40B4-BE49-F238E27FC236}">
                <a16:creationId xmlns:a16="http://schemas.microsoft.com/office/drawing/2014/main" id="{DCB90683-F680-46DA-8061-3D864026F0FC}"/>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F4B3F3D1-082F-4311-A2F6-7ED96B57CFE4}"/>
              </a:ext>
            </a:extLst>
          </p:cNvPr>
          <p:cNvSpPr>
            <a:spLocks noGrp="1"/>
          </p:cNvSpPr>
          <p:nvPr>
            <p:ph type="sldNum" sz="quarter" idx="12"/>
          </p:nvPr>
        </p:nvSpPr>
        <p:spPr/>
        <p:txBody>
          <a:bodyPr/>
          <a:lstStyle/>
          <a:p>
            <a:fld id="{2C11977B-EEE1-4D56-A6CE-8035002D8A82}" type="slidenum">
              <a:rPr lang="en-US" smtClean="0"/>
              <a:t>1</a:t>
            </a:fld>
            <a:endParaRPr lang="en-US"/>
          </a:p>
        </p:txBody>
      </p:sp>
      <p:pic>
        <p:nvPicPr>
          <p:cNvPr id="6" name="Picture 5">
            <a:extLst>
              <a:ext uri="{FF2B5EF4-FFF2-40B4-BE49-F238E27FC236}">
                <a16:creationId xmlns:a16="http://schemas.microsoft.com/office/drawing/2014/main" id="{A8B12A0F-5AAC-472C-9081-A708672DB5C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7" name="Picture 7">
            <a:extLst>
              <a:ext uri="{FF2B5EF4-FFF2-40B4-BE49-F238E27FC236}">
                <a16:creationId xmlns:a16="http://schemas.microsoft.com/office/drawing/2014/main" id="{5EF4F571-5C01-424A-B971-FFAF3EC2E4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03027" y="-19050"/>
            <a:ext cx="3188973" cy="1959976"/>
          </a:xfrm>
          <a:prstGeom prst="rect">
            <a:avLst/>
          </a:prstGeom>
        </p:spPr>
      </p:pic>
      <p:sp>
        <p:nvSpPr>
          <p:cNvPr id="8" name="TextBox 8">
            <a:extLst>
              <a:ext uri="{FF2B5EF4-FFF2-40B4-BE49-F238E27FC236}">
                <a16:creationId xmlns:a16="http://schemas.microsoft.com/office/drawing/2014/main" id="{22C003BA-9A47-4011-8292-0489A49E54BB}"/>
              </a:ext>
            </a:extLst>
          </p:cNvPr>
          <p:cNvSpPr txBox="1"/>
          <p:nvPr/>
        </p:nvSpPr>
        <p:spPr>
          <a:xfrm>
            <a:off x="-193963" y="374500"/>
            <a:ext cx="4807525" cy="923330"/>
          </a:xfrm>
          <a:prstGeom prst="rect">
            <a:avLst/>
          </a:prstGeom>
          <a:noFill/>
        </p:spPr>
        <p:txBody>
          <a:bodyPr wrap="square" rtlCol="0">
            <a:spAutoFit/>
          </a:bodyPr>
          <a:lstStyle/>
          <a:p>
            <a:pPr algn="ctr" rtl="0"/>
            <a:r>
              <a:rPr lang="en-US" b="1" dirty="0">
                <a:latin typeface="Times New Roman" panose="02020603050405020304" pitchFamily="18" charset="0"/>
                <a:cs typeface="Times New Roman" panose="02020603050405020304" pitchFamily="18" charset="0"/>
              </a:rPr>
              <a:t>THE SYRIAN PRIVATE UNIVERSITY</a:t>
            </a:r>
          </a:p>
          <a:p>
            <a:pPr algn="ctr" rtl="0"/>
            <a:r>
              <a:rPr lang="en-US" b="1" dirty="0">
                <a:latin typeface="Times New Roman" panose="02020603050405020304" pitchFamily="18" charset="0"/>
                <a:cs typeface="Times New Roman" panose="02020603050405020304" pitchFamily="18" charset="0"/>
              </a:rPr>
              <a:t>FACULTY OF COMPUTER &amp; INFORMATICS ENGINEERING</a:t>
            </a:r>
          </a:p>
        </p:txBody>
      </p:sp>
      <p:sp>
        <p:nvSpPr>
          <p:cNvPr id="9" name="TextBox 10">
            <a:extLst>
              <a:ext uri="{FF2B5EF4-FFF2-40B4-BE49-F238E27FC236}">
                <a16:creationId xmlns:a16="http://schemas.microsoft.com/office/drawing/2014/main" id="{452147AD-663D-4B59-96E3-8A019A2CCD2B}"/>
              </a:ext>
            </a:extLst>
          </p:cNvPr>
          <p:cNvSpPr txBox="1"/>
          <p:nvPr/>
        </p:nvSpPr>
        <p:spPr>
          <a:xfrm>
            <a:off x="2123446" y="3664797"/>
            <a:ext cx="7871459" cy="789575"/>
          </a:xfrm>
          <a:prstGeom prst="rect">
            <a:avLst/>
          </a:prstGeom>
          <a:noFill/>
        </p:spPr>
        <p:txBody>
          <a:bodyPr wrap="square" rtlCol="0">
            <a:spAutoFit/>
          </a:bodyPr>
          <a:lstStyle/>
          <a:p>
            <a:pPr algn="ctr" rtl="1">
              <a:lnSpc>
                <a:spcPct val="150000"/>
              </a:lnSpc>
            </a:pPr>
            <a:r>
              <a:rPr lang="en-US" b="1" dirty="0">
                <a:latin typeface="Times New Roman" panose="02020603050405020304" pitchFamily="18" charset="0"/>
                <a:cs typeface="Times New Roman" panose="02020603050405020304" pitchFamily="18" charset="0"/>
              </a:rPr>
              <a:t>Prepared By:</a:t>
            </a:r>
            <a:endParaRPr lang="ar-AE" b="1" dirty="0">
              <a:latin typeface="Times New Roman" panose="02020603050405020304" pitchFamily="18" charset="0"/>
              <a:cs typeface="Times New Roman" panose="02020603050405020304" pitchFamily="18" charset="0"/>
            </a:endParaRPr>
          </a:p>
          <a:p>
            <a:pPr algn="ctr">
              <a:lnSpc>
                <a:spcPct val="107000"/>
              </a:lnSpc>
              <a:spcAft>
                <a:spcPts val="800"/>
              </a:spcAft>
            </a:pPr>
            <a:r>
              <a:rPr lang="en-US" sz="1800" b="1" kern="100" dirty="0" err="1">
                <a:effectLst/>
                <a:latin typeface="Times New Roman" panose="02020603050405020304" pitchFamily="18" charset="0"/>
                <a:ea typeface="Calibri" panose="020F0502020204030204" pitchFamily="34" charset="0"/>
              </a:rPr>
              <a:t>Roaa</a:t>
            </a:r>
            <a:r>
              <a:rPr lang="en-US" sz="1800" b="1" kern="100" dirty="0">
                <a:effectLst/>
                <a:latin typeface="Times New Roman" panose="02020603050405020304" pitchFamily="18" charset="0"/>
                <a:ea typeface="Calibri" panose="020F0502020204030204" pitchFamily="34" charset="0"/>
              </a:rPr>
              <a:t> </a:t>
            </a:r>
            <a:r>
              <a:rPr lang="en-US" sz="1800" b="1" kern="100" dirty="0" err="1">
                <a:effectLst/>
                <a:latin typeface="Times New Roman" panose="02020603050405020304" pitchFamily="18" charset="0"/>
                <a:ea typeface="Calibri" panose="020F0502020204030204" pitchFamily="34" charset="0"/>
              </a:rPr>
              <a:t>kashour</a:t>
            </a:r>
            <a:r>
              <a:rPr lang="en-US" sz="1800" b="1" kern="100" dirty="0">
                <a:effectLst/>
                <a:latin typeface="Times New Roman" panose="02020603050405020304" pitchFamily="18" charset="0"/>
                <a:ea typeface="Calibri" panose="020F0502020204030204" pitchFamily="34" charset="0"/>
              </a:rPr>
              <a:t>                                        Tasneem </a:t>
            </a:r>
            <a:r>
              <a:rPr lang="en-US" sz="1800" b="1" kern="100" dirty="0" err="1">
                <a:effectLst/>
                <a:latin typeface="Times New Roman" panose="02020603050405020304" pitchFamily="18" charset="0"/>
                <a:ea typeface="Calibri" panose="020F0502020204030204" pitchFamily="34" charset="0"/>
              </a:rPr>
              <a:t>Kadoor</a:t>
            </a:r>
            <a:endParaRPr lang="en-US" sz="1800" kern="100" dirty="0">
              <a:effectLst/>
              <a:latin typeface="Calibri" panose="020F0502020204030204" pitchFamily="34" charset="0"/>
              <a:ea typeface="Calibri" panose="020F0502020204030204" pitchFamily="34" charset="0"/>
            </a:endParaRPr>
          </a:p>
        </p:txBody>
      </p:sp>
      <p:sp>
        <p:nvSpPr>
          <p:cNvPr id="10" name="TextBox 11">
            <a:extLst>
              <a:ext uri="{FF2B5EF4-FFF2-40B4-BE49-F238E27FC236}">
                <a16:creationId xmlns:a16="http://schemas.microsoft.com/office/drawing/2014/main" id="{954251E9-F9C6-43BB-A784-3DCEC2E5DF6F}"/>
              </a:ext>
            </a:extLst>
          </p:cNvPr>
          <p:cNvSpPr txBox="1"/>
          <p:nvPr/>
        </p:nvSpPr>
        <p:spPr>
          <a:xfrm>
            <a:off x="4807521" y="5038581"/>
            <a:ext cx="2576945" cy="1688026"/>
          </a:xfrm>
          <a:prstGeom prst="rect">
            <a:avLst/>
          </a:prstGeom>
          <a:noFill/>
        </p:spPr>
        <p:txBody>
          <a:bodyPr wrap="square" rtlCol="0">
            <a:spAutoFit/>
          </a:bodyPr>
          <a:lstStyle/>
          <a:p>
            <a:pPr algn="ctr" rtl="1">
              <a:lnSpc>
                <a:spcPct val="150000"/>
              </a:lnSpc>
            </a:pPr>
            <a:r>
              <a:rPr lang="en-US" b="1" dirty="0">
                <a:latin typeface="Times New Roman" panose="02020603050405020304" pitchFamily="18" charset="0"/>
                <a:cs typeface="Times New Roman" panose="02020603050405020304" pitchFamily="18" charset="0"/>
              </a:rPr>
              <a:t>Supervised by :</a:t>
            </a:r>
            <a:endParaRPr lang="ar-AE" b="1" dirty="0">
              <a:latin typeface="Times New Roman" panose="02020603050405020304" pitchFamily="18" charset="0"/>
              <a:cs typeface="Times New Roman" panose="02020603050405020304" pitchFamily="18" charset="0"/>
            </a:endParaRPr>
          </a:p>
          <a:p>
            <a:pPr algn="ctr" rtl="1">
              <a:lnSpc>
                <a:spcPct val="107000"/>
              </a:lnSpc>
              <a:spcAft>
                <a:spcPts val="800"/>
              </a:spcAft>
            </a:pPr>
            <a:r>
              <a:rPr lang="en-US" sz="1800" b="1" kern="100" dirty="0">
                <a:effectLst/>
                <a:latin typeface="Calibri" panose="020F0502020204030204" pitchFamily="34" charset="0"/>
                <a:ea typeface="Calibri" panose="020F0502020204030204" pitchFamily="34" charset="0"/>
                <a:cs typeface="Simplified Arabic" panose="02020603050405020304" pitchFamily="18" charset="-78"/>
              </a:rPr>
              <a:t>Dr. </a:t>
            </a:r>
            <a:r>
              <a:rPr lang="en-US" sz="1800" b="1" kern="100" dirty="0" err="1">
                <a:effectLst/>
                <a:latin typeface="Calibri" panose="020F0502020204030204" pitchFamily="34" charset="0"/>
                <a:ea typeface="Calibri" panose="020F0502020204030204" pitchFamily="34" charset="0"/>
                <a:cs typeface="Simplified Arabic" panose="02020603050405020304" pitchFamily="18" charset="-78"/>
              </a:rPr>
              <a:t>Akram</a:t>
            </a:r>
            <a:r>
              <a:rPr lang="en-US" sz="1800" b="1" kern="100" dirty="0">
                <a:effectLst/>
                <a:latin typeface="Calibri" panose="020F0502020204030204" pitchFamily="34" charset="0"/>
                <a:ea typeface="Calibri" panose="020F0502020204030204" pitchFamily="34" charset="0"/>
                <a:cs typeface="Simplified Arabic" panose="02020603050405020304" pitchFamily="18" charset="-78"/>
              </a:rPr>
              <a:t> </a:t>
            </a:r>
            <a:r>
              <a:rPr lang="en-US" sz="1800" b="1" kern="100" dirty="0" err="1">
                <a:effectLst/>
                <a:latin typeface="Calibri" panose="020F0502020204030204" pitchFamily="34" charset="0"/>
                <a:ea typeface="Calibri" panose="020F0502020204030204" pitchFamily="34" charset="0"/>
                <a:cs typeface="Simplified Arabic" panose="02020603050405020304" pitchFamily="18" charset="-78"/>
              </a:rPr>
              <a:t>Masouh</a:t>
            </a:r>
            <a:endParaRPr lang="en-US" sz="1800" kern="100" dirty="0">
              <a:effectLst/>
              <a:latin typeface="Calibri" panose="020F0502020204030204" pitchFamily="34" charset="0"/>
              <a:ea typeface="Calibri" panose="020F0502020204030204" pitchFamily="34" charset="0"/>
            </a:endParaRPr>
          </a:p>
          <a:p>
            <a:pPr algn="ctr" rtl="1">
              <a:lnSpc>
                <a:spcPct val="150000"/>
              </a:lnSpc>
            </a:pPr>
            <a:endParaRPr lang="ar-AE" b="1" dirty="0">
              <a:latin typeface="Times New Roman" panose="02020603050405020304" pitchFamily="18" charset="0"/>
              <a:cs typeface="Times New Roman" panose="02020603050405020304" pitchFamily="18" charset="0"/>
            </a:endParaRPr>
          </a:p>
          <a:p>
            <a:pPr algn="ctr" rtl="1">
              <a:lnSpc>
                <a:spcPct val="150000"/>
              </a:lnSpc>
            </a:pPr>
            <a:r>
              <a:rPr lang="en-US" b="1" dirty="0">
                <a:latin typeface="Times New Roman" panose="02020603050405020304" pitchFamily="18" charset="0"/>
                <a:cs typeface="Times New Roman" panose="02020603050405020304" pitchFamily="18" charset="0"/>
              </a:rPr>
              <a:t>October 2026</a:t>
            </a:r>
            <a:endParaRPr lang="ar-AE" b="1" dirty="0">
              <a:latin typeface="Times New Roman" panose="02020603050405020304" pitchFamily="18" charset="0"/>
              <a:cs typeface="Times New Roman" panose="02020603050405020304" pitchFamily="18" charset="0"/>
            </a:endParaRPr>
          </a:p>
        </p:txBody>
      </p:sp>
      <p:sp>
        <p:nvSpPr>
          <p:cNvPr id="11" name="TextBox 12">
            <a:extLst>
              <a:ext uri="{FF2B5EF4-FFF2-40B4-BE49-F238E27FC236}">
                <a16:creationId xmlns:a16="http://schemas.microsoft.com/office/drawing/2014/main" id="{E7A89252-9F91-410E-B3DE-D6BBB104829C}"/>
              </a:ext>
            </a:extLst>
          </p:cNvPr>
          <p:cNvSpPr txBox="1"/>
          <p:nvPr/>
        </p:nvSpPr>
        <p:spPr>
          <a:xfrm>
            <a:off x="2916833" y="2077451"/>
            <a:ext cx="6284684" cy="1272143"/>
          </a:xfrm>
          <a:prstGeom prst="rect">
            <a:avLst/>
          </a:prstGeom>
          <a:noFill/>
        </p:spPr>
        <p:txBody>
          <a:bodyPr wrap="square">
            <a:spAutoFit/>
          </a:bodyPr>
          <a:lstStyle/>
          <a:p>
            <a:pPr algn="ctr" rtl="1">
              <a:lnSpc>
                <a:spcPct val="150000"/>
              </a:lnSpc>
              <a:spcAft>
                <a:spcPts val="800"/>
              </a:spcAft>
            </a:pPr>
            <a:r>
              <a:rPr lang="ar-AE" sz="2800" b="1" kern="100" dirty="0">
                <a:effectLst/>
                <a:latin typeface="Calibri" panose="020F0502020204030204" pitchFamily="34" charset="0"/>
                <a:ea typeface="Arial" panose="020B0604020202020204" pitchFamily="34" charset="0"/>
                <a:cs typeface="Times New Roman" panose="02020603050405020304" pitchFamily="18" charset="0"/>
              </a:rPr>
              <a:t>نظام إدارة مركز صحي</a:t>
            </a:r>
            <a:endParaRPr lang="en-US" sz="2800" kern="100" dirty="0">
              <a:effectLst/>
              <a:latin typeface="Calibri" panose="020F0502020204030204" pitchFamily="34" charset="0"/>
              <a:ea typeface="Calibri" panose="020F0502020204030204" pitchFamily="34" charset="0"/>
            </a:endParaRPr>
          </a:p>
          <a:p>
            <a:pPr algn="ctr"/>
            <a:r>
              <a:rPr lang="en-US" sz="2800" b="1" kern="100" dirty="0">
                <a:effectLst/>
                <a:latin typeface="Times New Roman" panose="02020603050405020304" pitchFamily="18" charset="0"/>
                <a:ea typeface="Calibri" panose="020F0502020204030204" pitchFamily="34" charset="0"/>
              </a:rPr>
              <a:t>Health center management system</a:t>
            </a:r>
            <a:endParaRPr lang="en-US" sz="2800" kern="100" dirty="0">
              <a:effectLst/>
              <a:latin typeface="Calibri" panose="020F0502020204030204" pitchFamily="34" charset="0"/>
              <a:ea typeface="Calibri" panose="020F0502020204030204" pitchFamily="34" charset="0"/>
            </a:endParaRPr>
          </a:p>
        </p:txBody>
      </p:sp>
    </p:spTree>
    <p:extLst>
      <p:ext uri="{BB962C8B-B14F-4D97-AF65-F5344CB8AC3E}">
        <p14:creationId xmlns:p14="http://schemas.microsoft.com/office/powerpoint/2010/main" val="139337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0C2178E-97E8-49C3-8A3C-5877EA9A7080}"/>
              </a:ext>
            </a:extLst>
          </p:cNvPr>
          <p:cNvSpPr>
            <a:spLocks noGrp="1"/>
          </p:cNvSpPr>
          <p:nvPr>
            <p:ph type="dt" sz="half" idx="10"/>
          </p:nvPr>
        </p:nvSpPr>
        <p:spPr/>
        <p:txBody>
          <a:bodyPr/>
          <a:lstStyle/>
          <a:p>
            <a:fld id="{4E54A005-A4AE-48B5-9B72-AC59F9D0C9F3}" type="datetime1">
              <a:rPr lang="en-US" smtClean="0"/>
              <a:t>10/28/2026</a:t>
            </a:fld>
            <a:endParaRPr lang="en-US"/>
          </a:p>
        </p:txBody>
      </p:sp>
      <p:sp>
        <p:nvSpPr>
          <p:cNvPr id="3" name="Footer Placeholder 2">
            <a:extLst>
              <a:ext uri="{FF2B5EF4-FFF2-40B4-BE49-F238E27FC236}">
                <a16:creationId xmlns:a16="http://schemas.microsoft.com/office/drawing/2014/main" id="{5A66AE3A-4974-498F-8AF0-6276F08FE638}"/>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5FC2B5B5-802F-4D3F-A7DD-1DED3DF462F8}"/>
              </a:ext>
            </a:extLst>
          </p:cNvPr>
          <p:cNvSpPr>
            <a:spLocks noGrp="1"/>
          </p:cNvSpPr>
          <p:nvPr>
            <p:ph type="sldNum" sz="quarter" idx="12"/>
          </p:nvPr>
        </p:nvSpPr>
        <p:spPr/>
        <p:txBody>
          <a:bodyPr/>
          <a:lstStyle/>
          <a:p>
            <a:fld id="{2C11977B-EEE1-4D56-A6CE-8035002D8A82}" type="slidenum">
              <a:rPr lang="en-US" smtClean="0"/>
              <a:t>2</a:t>
            </a:fld>
            <a:endParaRPr lang="en-US"/>
          </a:p>
        </p:txBody>
      </p:sp>
      <p:pic>
        <p:nvPicPr>
          <p:cNvPr id="6" name="Picture 5">
            <a:extLst>
              <a:ext uri="{FF2B5EF4-FFF2-40B4-BE49-F238E27FC236}">
                <a16:creationId xmlns:a16="http://schemas.microsoft.com/office/drawing/2014/main" id="{A209F6AC-462E-4284-9F10-445BE572471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extBox 7">
            <a:extLst>
              <a:ext uri="{FF2B5EF4-FFF2-40B4-BE49-F238E27FC236}">
                <a16:creationId xmlns:a16="http://schemas.microsoft.com/office/drawing/2014/main" id="{08AB40C4-63C6-4C9F-875D-B84E7C531C44}"/>
              </a:ext>
            </a:extLst>
          </p:cNvPr>
          <p:cNvSpPr txBox="1"/>
          <p:nvPr/>
        </p:nvSpPr>
        <p:spPr>
          <a:xfrm>
            <a:off x="4498944" y="475485"/>
            <a:ext cx="4437667" cy="1580626"/>
          </a:xfrm>
          <a:prstGeom prst="rect">
            <a:avLst/>
          </a:prstGeom>
          <a:noFill/>
        </p:spPr>
        <p:txBody>
          <a:bodyPr wrap="square">
            <a:spAutoFit/>
          </a:bodyPr>
          <a:lstStyle/>
          <a:p>
            <a:pPr marL="0" marR="0" algn="l">
              <a:lnSpc>
                <a:spcPct val="107000"/>
              </a:lnSpc>
              <a:spcBef>
                <a:spcPts val="200"/>
              </a:spcBef>
              <a:buNone/>
            </a:pPr>
            <a:r>
              <a:rPr lang="en-US" sz="2800" b="1" dirty="0">
                <a:solidFill>
                  <a:schemeClr val="accent1">
                    <a:lumMod val="50000"/>
                  </a:schemeClr>
                </a:solidFill>
                <a:effectLst/>
                <a:latin typeface="Calibri Light" panose="020F0302020204030204" pitchFamily="34" charset="0"/>
                <a:ea typeface="Times New Roman" panose="02020603050405020304" pitchFamily="18" charset="0"/>
                <a:cs typeface="Times New Roman" panose="02020603050405020304" pitchFamily="18" charset="0"/>
              </a:rPr>
              <a:t>Project Importance</a:t>
            </a:r>
          </a:p>
          <a:p>
            <a:pPr marL="0" marR="0" indent="457200" algn="r" rtl="1">
              <a:lnSpc>
                <a:spcPct val="107000"/>
              </a:lnSpc>
              <a:spcAft>
                <a:spcPts val="800"/>
              </a:spcAft>
              <a:buNone/>
            </a:pPr>
            <a:r>
              <a:rPr lang="ar-SA" sz="2800" dirty="0">
                <a:effectLst/>
                <a:latin typeface="Calibri" panose="020F0502020204030204" pitchFamily="34" charset="0"/>
                <a:ea typeface="Calibri" panose="020F0502020204030204" pitchFamily="34" charset="0"/>
                <a:cs typeface="Times New Roman" panose="02020603050405020304" pitchFamily="18" charset="0"/>
              </a:rPr>
              <a:t> </a:t>
            </a:r>
            <a:endParaRPr lang="en-US" sz="2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15000"/>
              </a:lnSpc>
              <a:spcAft>
                <a:spcPts val="800"/>
              </a:spcAft>
              <a:buNone/>
            </a:pPr>
            <a:r>
              <a:rPr lang="ar-LB" sz="2800" dirty="0">
                <a:effectLst/>
                <a:latin typeface="Calibri" panose="020F0502020204030204" pitchFamily="34" charset="0"/>
                <a:ea typeface="Calibri" panose="020F0502020204030204" pitchFamily="34" charset="0"/>
                <a:cs typeface="Arial" panose="020B0604020202020204" pitchFamily="34" charset="0"/>
              </a:rPr>
              <a:t> </a:t>
            </a:r>
            <a:endParaRPr lang="en-US" sz="2800" dirty="0">
              <a:effectLst/>
              <a:latin typeface="Calibri" panose="020F0502020204030204" pitchFamily="34" charset="0"/>
              <a:ea typeface="Calibri" panose="020F0502020204030204" pitchFamily="34" charset="0"/>
              <a:cs typeface="Arial" panose="020B0604020202020204" pitchFamily="34" charset="0"/>
            </a:endParaRPr>
          </a:p>
        </p:txBody>
      </p:sp>
      <p:sp>
        <p:nvSpPr>
          <p:cNvPr id="10" name="TextBox 9">
            <a:extLst>
              <a:ext uri="{FF2B5EF4-FFF2-40B4-BE49-F238E27FC236}">
                <a16:creationId xmlns:a16="http://schemas.microsoft.com/office/drawing/2014/main" id="{D12368D4-0AD8-40C4-ACD4-54BEDA869812}"/>
              </a:ext>
            </a:extLst>
          </p:cNvPr>
          <p:cNvSpPr txBox="1"/>
          <p:nvPr/>
        </p:nvSpPr>
        <p:spPr>
          <a:xfrm>
            <a:off x="520832" y="1402323"/>
            <a:ext cx="10348274" cy="4299831"/>
          </a:xfrm>
          <a:prstGeom prst="rect">
            <a:avLst/>
          </a:prstGeom>
          <a:noFill/>
        </p:spPr>
        <p:txBody>
          <a:bodyPr wrap="square">
            <a:spAutoFit/>
          </a:bodyPr>
          <a:lstStyle/>
          <a:p>
            <a:pPr marL="342900" lvl="0" indent="-342900" algn="just">
              <a:lnSpc>
                <a:spcPct val="150000"/>
              </a:lnSpc>
              <a:spcAft>
                <a:spcPts val="800"/>
              </a:spcAft>
              <a:buSzPts val="1000"/>
              <a:buFont typeface="Symbol" panose="05050102010706020507" pitchFamily="18" charset="2"/>
              <a:buChar char=""/>
              <a:tabLst>
                <a:tab pos="457200" algn="l"/>
              </a:tabLst>
            </a:pPr>
            <a:r>
              <a:rPr lang="en-US" sz="1800" b="1" kern="100" dirty="0">
                <a:effectLst/>
                <a:latin typeface="Times New Roman" panose="02020603050405020304" pitchFamily="18" charset="0"/>
                <a:ea typeface="Calibri" panose="020F0502020204030204" pitchFamily="34" charset="0"/>
              </a:rPr>
              <a:t>Practical Significance:</a:t>
            </a:r>
            <a:r>
              <a:rPr lang="en-US" sz="1800" kern="100" dirty="0">
                <a:effectLst/>
                <a:latin typeface="Times New Roman" panose="02020603050405020304" pitchFamily="18" charset="0"/>
                <a:ea typeface="Calibri" panose="020F0502020204030204" pitchFamily="34" charset="0"/>
              </a:rPr>
              <a:t> The system provides a centralized, web-accessible platform that unifies clinical and administrative functions. Practically, it reduces manual workload, minimizes operational bottlenecks, and accelerates information retrieval. By offering native Arabic language support and an intuitive interface, it ensures high user acceptance among local healthcare providers, directly supporting the center's operational resilience and quality of care.</a:t>
            </a:r>
            <a:endParaRPr lang="en-US" sz="1200" kern="100" dirty="0">
              <a:latin typeface="Calibri" panose="020F0502020204030204" pitchFamily="34" charset="0"/>
              <a:ea typeface="Calibri" panose="020F0502020204030204" pitchFamily="34" charset="0"/>
            </a:endParaRPr>
          </a:p>
          <a:p>
            <a:pPr marL="342900" lvl="0" indent="-342900" algn="just">
              <a:lnSpc>
                <a:spcPct val="150000"/>
              </a:lnSpc>
              <a:spcAft>
                <a:spcPts val="800"/>
              </a:spcAft>
              <a:buSzPts val="1000"/>
              <a:buFont typeface="Symbol" panose="05050102010706020507" pitchFamily="18" charset="2"/>
              <a:buChar char=""/>
              <a:tabLst>
                <a:tab pos="457200" algn="l"/>
              </a:tabLst>
            </a:pPr>
            <a:r>
              <a:rPr lang="en-US" sz="1800" b="1" kern="100" dirty="0">
                <a:effectLst/>
                <a:latin typeface="Times New Roman" panose="02020603050405020304" pitchFamily="18" charset="0"/>
                <a:ea typeface="Calibri" panose="020F0502020204030204" pitchFamily="34" charset="0"/>
              </a:rPr>
              <a:t>Academic Significance:</a:t>
            </a:r>
            <a:r>
              <a:rPr lang="en-US" sz="1800" kern="100" dirty="0">
                <a:effectLst/>
                <a:latin typeface="Times New Roman" panose="02020603050405020304" pitchFamily="18" charset="0"/>
                <a:ea typeface="Calibri" panose="020F0502020204030204" pitchFamily="34" charset="0"/>
              </a:rPr>
              <a:t> From an academic perspective, this project serves as a structured, end-to-end application of software engineering methodologies to a real-world health informatics problem. It demonstrates the practical implementation of requirements elicitation, iterative development cycles, Unified Modeling Language (UML) modeling, structured database normalization, and systematic testing, bridging the gap between theoretical computer science concepts and production-ready software.</a:t>
            </a:r>
            <a:endParaRPr lang="ar-AE" dirty="0"/>
          </a:p>
        </p:txBody>
      </p:sp>
    </p:spTree>
    <p:extLst>
      <p:ext uri="{BB962C8B-B14F-4D97-AF65-F5344CB8AC3E}">
        <p14:creationId xmlns:p14="http://schemas.microsoft.com/office/powerpoint/2010/main" val="35882436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829212E-A202-4E61-B46C-6807D63203C8}"/>
              </a:ext>
            </a:extLst>
          </p:cNvPr>
          <p:cNvSpPr>
            <a:spLocks noGrp="1"/>
          </p:cNvSpPr>
          <p:nvPr>
            <p:ph type="dt" sz="half" idx="10"/>
          </p:nvPr>
        </p:nvSpPr>
        <p:spPr/>
        <p:txBody>
          <a:bodyPr/>
          <a:lstStyle/>
          <a:p>
            <a:fld id="{4E54A005-A4AE-48B5-9B72-AC59F9D0C9F3}" type="datetime1">
              <a:rPr lang="en-US" smtClean="0"/>
              <a:t>10/28/2026</a:t>
            </a:fld>
            <a:endParaRPr lang="en-US"/>
          </a:p>
        </p:txBody>
      </p:sp>
      <p:sp>
        <p:nvSpPr>
          <p:cNvPr id="3" name="Footer Placeholder 2">
            <a:extLst>
              <a:ext uri="{FF2B5EF4-FFF2-40B4-BE49-F238E27FC236}">
                <a16:creationId xmlns:a16="http://schemas.microsoft.com/office/drawing/2014/main" id="{993DD092-C81D-4731-B8B3-8BFAEFDD15F5}"/>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4C11CBB7-FE81-4C07-BE28-585B5CB239AA}"/>
              </a:ext>
            </a:extLst>
          </p:cNvPr>
          <p:cNvSpPr>
            <a:spLocks noGrp="1"/>
          </p:cNvSpPr>
          <p:nvPr>
            <p:ph type="sldNum" sz="quarter" idx="12"/>
          </p:nvPr>
        </p:nvSpPr>
        <p:spPr/>
        <p:txBody>
          <a:bodyPr/>
          <a:lstStyle/>
          <a:p>
            <a:fld id="{2C11977B-EEE1-4D56-A6CE-8035002D8A82}" type="slidenum">
              <a:rPr lang="en-US" smtClean="0"/>
              <a:t>3</a:t>
            </a:fld>
            <a:endParaRPr lang="en-US"/>
          </a:p>
        </p:txBody>
      </p:sp>
      <p:pic>
        <p:nvPicPr>
          <p:cNvPr id="6" name="Picture 5">
            <a:extLst>
              <a:ext uri="{FF2B5EF4-FFF2-40B4-BE49-F238E27FC236}">
                <a16:creationId xmlns:a16="http://schemas.microsoft.com/office/drawing/2014/main" id="{3D2A6811-808E-4550-A5D9-AD01826F11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extBox 7">
            <a:extLst>
              <a:ext uri="{FF2B5EF4-FFF2-40B4-BE49-F238E27FC236}">
                <a16:creationId xmlns:a16="http://schemas.microsoft.com/office/drawing/2014/main" id="{29EC69C6-6FC6-4A6A-80D0-B94BE7E67289}"/>
              </a:ext>
            </a:extLst>
          </p:cNvPr>
          <p:cNvSpPr txBox="1"/>
          <p:nvPr/>
        </p:nvSpPr>
        <p:spPr>
          <a:xfrm>
            <a:off x="4979710" y="498666"/>
            <a:ext cx="6094428" cy="646331"/>
          </a:xfrm>
          <a:prstGeom prst="rect">
            <a:avLst/>
          </a:prstGeom>
          <a:noFill/>
        </p:spPr>
        <p:txBody>
          <a:bodyPr wrap="square">
            <a:spAutoFit/>
          </a:bodyPr>
          <a:lstStyle/>
          <a:p>
            <a:pPr algn="l"/>
            <a:r>
              <a:rPr lang="en-US" sz="3600" b="1" dirty="0">
                <a:solidFill>
                  <a:schemeClr val="accent1">
                    <a:lumMod val="50000"/>
                  </a:schemeClr>
                </a:solidFill>
                <a:latin typeface="Calibri Light" panose="020F0302020204030204" pitchFamily="34" charset="0"/>
                <a:cs typeface="Times New Roman" panose="02020603050405020304" pitchFamily="18" charset="0"/>
              </a:rPr>
              <a:t>Project Goals</a:t>
            </a:r>
          </a:p>
        </p:txBody>
      </p:sp>
      <p:sp>
        <p:nvSpPr>
          <p:cNvPr id="10" name="TextBox 9">
            <a:extLst>
              <a:ext uri="{FF2B5EF4-FFF2-40B4-BE49-F238E27FC236}">
                <a16:creationId xmlns:a16="http://schemas.microsoft.com/office/drawing/2014/main" id="{4ED79B42-89F5-492F-8C31-010C1D6B96C6}"/>
              </a:ext>
            </a:extLst>
          </p:cNvPr>
          <p:cNvSpPr txBox="1"/>
          <p:nvPr/>
        </p:nvSpPr>
        <p:spPr>
          <a:xfrm>
            <a:off x="2641863" y="2179297"/>
            <a:ext cx="6169842" cy="480131"/>
          </a:xfrm>
          <a:prstGeom prst="rect">
            <a:avLst/>
          </a:prstGeom>
          <a:noFill/>
        </p:spPr>
        <p:txBody>
          <a:bodyPr wrap="square">
            <a:spAutoFit/>
          </a:bodyPr>
          <a:lstStyle/>
          <a:p>
            <a:pPr marL="457200" lvl="0" indent="-457200" defTabSz="933450">
              <a:lnSpc>
                <a:spcPct val="90000"/>
              </a:lnSpc>
              <a:spcBef>
                <a:spcPct val="0"/>
              </a:spcBef>
              <a:spcAft>
                <a:spcPct val="35000"/>
              </a:spcAft>
              <a:buFont typeface="Arial" panose="020B0604020202020204" pitchFamily="34" charset="0"/>
              <a:buChar char="•"/>
            </a:pPr>
            <a:r>
              <a:rPr lang="en-US" sz="2800" kern="1200" dirty="0"/>
              <a:t>Clinical Workflow Optimization</a:t>
            </a:r>
            <a:endParaRPr lang="ar-AE" sz="2800" kern="1200" dirty="0"/>
          </a:p>
        </p:txBody>
      </p:sp>
      <p:sp>
        <p:nvSpPr>
          <p:cNvPr id="12" name="TextBox 11">
            <a:extLst>
              <a:ext uri="{FF2B5EF4-FFF2-40B4-BE49-F238E27FC236}">
                <a16:creationId xmlns:a16="http://schemas.microsoft.com/office/drawing/2014/main" id="{540CCDF1-01D3-429B-9536-715FEB9C357F}"/>
              </a:ext>
            </a:extLst>
          </p:cNvPr>
          <p:cNvSpPr txBox="1"/>
          <p:nvPr/>
        </p:nvSpPr>
        <p:spPr>
          <a:xfrm>
            <a:off x="2641863" y="2998617"/>
            <a:ext cx="7237428" cy="480131"/>
          </a:xfrm>
          <a:prstGeom prst="rect">
            <a:avLst/>
          </a:prstGeom>
          <a:noFill/>
        </p:spPr>
        <p:txBody>
          <a:bodyPr wrap="square">
            <a:spAutoFit/>
          </a:bodyPr>
          <a:lstStyle/>
          <a:p>
            <a:pPr marL="457200" lvl="0" indent="-457200" defTabSz="933450">
              <a:lnSpc>
                <a:spcPct val="90000"/>
              </a:lnSpc>
              <a:spcBef>
                <a:spcPct val="0"/>
              </a:spcBef>
              <a:spcAft>
                <a:spcPct val="35000"/>
              </a:spcAft>
              <a:buFont typeface="Arial" panose="020B0604020202020204" pitchFamily="34" charset="0"/>
              <a:buChar char="•"/>
            </a:pPr>
            <a:r>
              <a:rPr lang="en-US" sz="2800" kern="1200" dirty="0"/>
              <a:t>Administrative and Financial Oversight</a:t>
            </a:r>
            <a:endParaRPr lang="ar-AE" sz="2800" kern="1200" dirty="0"/>
          </a:p>
        </p:txBody>
      </p:sp>
      <p:sp>
        <p:nvSpPr>
          <p:cNvPr id="14" name="TextBox 13">
            <a:extLst>
              <a:ext uri="{FF2B5EF4-FFF2-40B4-BE49-F238E27FC236}">
                <a16:creationId xmlns:a16="http://schemas.microsoft.com/office/drawing/2014/main" id="{60F9CAD1-4A65-419B-8590-B4BF58556F25}"/>
              </a:ext>
            </a:extLst>
          </p:cNvPr>
          <p:cNvSpPr txBox="1"/>
          <p:nvPr/>
        </p:nvSpPr>
        <p:spPr>
          <a:xfrm>
            <a:off x="2641863" y="4677483"/>
            <a:ext cx="6094428" cy="480131"/>
          </a:xfrm>
          <a:prstGeom prst="rect">
            <a:avLst/>
          </a:prstGeom>
          <a:noFill/>
        </p:spPr>
        <p:txBody>
          <a:bodyPr wrap="square">
            <a:spAutoFit/>
          </a:bodyPr>
          <a:lstStyle/>
          <a:p>
            <a:pPr marL="457200" lvl="0" indent="-457200" defTabSz="933450">
              <a:lnSpc>
                <a:spcPct val="90000"/>
              </a:lnSpc>
              <a:spcBef>
                <a:spcPct val="0"/>
              </a:spcBef>
              <a:spcAft>
                <a:spcPct val="35000"/>
              </a:spcAft>
              <a:buFont typeface="Arial" panose="020B0604020202020204" pitchFamily="34" charset="0"/>
              <a:buChar char="•"/>
            </a:pPr>
            <a:r>
              <a:rPr lang="en-US" sz="2800" kern="1200" dirty="0"/>
              <a:t>Secure Access Control</a:t>
            </a:r>
            <a:endParaRPr lang="ar-AE" sz="2800" kern="1200" dirty="0"/>
          </a:p>
        </p:txBody>
      </p:sp>
      <p:sp>
        <p:nvSpPr>
          <p:cNvPr id="16" name="TextBox 15">
            <a:extLst>
              <a:ext uri="{FF2B5EF4-FFF2-40B4-BE49-F238E27FC236}">
                <a16:creationId xmlns:a16="http://schemas.microsoft.com/office/drawing/2014/main" id="{5BF97301-BB3E-46E1-980F-00EEB06B6ECC}"/>
              </a:ext>
            </a:extLst>
          </p:cNvPr>
          <p:cNvSpPr txBox="1"/>
          <p:nvPr/>
        </p:nvSpPr>
        <p:spPr>
          <a:xfrm>
            <a:off x="2641863" y="3741832"/>
            <a:ext cx="6094428" cy="480131"/>
          </a:xfrm>
          <a:prstGeom prst="rect">
            <a:avLst/>
          </a:prstGeom>
          <a:noFill/>
        </p:spPr>
        <p:txBody>
          <a:bodyPr wrap="square">
            <a:spAutoFit/>
          </a:bodyPr>
          <a:lstStyle/>
          <a:p>
            <a:pPr marL="457200" lvl="0" indent="-457200" defTabSz="933450">
              <a:lnSpc>
                <a:spcPct val="90000"/>
              </a:lnSpc>
              <a:spcBef>
                <a:spcPct val="0"/>
              </a:spcBef>
              <a:spcAft>
                <a:spcPct val="35000"/>
              </a:spcAft>
              <a:buFont typeface="Arial" panose="020B0604020202020204" pitchFamily="34" charset="0"/>
              <a:buChar char="•"/>
            </a:pPr>
            <a:r>
              <a:rPr lang="en-US" sz="2800" kern="1200" dirty="0"/>
              <a:t>Patient Engagement and Education</a:t>
            </a:r>
            <a:endParaRPr lang="ar-AE" sz="2800" kern="1200" dirty="0"/>
          </a:p>
        </p:txBody>
      </p:sp>
    </p:spTree>
    <p:extLst>
      <p:ext uri="{BB962C8B-B14F-4D97-AF65-F5344CB8AC3E}">
        <p14:creationId xmlns:p14="http://schemas.microsoft.com/office/powerpoint/2010/main" val="6223283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C68FCC-7B28-4B13-80DA-8F5D6ACCB394}"/>
              </a:ext>
            </a:extLst>
          </p:cNvPr>
          <p:cNvSpPr>
            <a:spLocks noGrp="1"/>
          </p:cNvSpPr>
          <p:nvPr>
            <p:ph type="dt" sz="half" idx="10"/>
          </p:nvPr>
        </p:nvSpPr>
        <p:spPr/>
        <p:txBody>
          <a:bodyPr/>
          <a:lstStyle/>
          <a:p>
            <a:fld id="{4E54A005-A4AE-48B5-9B72-AC59F9D0C9F3}" type="datetime1">
              <a:rPr lang="en-US" smtClean="0"/>
              <a:t>10/28/2026</a:t>
            </a:fld>
            <a:endParaRPr lang="en-US"/>
          </a:p>
        </p:txBody>
      </p:sp>
      <p:sp>
        <p:nvSpPr>
          <p:cNvPr id="3" name="Footer Placeholder 2">
            <a:extLst>
              <a:ext uri="{FF2B5EF4-FFF2-40B4-BE49-F238E27FC236}">
                <a16:creationId xmlns:a16="http://schemas.microsoft.com/office/drawing/2014/main" id="{95571657-1B3F-4353-86FD-9D182AD3AFDE}"/>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82DBF456-F97A-4463-BBEF-4A2D8F1E51B3}"/>
              </a:ext>
            </a:extLst>
          </p:cNvPr>
          <p:cNvSpPr>
            <a:spLocks noGrp="1"/>
          </p:cNvSpPr>
          <p:nvPr>
            <p:ph type="sldNum" sz="quarter" idx="12"/>
          </p:nvPr>
        </p:nvSpPr>
        <p:spPr/>
        <p:txBody>
          <a:bodyPr/>
          <a:lstStyle/>
          <a:p>
            <a:fld id="{2C11977B-EEE1-4D56-A6CE-8035002D8A82}" type="slidenum">
              <a:rPr lang="en-US" smtClean="0"/>
              <a:t>4</a:t>
            </a:fld>
            <a:endParaRPr lang="en-US"/>
          </a:p>
        </p:txBody>
      </p:sp>
      <p:pic>
        <p:nvPicPr>
          <p:cNvPr id="34" name="Picture 33">
            <a:extLst>
              <a:ext uri="{FF2B5EF4-FFF2-40B4-BE49-F238E27FC236}">
                <a16:creationId xmlns:a16="http://schemas.microsoft.com/office/drawing/2014/main" id="{4F894D92-3D2D-4B45-A12C-7BE8837C11F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6" name="TextBox 35">
            <a:extLst>
              <a:ext uri="{FF2B5EF4-FFF2-40B4-BE49-F238E27FC236}">
                <a16:creationId xmlns:a16="http://schemas.microsoft.com/office/drawing/2014/main" id="{62C6A4F0-3A3C-44AB-B321-BAD4AEEA7856}"/>
              </a:ext>
            </a:extLst>
          </p:cNvPr>
          <p:cNvSpPr txBox="1"/>
          <p:nvPr/>
        </p:nvSpPr>
        <p:spPr>
          <a:xfrm>
            <a:off x="3207470" y="1232863"/>
            <a:ext cx="6094428" cy="625428"/>
          </a:xfrm>
          <a:prstGeom prst="rect">
            <a:avLst/>
          </a:prstGeom>
          <a:noFill/>
        </p:spPr>
        <p:txBody>
          <a:bodyPr wrap="square">
            <a:spAutoFit/>
          </a:bodyPr>
          <a:lstStyle/>
          <a:p>
            <a:pPr marL="0" marR="0" algn="l">
              <a:lnSpc>
                <a:spcPct val="115000"/>
              </a:lnSpc>
              <a:spcAft>
                <a:spcPts val="800"/>
              </a:spcAft>
              <a:buNone/>
            </a:pPr>
            <a:r>
              <a:rPr lang="en-US" sz="3200" b="1" dirty="0">
                <a:solidFill>
                  <a:schemeClr val="accent1">
                    <a:lumMod val="50000"/>
                  </a:schemeClr>
                </a:solidFill>
                <a:latin typeface="Calibri Light" panose="020F0302020204030204" pitchFamily="34" charset="0"/>
                <a:cs typeface="Times New Roman" panose="02020603050405020304" pitchFamily="18" charset="0"/>
              </a:rPr>
              <a:t>Literature Review and Previous Work</a:t>
            </a:r>
          </a:p>
        </p:txBody>
      </p:sp>
      <p:sp>
        <p:nvSpPr>
          <p:cNvPr id="38" name="TextBox 37">
            <a:extLst>
              <a:ext uri="{FF2B5EF4-FFF2-40B4-BE49-F238E27FC236}">
                <a16:creationId xmlns:a16="http://schemas.microsoft.com/office/drawing/2014/main" id="{AB60E0E3-DD6E-469E-9DBF-03C74B96E57F}"/>
              </a:ext>
            </a:extLst>
          </p:cNvPr>
          <p:cNvSpPr txBox="1"/>
          <p:nvPr/>
        </p:nvSpPr>
        <p:spPr>
          <a:xfrm>
            <a:off x="1262408" y="2663299"/>
            <a:ext cx="8719792" cy="3875613"/>
          </a:xfrm>
          <a:prstGeom prst="rect">
            <a:avLst/>
          </a:prstGeom>
          <a:noFill/>
        </p:spPr>
        <p:txBody>
          <a:bodyPr wrap="square">
            <a:spAutoFit/>
          </a:bodyPr>
          <a:lstStyle/>
          <a:p>
            <a:pPr marL="0" marR="0" algn="l">
              <a:lnSpc>
                <a:spcPct val="115000"/>
              </a:lnSpc>
              <a:spcAft>
                <a:spcPts val="800"/>
              </a:spcAft>
              <a:buNone/>
            </a:pPr>
            <a:r>
              <a:rPr lang="en-US" sz="2400" b="1" kern="100" dirty="0">
                <a:effectLst/>
                <a:latin typeface="Calibri" panose="020F0502020204030204" pitchFamily="34" charset="0"/>
                <a:ea typeface="Calibri" panose="020F0502020204030204" pitchFamily="34" charset="0"/>
                <a:cs typeface="Arial" panose="020B0604020202020204" pitchFamily="34" charset="0"/>
              </a:rPr>
              <a:t>First study: </a:t>
            </a:r>
            <a:r>
              <a:rPr lang="en-US" sz="2400" b="1" kern="100" dirty="0" err="1">
                <a:effectLst/>
                <a:latin typeface="Calibri" panose="020F0502020204030204" pitchFamily="34" charset="0"/>
                <a:ea typeface="Calibri" panose="020F0502020204030204" pitchFamily="34" charset="0"/>
                <a:cs typeface="Arial" panose="020B0604020202020204" pitchFamily="34" charset="0"/>
              </a:rPr>
              <a:t>OpenMRS</a:t>
            </a:r>
            <a:r>
              <a:rPr lang="en-US" sz="2400" b="1" kern="100" dirty="0">
                <a:effectLst/>
                <a:latin typeface="Calibri" panose="020F0502020204030204" pitchFamily="34" charset="0"/>
                <a:ea typeface="Calibri" panose="020F0502020204030204" pitchFamily="34" charset="0"/>
                <a:cs typeface="Arial" panose="020B0604020202020204" pitchFamily="34" charset="0"/>
              </a:rPr>
              <a:t>: Design and Implementation of an Open Source HER</a:t>
            </a:r>
          </a:p>
          <a:p>
            <a:pPr marL="0" marR="0" algn="l">
              <a:lnSpc>
                <a:spcPct val="115000"/>
              </a:lnSpc>
              <a:spcAft>
                <a:spcPts val="800"/>
              </a:spcAft>
              <a:buNone/>
            </a:pPr>
            <a:endParaRPr lang="en-US" sz="2400" b="1" kern="100" dirty="0">
              <a:effectLst/>
              <a:latin typeface="Calibri" panose="020F0502020204030204" pitchFamily="34" charset="0"/>
              <a:ea typeface="Calibri" panose="020F0502020204030204" pitchFamily="34" charset="0"/>
              <a:cs typeface="Arial" panose="020B0604020202020204" pitchFamily="34" charset="0"/>
            </a:endParaRPr>
          </a:p>
          <a:p>
            <a:pPr marL="0" marR="0" algn="l">
              <a:lnSpc>
                <a:spcPct val="115000"/>
              </a:lnSpc>
              <a:spcAft>
                <a:spcPts val="800"/>
              </a:spcAft>
              <a:buNone/>
            </a:pPr>
            <a:r>
              <a:rPr lang="en-US" sz="2400" b="1" kern="100" dirty="0">
                <a:effectLst/>
                <a:latin typeface="Calibri" panose="020F0502020204030204" pitchFamily="34" charset="0"/>
                <a:ea typeface="Calibri" panose="020F0502020204030204" pitchFamily="34" charset="0"/>
                <a:cs typeface="Arial" panose="020B0604020202020204" pitchFamily="34" charset="0"/>
              </a:rPr>
              <a:t>Second study:</a:t>
            </a:r>
            <a:r>
              <a:rPr lang="ar-AE" sz="2400" b="1" kern="100" dirty="0">
                <a:effectLst/>
                <a:latin typeface="Calibri" panose="020F0502020204030204" pitchFamily="34" charset="0"/>
                <a:ea typeface="Calibri" panose="020F0502020204030204" pitchFamily="34" charset="0"/>
                <a:cs typeface="Arial" panose="020B0604020202020204" pitchFamily="34" charset="0"/>
              </a:rPr>
              <a:t> </a:t>
            </a:r>
            <a:r>
              <a:rPr lang="en-US" sz="2400" b="1" i="0" dirty="0">
                <a:solidFill>
                  <a:srgbClr val="0F172A"/>
                </a:solidFill>
                <a:effectLst/>
                <a:latin typeface="Plus Jakarta Sans"/>
              </a:rPr>
              <a:t>GNU Health: Free Health and Hospital Information System</a:t>
            </a:r>
          </a:p>
          <a:p>
            <a:pPr marL="0" marR="0" algn="l">
              <a:lnSpc>
                <a:spcPct val="115000"/>
              </a:lnSpc>
              <a:spcAft>
                <a:spcPts val="800"/>
              </a:spcAft>
              <a:buNone/>
            </a:pPr>
            <a:endParaRPr lang="en-US" sz="2400" b="1" kern="100" dirty="0">
              <a:effectLst/>
              <a:latin typeface="Calibri" panose="020F0502020204030204" pitchFamily="34" charset="0"/>
              <a:ea typeface="Calibri" panose="020F0502020204030204" pitchFamily="34" charset="0"/>
              <a:cs typeface="Arial" panose="020B0604020202020204" pitchFamily="34" charset="0"/>
            </a:endParaRPr>
          </a:p>
          <a:p>
            <a:pPr marL="0" marR="0" algn="l">
              <a:lnSpc>
                <a:spcPct val="115000"/>
              </a:lnSpc>
              <a:spcAft>
                <a:spcPts val="800"/>
              </a:spcAft>
              <a:buNone/>
            </a:pPr>
            <a:r>
              <a:rPr lang="en-US" sz="2400" b="1" kern="100" dirty="0">
                <a:latin typeface="Calibri" panose="020F0502020204030204" pitchFamily="34" charset="0"/>
                <a:ea typeface="Calibri" panose="020F0502020204030204" pitchFamily="34" charset="0"/>
                <a:cs typeface="Arial" panose="020B0604020202020204" pitchFamily="34" charset="0"/>
              </a:rPr>
              <a:t>Third study: </a:t>
            </a:r>
            <a:r>
              <a:rPr lang="en-US" sz="2400" b="1" i="0" dirty="0">
                <a:solidFill>
                  <a:srgbClr val="0F172A"/>
                </a:solidFill>
                <a:effectLst/>
                <a:latin typeface="Plus Jakarta Sans"/>
              </a:rPr>
              <a:t>Commercial Medical Software vs. Custom Web-Based Systems</a:t>
            </a:r>
            <a:endParaRPr lang="en-US" sz="2400" b="1" kern="100" dirty="0">
              <a:latin typeface="Calibri" panose="020F050202020403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338763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6A17D16-B1B6-4A78-9AD8-1CB00C903140}"/>
              </a:ext>
            </a:extLst>
          </p:cNvPr>
          <p:cNvSpPr>
            <a:spLocks noGrp="1"/>
          </p:cNvSpPr>
          <p:nvPr>
            <p:ph type="dt" sz="half" idx="10"/>
          </p:nvPr>
        </p:nvSpPr>
        <p:spPr/>
        <p:txBody>
          <a:bodyPr/>
          <a:lstStyle/>
          <a:p>
            <a:fld id="{4E54A005-A4AE-48B5-9B72-AC59F9D0C9F3}" type="datetime1">
              <a:rPr lang="en-US" smtClean="0"/>
              <a:t>10/28/2026</a:t>
            </a:fld>
            <a:endParaRPr lang="en-US"/>
          </a:p>
        </p:txBody>
      </p:sp>
      <p:sp>
        <p:nvSpPr>
          <p:cNvPr id="3" name="Footer Placeholder 2">
            <a:extLst>
              <a:ext uri="{FF2B5EF4-FFF2-40B4-BE49-F238E27FC236}">
                <a16:creationId xmlns:a16="http://schemas.microsoft.com/office/drawing/2014/main" id="{09C17F2D-8874-4E6C-85AC-150B0EDAEF33}"/>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080DEE38-8A7F-47D9-9877-7A32008A05EA}"/>
              </a:ext>
            </a:extLst>
          </p:cNvPr>
          <p:cNvSpPr>
            <a:spLocks noGrp="1"/>
          </p:cNvSpPr>
          <p:nvPr>
            <p:ph type="sldNum" sz="quarter" idx="12"/>
          </p:nvPr>
        </p:nvSpPr>
        <p:spPr/>
        <p:txBody>
          <a:bodyPr/>
          <a:lstStyle/>
          <a:p>
            <a:fld id="{2C11977B-EEE1-4D56-A6CE-8035002D8A82}" type="slidenum">
              <a:rPr lang="en-US" smtClean="0"/>
              <a:t>5</a:t>
            </a:fld>
            <a:endParaRPr lang="en-US"/>
          </a:p>
        </p:txBody>
      </p:sp>
      <p:pic>
        <p:nvPicPr>
          <p:cNvPr id="6" name="Picture 5">
            <a:extLst>
              <a:ext uri="{FF2B5EF4-FFF2-40B4-BE49-F238E27FC236}">
                <a16:creationId xmlns:a16="http://schemas.microsoft.com/office/drawing/2014/main" id="{3A1F1C0C-1C35-4698-9EB5-9AB0618CB8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7" name="TextBox 6">
            <a:extLst>
              <a:ext uri="{FF2B5EF4-FFF2-40B4-BE49-F238E27FC236}">
                <a16:creationId xmlns:a16="http://schemas.microsoft.com/office/drawing/2014/main" id="{4CBC91BE-26D8-4162-B66F-4A9230784F36}"/>
              </a:ext>
            </a:extLst>
          </p:cNvPr>
          <p:cNvSpPr txBox="1"/>
          <p:nvPr/>
        </p:nvSpPr>
        <p:spPr>
          <a:xfrm>
            <a:off x="3735584" y="255273"/>
            <a:ext cx="6094476" cy="558743"/>
          </a:xfrm>
          <a:prstGeom prst="rect">
            <a:avLst/>
          </a:prstGeom>
          <a:noFill/>
        </p:spPr>
        <p:txBody>
          <a:bodyPr wrap="square">
            <a:spAutoFit/>
          </a:bodyPr>
          <a:lstStyle/>
          <a:p>
            <a:pPr marL="0" marR="0" algn="l">
              <a:lnSpc>
                <a:spcPct val="115000"/>
              </a:lnSpc>
              <a:spcAft>
                <a:spcPts val="800"/>
              </a:spcAft>
              <a:buNone/>
            </a:pPr>
            <a:r>
              <a:rPr lang="en-US" sz="2800" b="1" dirty="0">
                <a:solidFill>
                  <a:schemeClr val="accent1">
                    <a:lumMod val="50000"/>
                  </a:schemeClr>
                </a:solidFill>
                <a:latin typeface="Calibri Light" panose="020F0302020204030204" pitchFamily="34" charset="0"/>
                <a:cs typeface="Times New Roman" panose="02020603050405020304" pitchFamily="18" charset="0"/>
              </a:rPr>
              <a:t>Comparison of previous studies</a:t>
            </a:r>
          </a:p>
        </p:txBody>
      </p:sp>
      <p:graphicFrame>
        <p:nvGraphicFramePr>
          <p:cNvPr id="8" name="جدول 6">
            <a:extLst>
              <a:ext uri="{FF2B5EF4-FFF2-40B4-BE49-F238E27FC236}">
                <a16:creationId xmlns:a16="http://schemas.microsoft.com/office/drawing/2014/main" id="{E2CC075C-A876-4B06-9FC2-54456E87AC96}"/>
              </a:ext>
            </a:extLst>
          </p:cNvPr>
          <p:cNvGraphicFramePr>
            <a:graphicFrameLocks noGrp="1"/>
          </p:cNvGraphicFramePr>
          <p:nvPr>
            <p:extLst>
              <p:ext uri="{D42A27DB-BD31-4B8C-83A1-F6EECF244321}">
                <p14:modId xmlns:p14="http://schemas.microsoft.com/office/powerpoint/2010/main" val="1896978649"/>
              </p:ext>
            </p:extLst>
          </p:nvPr>
        </p:nvGraphicFramePr>
        <p:xfrm>
          <a:off x="1702061" y="1409213"/>
          <a:ext cx="8127999" cy="2291080"/>
        </p:xfrm>
        <a:graphic>
          <a:graphicData uri="http://schemas.openxmlformats.org/drawingml/2006/table">
            <a:tbl>
              <a:tblPr rtl="1" firstRow="1" bandRow="1">
                <a:tableStyleId>{5C22544A-7EE6-4342-B048-85BDC9FD1C3A}</a:tableStyleId>
              </a:tblPr>
              <a:tblGrid>
                <a:gridCol w="2709333">
                  <a:extLst>
                    <a:ext uri="{9D8B030D-6E8A-4147-A177-3AD203B41FA5}">
                      <a16:colId xmlns:a16="http://schemas.microsoft.com/office/drawing/2014/main" val="3188836662"/>
                    </a:ext>
                  </a:extLst>
                </a:gridCol>
                <a:gridCol w="2709333">
                  <a:extLst>
                    <a:ext uri="{9D8B030D-6E8A-4147-A177-3AD203B41FA5}">
                      <a16:colId xmlns:a16="http://schemas.microsoft.com/office/drawing/2014/main" val="3376917454"/>
                    </a:ext>
                  </a:extLst>
                </a:gridCol>
                <a:gridCol w="2709333">
                  <a:extLst>
                    <a:ext uri="{9D8B030D-6E8A-4147-A177-3AD203B41FA5}">
                      <a16:colId xmlns:a16="http://schemas.microsoft.com/office/drawing/2014/main" val="1785614208"/>
                    </a:ext>
                  </a:extLst>
                </a:gridCol>
              </a:tblGrid>
              <a:tr h="370840">
                <a:tc>
                  <a:txBody>
                    <a:bodyPr/>
                    <a:lstStyle/>
                    <a:p>
                      <a:pPr algn="ctr" rtl="1"/>
                      <a:r>
                        <a:rPr lang="en-US" dirty="0"/>
                        <a:t>Limitation</a:t>
                      </a:r>
                      <a:endParaRPr lang="ar-SA" dirty="0"/>
                    </a:p>
                  </a:txBody>
                  <a:tcPr anchor="ctr">
                    <a:solidFill>
                      <a:schemeClr val="accent5">
                        <a:lumMod val="50000"/>
                      </a:schemeClr>
                    </a:solidFill>
                  </a:tcPr>
                </a:tc>
                <a:tc>
                  <a:txBody>
                    <a:bodyPr/>
                    <a:lstStyle/>
                    <a:p>
                      <a:pPr algn="ctr" rtl="1"/>
                      <a:r>
                        <a:rPr lang="en-US" dirty="0"/>
                        <a:t>Contribution</a:t>
                      </a:r>
                      <a:endParaRPr lang="ar-SA" dirty="0"/>
                    </a:p>
                  </a:txBody>
                  <a:tcPr anchor="ctr">
                    <a:solidFill>
                      <a:schemeClr val="accent5">
                        <a:lumMod val="50000"/>
                      </a:schemeClr>
                    </a:solidFill>
                  </a:tcPr>
                </a:tc>
                <a:tc>
                  <a:txBody>
                    <a:bodyPr/>
                    <a:lstStyle/>
                    <a:p>
                      <a:pPr algn="ctr" rtl="1"/>
                      <a:r>
                        <a:rPr lang="en-US" dirty="0"/>
                        <a:t>System</a:t>
                      </a:r>
                      <a:endParaRPr lang="ar-SA" dirty="0"/>
                    </a:p>
                  </a:txBody>
                  <a:tcPr anchor="ctr">
                    <a:solidFill>
                      <a:schemeClr val="accent5">
                        <a:lumMod val="50000"/>
                      </a:schemeClr>
                    </a:solidFill>
                  </a:tcPr>
                </a:tc>
                <a:extLst>
                  <a:ext uri="{0D108BD9-81ED-4DB2-BD59-A6C34878D82A}">
                    <a16:rowId xmlns:a16="http://schemas.microsoft.com/office/drawing/2014/main" val="4100700989"/>
                  </a:ext>
                </a:extLst>
              </a:tr>
              <a:tr h="370840">
                <a:tc>
                  <a:txBody>
                    <a:bodyPr/>
                    <a:lstStyle/>
                    <a:p>
                      <a:pPr algn="ctr" rtl="1"/>
                      <a:r>
                        <a:rPr lang="en-US" dirty="0"/>
                        <a:t>Complex setup, steep learning curve </a:t>
                      </a:r>
                      <a:endParaRPr lang="ar-SA" dirty="0"/>
                    </a:p>
                  </a:txBody>
                  <a:tcPr anchor="ctr"/>
                </a:tc>
                <a:tc>
                  <a:txBody>
                    <a:bodyPr/>
                    <a:lstStyle/>
                    <a:p>
                      <a:pPr algn="ctr" rtl="1"/>
                      <a:r>
                        <a:rPr lang="en-US" dirty="0"/>
                        <a:t>Open-source </a:t>
                      </a:r>
                      <a:r>
                        <a:rPr lang="en-US" dirty="0" err="1"/>
                        <a:t>EMR</a:t>
                      </a:r>
                      <a:r>
                        <a:rPr lang="en-US" dirty="0"/>
                        <a:t>, modular, API-ready </a:t>
                      </a:r>
                      <a:endParaRPr lang="ar-SA" dirty="0"/>
                    </a:p>
                  </a:txBody>
                  <a:tcPr anchor="ctr"/>
                </a:tc>
                <a:tc>
                  <a:txBody>
                    <a:bodyPr/>
                    <a:lstStyle/>
                    <a:p>
                      <a:pPr algn="ctr" rtl="1"/>
                      <a:r>
                        <a:rPr lang="en-US" dirty="0" err="1"/>
                        <a:t>OpenMRS</a:t>
                      </a:r>
                      <a:endParaRPr lang="ar-SA" dirty="0"/>
                    </a:p>
                  </a:txBody>
                  <a:tcPr anchor="ctr"/>
                </a:tc>
                <a:extLst>
                  <a:ext uri="{0D108BD9-81ED-4DB2-BD59-A6C34878D82A}">
                    <a16:rowId xmlns:a16="http://schemas.microsoft.com/office/drawing/2014/main" val="1918131972"/>
                  </a:ext>
                </a:extLst>
              </a:tr>
              <a:tr h="370840">
                <a:tc>
                  <a:txBody>
                    <a:bodyPr/>
                    <a:lstStyle/>
                    <a:p>
                      <a:pPr algn="ctr" rtl="1"/>
                      <a:r>
                        <a:rPr lang="en-US" dirty="0"/>
                        <a:t>Linux/PostgreSQL dependency </a:t>
                      </a:r>
                      <a:endParaRPr lang="ar-SA" dirty="0"/>
                    </a:p>
                  </a:txBody>
                  <a:tcPr anchor="ctr"/>
                </a:tc>
                <a:tc>
                  <a:txBody>
                    <a:bodyPr/>
                    <a:lstStyle/>
                    <a:p>
                      <a:pPr algn="ctr" rtl="1"/>
                      <a:r>
                        <a:rPr lang="en-US" dirty="0"/>
                        <a:t>Comprehensive </a:t>
                      </a:r>
                      <a:r>
                        <a:rPr lang="en-US" dirty="0" err="1"/>
                        <a:t>EHR</a:t>
                      </a:r>
                      <a:r>
                        <a:rPr lang="en-US" dirty="0"/>
                        <a:t> + finance modules </a:t>
                      </a:r>
                      <a:endParaRPr lang="ar-SA" dirty="0"/>
                    </a:p>
                  </a:txBody>
                  <a:tcPr anchor="ctr"/>
                </a:tc>
                <a:tc>
                  <a:txBody>
                    <a:bodyPr/>
                    <a:lstStyle/>
                    <a:p>
                      <a:pPr algn="ctr" rtl="1"/>
                      <a:r>
                        <a:rPr lang="en-US" dirty="0"/>
                        <a:t>GNU Health</a:t>
                      </a:r>
                      <a:endParaRPr lang="ar-SA" dirty="0"/>
                    </a:p>
                  </a:txBody>
                  <a:tcPr anchor="ctr"/>
                </a:tc>
                <a:extLst>
                  <a:ext uri="{0D108BD9-81ED-4DB2-BD59-A6C34878D82A}">
                    <a16:rowId xmlns:a16="http://schemas.microsoft.com/office/drawing/2014/main" val="1459667133"/>
                  </a:ext>
                </a:extLst>
              </a:tr>
              <a:tr h="370840">
                <a:tc>
                  <a:txBody>
                    <a:bodyPr/>
                    <a:lstStyle/>
                    <a:p>
                      <a:pPr algn="ctr" rtl="1"/>
                      <a:r>
                        <a:rPr lang="en-US" dirty="0"/>
                        <a:t>Commercial license, English-only </a:t>
                      </a:r>
                      <a:endParaRPr lang="ar-SA" dirty="0"/>
                    </a:p>
                  </a:txBody>
                  <a:tcPr anchor="ctr"/>
                </a:tc>
                <a:tc>
                  <a:txBody>
                    <a:bodyPr/>
                    <a:lstStyle/>
                    <a:p>
                      <a:pPr algn="ctr" rtl="1"/>
                      <a:r>
                        <a:rPr lang="en-US" dirty="0"/>
                        <a:t>User-friendly, private-practice focused </a:t>
                      </a:r>
                      <a:endParaRPr lang="ar-SA" dirty="0"/>
                    </a:p>
                  </a:txBody>
                  <a:tcPr anchor="ctr"/>
                </a:tc>
                <a:tc>
                  <a:txBody>
                    <a:bodyPr/>
                    <a:lstStyle/>
                    <a:p>
                      <a:pPr algn="ctr" rtl="1"/>
                      <a:r>
                        <a:rPr lang="en-US" dirty="0" err="1"/>
                        <a:t>ClinicMaster</a:t>
                      </a:r>
                      <a:endParaRPr lang="ar-SA" dirty="0"/>
                    </a:p>
                  </a:txBody>
                  <a:tcPr anchor="ctr"/>
                </a:tc>
                <a:extLst>
                  <a:ext uri="{0D108BD9-81ED-4DB2-BD59-A6C34878D82A}">
                    <a16:rowId xmlns:a16="http://schemas.microsoft.com/office/drawing/2014/main" val="2114683431"/>
                  </a:ext>
                </a:extLst>
              </a:tr>
            </a:tbl>
          </a:graphicData>
        </a:graphic>
      </p:graphicFrame>
      <p:sp>
        <p:nvSpPr>
          <p:cNvPr id="10" name="TextBox 9">
            <a:extLst>
              <a:ext uri="{FF2B5EF4-FFF2-40B4-BE49-F238E27FC236}">
                <a16:creationId xmlns:a16="http://schemas.microsoft.com/office/drawing/2014/main" id="{AB8E4FC8-1DC5-4CF3-873F-A738608EE2C3}"/>
              </a:ext>
            </a:extLst>
          </p:cNvPr>
          <p:cNvSpPr txBox="1"/>
          <p:nvPr/>
        </p:nvSpPr>
        <p:spPr>
          <a:xfrm>
            <a:off x="1561707" y="4012659"/>
            <a:ext cx="8788923" cy="2031325"/>
          </a:xfrm>
          <a:prstGeom prst="rect">
            <a:avLst/>
          </a:prstGeom>
          <a:noFill/>
        </p:spPr>
        <p:txBody>
          <a:bodyPr wrap="square">
            <a:spAutoFit/>
          </a:bodyPr>
          <a:lstStyle/>
          <a:p>
            <a:pPr algn="l" rtl="0"/>
            <a:r>
              <a:rPr lang="en-US" dirty="0"/>
              <a:t>1. Research Gap:</a:t>
            </a:r>
          </a:p>
          <a:p>
            <a:pPr algn="ctr" rtl="0"/>
            <a:r>
              <a:rPr lang="en-US" dirty="0"/>
              <a:t>No existing system offers a lightweight, Arabic-native, academically-validated solution for mid-sized health centers with integrated patient feedback.</a:t>
            </a:r>
          </a:p>
          <a:p>
            <a:pPr algn="l" rtl="0"/>
            <a:endParaRPr lang="en-US" dirty="0"/>
          </a:p>
          <a:p>
            <a:pPr algn="l" rtl="0"/>
            <a:r>
              <a:rPr lang="en-US" dirty="0"/>
              <a:t>2. Our Innovation:</a:t>
            </a:r>
          </a:p>
          <a:p>
            <a:pPr algn="ctr" rtl="0"/>
            <a:r>
              <a:rPr lang="en-US" dirty="0"/>
              <a:t>HCMS combines iterative software engineering, explicit requirement traceability (RTM), and patient-centric features (surveys, ratings, articles) in a cost-free, RTL-optimized package.</a:t>
            </a:r>
            <a:endParaRPr lang="ar-SA" dirty="0"/>
          </a:p>
        </p:txBody>
      </p:sp>
    </p:spTree>
    <p:extLst>
      <p:ext uri="{BB962C8B-B14F-4D97-AF65-F5344CB8AC3E}">
        <p14:creationId xmlns:p14="http://schemas.microsoft.com/office/powerpoint/2010/main" val="11148231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2216912-589E-49F2-8F8A-BE62A0E39106}"/>
              </a:ext>
            </a:extLst>
          </p:cNvPr>
          <p:cNvSpPr>
            <a:spLocks noGrp="1"/>
          </p:cNvSpPr>
          <p:nvPr>
            <p:ph type="dt" sz="half" idx="10"/>
          </p:nvPr>
        </p:nvSpPr>
        <p:spPr/>
        <p:txBody>
          <a:bodyPr/>
          <a:lstStyle/>
          <a:p>
            <a:fld id="{4E54A005-A4AE-48B5-9B72-AC59F9D0C9F3}" type="datetime1">
              <a:rPr lang="en-US" smtClean="0"/>
              <a:t>10/28/2026</a:t>
            </a:fld>
            <a:endParaRPr lang="en-US"/>
          </a:p>
        </p:txBody>
      </p:sp>
      <p:sp>
        <p:nvSpPr>
          <p:cNvPr id="3" name="Footer Placeholder 2">
            <a:extLst>
              <a:ext uri="{FF2B5EF4-FFF2-40B4-BE49-F238E27FC236}">
                <a16:creationId xmlns:a16="http://schemas.microsoft.com/office/drawing/2014/main" id="{49700FA2-E552-4D8A-ACDB-D677B8FD43C8}"/>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DB5F3483-8870-4C08-BCB6-F58E1BDA7699}"/>
              </a:ext>
            </a:extLst>
          </p:cNvPr>
          <p:cNvSpPr>
            <a:spLocks noGrp="1"/>
          </p:cNvSpPr>
          <p:nvPr>
            <p:ph type="sldNum" sz="quarter" idx="12"/>
          </p:nvPr>
        </p:nvSpPr>
        <p:spPr/>
        <p:txBody>
          <a:bodyPr/>
          <a:lstStyle/>
          <a:p>
            <a:fld id="{2C11977B-EEE1-4D56-A6CE-8035002D8A82}" type="slidenum">
              <a:rPr lang="en-US" smtClean="0"/>
              <a:t>6</a:t>
            </a:fld>
            <a:endParaRPr lang="en-US"/>
          </a:p>
        </p:txBody>
      </p:sp>
      <p:pic>
        <p:nvPicPr>
          <p:cNvPr id="6" name="Picture 5">
            <a:extLst>
              <a:ext uri="{FF2B5EF4-FFF2-40B4-BE49-F238E27FC236}">
                <a16:creationId xmlns:a16="http://schemas.microsoft.com/office/drawing/2014/main" id="{246BAB79-F7B1-44FC-9561-947CA25DEF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extBox 7">
            <a:extLst>
              <a:ext uri="{FF2B5EF4-FFF2-40B4-BE49-F238E27FC236}">
                <a16:creationId xmlns:a16="http://schemas.microsoft.com/office/drawing/2014/main" id="{BEA446E3-A49D-4E52-A166-073E23D69700}"/>
              </a:ext>
            </a:extLst>
          </p:cNvPr>
          <p:cNvSpPr txBox="1"/>
          <p:nvPr/>
        </p:nvSpPr>
        <p:spPr>
          <a:xfrm>
            <a:off x="2981227" y="350674"/>
            <a:ext cx="6094428" cy="558743"/>
          </a:xfrm>
          <a:prstGeom prst="rect">
            <a:avLst/>
          </a:prstGeom>
          <a:noFill/>
        </p:spPr>
        <p:txBody>
          <a:bodyPr wrap="square">
            <a:spAutoFit/>
          </a:bodyPr>
          <a:lstStyle/>
          <a:p>
            <a:pPr marL="0" marR="0" algn="l">
              <a:lnSpc>
                <a:spcPct val="115000"/>
              </a:lnSpc>
              <a:spcAft>
                <a:spcPts val="800"/>
              </a:spcAft>
              <a:buNone/>
            </a:pPr>
            <a:r>
              <a:rPr lang="en-US" sz="2800" b="1" dirty="0">
                <a:solidFill>
                  <a:schemeClr val="accent1">
                    <a:lumMod val="50000"/>
                  </a:schemeClr>
                </a:solidFill>
                <a:latin typeface="Calibri Light" panose="020F0302020204030204" pitchFamily="34" charset="0"/>
                <a:cs typeface="Times New Roman" panose="02020603050405020304" pitchFamily="18" charset="0"/>
              </a:rPr>
              <a:t>General Functional System Requirements</a:t>
            </a:r>
            <a:endParaRPr lang="en-US" sz="2800" kern="100" dirty="0">
              <a:solidFill>
                <a:schemeClr val="accent1">
                  <a:lumMod val="50000"/>
                </a:schemeClr>
              </a:solidFill>
              <a:effectLst/>
              <a:latin typeface="Calibri" panose="020F0502020204030204" pitchFamily="34" charset="0"/>
              <a:ea typeface="Calibri" panose="020F0502020204030204" pitchFamily="34" charset="0"/>
              <a:cs typeface="Arial" panose="020B0604020202020204" pitchFamily="34" charset="0"/>
            </a:endParaRPr>
          </a:p>
        </p:txBody>
      </p:sp>
      <p:graphicFrame>
        <p:nvGraphicFramePr>
          <p:cNvPr id="9" name="Table 8">
            <a:extLst>
              <a:ext uri="{FF2B5EF4-FFF2-40B4-BE49-F238E27FC236}">
                <a16:creationId xmlns:a16="http://schemas.microsoft.com/office/drawing/2014/main" id="{5F527957-5BA4-44CE-AEB4-6690F39E6A73}"/>
              </a:ext>
            </a:extLst>
          </p:cNvPr>
          <p:cNvGraphicFramePr>
            <a:graphicFrameLocks noGrp="1"/>
          </p:cNvGraphicFramePr>
          <p:nvPr>
            <p:extLst>
              <p:ext uri="{D42A27DB-BD31-4B8C-83A1-F6EECF244321}">
                <p14:modId xmlns:p14="http://schemas.microsoft.com/office/powerpoint/2010/main" val="2166240847"/>
              </p:ext>
            </p:extLst>
          </p:nvPr>
        </p:nvGraphicFramePr>
        <p:xfrm>
          <a:off x="1375409" y="1674796"/>
          <a:ext cx="9441181" cy="4019930"/>
        </p:xfrm>
        <a:graphic>
          <a:graphicData uri="http://schemas.openxmlformats.org/drawingml/2006/table">
            <a:tbl>
              <a:tblPr firstRow="1" firstCol="1" bandRow="1">
                <a:tableStyleId>{5C22544A-7EE6-4342-B048-85BDC9FD1C3A}</a:tableStyleId>
              </a:tblPr>
              <a:tblGrid>
                <a:gridCol w="2198472">
                  <a:extLst>
                    <a:ext uri="{9D8B030D-6E8A-4147-A177-3AD203B41FA5}">
                      <a16:colId xmlns:a16="http://schemas.microsoft.com/office/drawing/2014/main" val="3869976493"/>
                    </a:ext>
                  </a:extLst>
                </a:gridCol>
                <a:gridCol w="7242709">
                  <a:extLst>
                    <a:ext uri="{9D8B030D-6E8A-4147-A177-3AD203B41FA5}">
                      <a16:colId xmlns:a16="http://schemas.microsoft.com/office/drawing/2014/main" val="1345684223"/>
                    </a:ext>
                  </a:extLst>
                </a:gridCol>
              </a:tblGrid>
              <a:tr h="720477">
                <a:tc>
                  <a:txBody>
                    <a:bodyPr/>
                    <a:lstStyle/>
                    <a:p>
                      <a:pPr marL="0" marR="0" algn="ctr" rtl="1">
                        <a:lnSpc>
                          <a:spcPct val="115000"/>
                        </a:lnSpc>
                        <a:spcAft>
                          <a:spcPts val="800"/>
                        </a:spcAft>
                        <a:buNone/>
                      </a:pPr>
                      <a:r>
                        <a:rPr lang="en-US" sz="1800" kern="100" dirty="0">
                          <a:effectLst/>
                        </a:rPr>
                        <a:t>ID</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solidFill>
                      <a:schemeClr val="accent5">
                        <a:lumMod val="50000"/>
                      </a:schemeClr>
                    </a:solidFill>
                  </a:tcPr>
                </a:tc>
                <a:tc>
                  <a:txBody>
                    <a:bodyPr/>
                    <a:lstStyle/>
                    <a:p>
                      <a:pPr marL="0" marR="0" algn="ctr">
                        <a:lnSpc>
                          <a:spcPct val="115000"/>
                        </a:lnSpc>
                        <a:spcAft>
                          <a:spcPts val="800"/>
                        </a:spcAft>
                        <a:buNone/>
                      </a:pPr>
                      <a:r>
                        <a:rPr lang="en-US" sz="1800" kern="100" dirty="0">
                          <a:effectLst/>
                        </a:rPr>
                        <a:t>General Functional Requirement</a:t>
                      </a:r>
                    </a:p>
                  </a:txBody>
                  <a:tcPr marL="68580" marR="68580" marT="0" marB="0">
                    <a:solidFill>
                      <a:schemeClr val="accent5">
                        <a:lumMod val="50000"/>
                      </a:schemeClr>
                    </a:solidFill>
                  </a:tcPr>
                </a:tc>
                <a:extLst>
                  <a:ext uri="{0D108BD9-81ED-4DB2-BD59-A6C34878D82A}">
                    <a16:rowId xmlns:a16="http://schemas.microsoft.com/office/drawing/2014/main" val="188261995"/>
                  </a:ext>
                </a:extLst>
              </a:tr>
              <a:tr h="1028461">
                <a:tc>
                  <a:txBody>
                    <a:bodyPr/>
                    <a:lstStyle/>
                    <a:p>
                      <a:pPr marL="0" marR="0" rtl="0">
                        <a:lnSpc>
                          <a:spcPct val="115000"/>
                        </a:lnSpc>
                        <a:spcAft>
                          <a:spcPts val="800"/>
                        </a:spcAft>
                        <a:buNone/>
                      </a:pPr>
                      <a:r>
                        <a:rPr lang="en-US" sz="1800" kern="100" dirty="0">
                          <a:effectLst/>
                        </a:rPr>
                        <a:t>FR-G01</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solidFill>
                      <a:schemeClr val="accent5">
                        <a:lumMod val="50000"/>
                      </a:schemeClr>
                    </a:solidFill>
                  </a:tcPr>
                </a:tc>
                <a:tc>
                  <a:txBody>
                    <a:bodyPr/>
                    <a:lstStyle/>
                    <a:p>
                      <a:pPr marL="0" marR="0" algn="l" rtl="0">
                        <a:lnSpc>
                          <a:spcPct val="115000"/>
                        </a:lnSpc>
                        <a:spcAft>
                          <a:spcPts val="800"/>
                        </a:spcAft>
                        <a:buNone/>
                      </a:pPr>
                      <a:r>
                        <a:rPr lang="en-US" sz="1800" kern="100" dirty="0">
                          <a:effectLst/>
                        </a:rPr>
                        <a:t>The system must allow User Authentication &amp; Role-Based Access Control (RBAC)</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480829091"/>
                  </a:ext>
                </a:extLst>
              </a:tr>
              <a:tr h="567748">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FR-G02</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solidFill>
                      <a:schemeClr val="accent5">
                        <a:lumMod val="50000"/>
                      </a:schemeClr>
                    </a:solidFill>
                  </a:tcPr>
                </a:tc>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The system must allow Clinical &amp; Patient Data Management</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485496856"/>
                  </a:ext>
                </a:extLst>
              </a:tr>
              <a:tr h="567748">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FR-G03</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solidFill>
                      <a:schemeClr val="accent5">
                        <a:lumMod val="50000"/>
                      </a:schemeClr>
                    </a:solidFill>
                  </a:tcPr>
                </a:tc>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The system must allow Appointment Scheduling &amp; Tracking</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079700579"/>
                  </a:ext>
                </a:extLst>
              </a:tr>
              <a:tr h="567748">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FR-G04</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solidFill>
                      <a:schemeClr val="accent5">
                        <a:lumMod val="50000"/>
                      </a:schemeClr>
                    </a:solidFill>
                  </a:tcPr>
                </a:tc>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The system must allow Administrative &amp; Financial Oversight</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993996681"/>
                  </a:ext>
                </a:extLst>
              </a:tr>
              <a:tr h="567748">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FR-G05</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solidFill>
                      <a:schemeClr val="accent5">
                        <a:lumMod val="50000"/>
                      </a:schemeClr>
                    </a:solidFill>
                  </a:tcPr>
                </a:tc>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The system must allow Patient Engagement &amp; Content Management</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089383983"/>
                  </a:ext>
                </a:extLst>
              </a:tr>
            </a:tbl>
          </a:graphicData>
        </a:graphic>
      </p:graphicFrame>
    </p:spTree>
    <p:extLst>
      <p:ext uri="{BB962C8B-B14F-4D97-AF65-F5344CB8AC3E}">
        <p14:creationId xmlns:p14="http://schemas.microsoft.com/office/powerpoint/2010/main" val="35834566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4E84768-2F6F-416A-8354-BB1C97752FDC}"/>
              </a:ext>
            </a:extLst>
          </p:cNvPr>
          <p:cNvSpPr>
            <a:spLocks noGrp="1"/>
          </p:cNvSpPr>
          <p:nvPr>
            <p:ph type="dt" sz="half" idx="10"/>
          </p:nvPr>
        </p:nvSpPr>
        <p:spPr/>
        <p:txBody>
          <a:bodyPr/>
          <a:lstStyle/>
          <a:p>
            <a:fld id="{4E54A005-A4AE-48B5-9B72-AC59F9D0C9F3}" type="datetime1">
              <a:rPr lang="en-US" smtClean="0"/>
              <a:t>10/28/2026</a:t>
            </a:fld>
            <a:endParaRPr lang="en-US"/>
          </a:p>
        </p:txBody>
      </p:sp>
      <p:sp>
        <p:nvSpPr>
          <p:cNvPr id="3" name="Footer Placeholder 2">
            <a:extLst>
              <a:ext uri="{FF2B5EF4-FFF2-40B4-BE49-F238E27FC236}">
                <a16:creationId xmlns:a16="http://schemas.microsoft.com/office/drawing/2014/main" id="{B6D049CF-019D-4792-BDA6-1CC8C7FFF826}"/>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4D0FB8F5-75D6-4FB9-9D95-1E8415A7FCB0}"/>
              </a:ext>
            </a:extLst>
          </p:cNvPr>
          <p:cNvSpPr>
            <a:spLocks noGrp="1"/>
          </p:cNvSpPr>
          <p:nvPr>
            <p:ph type="sldNum" sz="quarter" idx="12"/>
          </p:nvPr>
        </p:nvSpPr>
        <p:spPr/>
        <p:txBody>
          <a:bodyPr/>
          <a:lstStyle/>
          <a:p>
            <a:fld id="{2C11977B-EEE1-4D56-A6CE-8035002D8A82}" type="slidenum">
              <a:rPr lang="en-US" smtClean="0"/>
              <a:t>7</a:t>
            </a:fld>
            <a:endParaRPr lang="en-US"/>
          </a:p>
        </p:txBody>
      </p:sp>
      <p:pic>
        <p:nvPicPr>
          <p:cNvPr id="6" name="Picture 5">
            <a:extLst>
              <a:ext uri="{FF2B5EF4-FFF2-40B4-BE49-F238E27FC236}">
                <a16:creationId xmlns:a16="http://schemas.microsoft.com/office/drawing/2014/main" id="{36354A65-4D1B-44B8-B614-948FAE14E8B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extBox 7">
            <a:extLst>
              <a:ext uri="{FF2B5EF4-FFF2-40B4-BE49-F238E27FC236}">
                <a16:creationId xmlns:a16="http://schemas.microsoft.com/office/drawing/2014/main" id="{F18659C9-2049-404B-81B6-FC6D296DBD02}"/>
              </a:ext>
            </a:extLst>
          </p:cNvPr>
          <p:cNvSpPr txBox="1"/>
          <p:nvPr/>
        </p:nvSpPr>
        <p:spPr>
          <a:xfrm>
            <a:off x="3396006" y="124561"/>
            <a:ext cx="6094428" cy="523220"/>
          </a:xfrm>
          <a:prstGeom prst="rect">
            <a:avLst/>
          </a:prstGeom>
          <a:noFill/>
        </p:spPr>
        <p:txBody>
          <a:bodyPr wrap="square">
            <a:spAutoFit/>
          </a:bodyPr>
          <a:lstStyle/>
          <a:p>
            <a:r>
              <a:rPr lang="en-US" sz="2800" b="1" dirty="0">
                <a:solidFill>
                  <a:schemeClr val="accent1">
                    <a:lumMod val="50000"/>
                  </a:schemeClr>
                </a:solidFill>
                <a:latin typeface="Calibri Light" panose="020F0302020204030204" pitchFamily="34" charset="0"/>
                <a:cs typeface="Times New Roman" panose="02020603050405020304" pitchFamily="18" charset="0"/>
              </a:rPr>
              <a:t> Non-Functional Requirements</a:t>
            </a:r>
            <a:endParaRPr lang="en-US" sz="2800" dirty="0">
              <a:solidFill>
                <a:schemeClr val="accent1">
                  <a:lumMod val="50000"/>
                </a:schemeClr>
              </a:solidFill>
            </a:endParaRPr>
          </a:p>
        </p:txBody>
      </p:sp>
      <p:graphicFrame>
        <p:nvGraphicFramePr>
          <p:cNvPr id="9" name="Table 8">
            <a:extLst>
              <a:ext uri="{FF2B5EF4-FFF2-40B4-BE49-F238E27FC236}">
                <a16:creationId xmlns:a16="http://schemas.microsoft.com/office/drawing/2014/main" id="{F1BC3965-6A68-4327-9D84-D635D574BBD5}"/>
              </a:ext>
            </a:extLst>
          </p:cNvPr>
          <p:cNvGraphicFramePr>
            <a:graphicFrameLocks noGrp="1"/>
          </p:cNvGraphicFramePr>
          <p:nvPr>
            <p:extLst>
              <p:ext uri="{D42A27DB-BD31-4B8C-83A1-F6EECF244321}">
                <p14:modId xmlns:p14="http://schemas.microsoft.com/office/powerpoint/2010/main" val="340299166"/>
              </p:ext>
            </p:extLst>
          </p:nvPr>
        </p:nvGraphicFramePr>
        <p:xfrm>
          <a:off x="932468" y="819744"/>
          <a:ext cx="9456945" cy="5913695"/>
        </p:xfrm>
        <a:graphic>
          <a:graphicData uri="http://schemas.openxmlformats.org/drawingml/2006/table">
            <a:tbl>
              <a:tblPr firstRow="1" firstCol="1" bandRow="1">
                <a:tableStyleId>{5C22544A-7EE6-4342-B048-85BDC9FD1C3A}</a:tableStyleId>
              </a:tblPr>
              <a:tblGrid>
                <a:gridCol w="3152315">
                  <a:extLst>
                    <a:ext uri="{9D8B030D-6E8A-4147-A177-3AD203B41FA5}">
                      <a16:colId xmlns:a16="http://schemas.microsoft.com/office/drawing/2014/main" val="2727127976"/>
                    </a:ext>
                  </a:extLst>
                </a:gridCol>
                <a:gridCol w="3152315">
                  <a:extLst>
                    <a:ext uri="{9D8B030D-6E8A-4147-A177-3AD203B41FA5}">
                      <a16:colId xmlns:a16="http://schemas.microsoft.com/office/drawing/2014/main" val="175046448"/>
                    </a:ext>
                  </a:extLst>
                </a:gridCol>
                <a:gridCol w="3152315">
                  <a:extLst>
                    <a:ext uri="{9D8B030D-6E8A-4147-A177-3AD203B41FA5}">
                      <a16:colId xmlns:a16="http://schemas.microsoft.com/office/drawing/2014/main" val="929254864"/>
                    </a:ext>
                  </a:extLst>
                </a:gridCol>
              </a:tblGrid>
              <a:tr h="349026">
                <a:tc>
                  <a:txBody>
                    <a:bodyPr/>
                    <a:lstStyle/>
                    <a:p>
                      <a:pPr algn="ctr">
                        <a:lnSpc>
                          <a:spcPct val="150000"/>
                        </a:lnSpc>
                        <a:spcAft>
                          <a:spcPts val="800"/>
                        </a:spcAft>
                      </a:pPr>
                      <a:r>
                        <a:rPr lang="en-US" sz="1050" kern="100" dirty="0">
                          <a:effectLst/>
                          <a:latin typeface="Calibri" panose="020F0502020204030204" pitchFamily="34" charset="0"/>
                          <a:ea typeface="Calibri" panose="020F0502020204030204" pitchFamily="34" charset="0"/>
                          <a:cs typeface="Arial" panose="020B0604020202020204" pitchFamily="34" charset="0"/>
                        </a:rPr>
                        <a:t>ID</a:t>
                      </a: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dirty="0">
                          <a:effectLst/>
                          <a:latin typeface="Calibri" panose="020F0502020204030204" pitchFamily="34" charset="0"/>
                          <a:ea typeface="Calibri" panose="020F0502020204030204" pitchFamily="34" charset="0"/>
                          <a:cs typeface="Arial" panose="020B0604020202020204" pitchFamily="34" charset="0"/>
                        </a:rPr>
                        <a:t>Description</a:t>
                      </a: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dirty="0">
                          <a:effectLst/>
                          <a:latin typeface="Calibri" panose="020F0502020204030204" pitchFamily="34" charset="0"/>
                          <a:ea typeface="Calibri" panose="020F0502020204030204" pitchFamily="34" charset="0"/>
                          <a:cs typeface="Arial" panose="020B0604020202020204" pitchFamily="34" charset="0"/>
                        </a:rPr>
                        <a:t>Non-Functional Requirement</a:t>
                      </a:r>
                    </a:p>
                  </a:txBody>
                  <a:tcPr marL="45454" marR="45454" marT="0" marB="0" anchor="ctr">
                    <a:solidFill>
                      <a:schemeClr val="accent5">
                        <a:lumMod val="50000"/>
                      </a:schemeClr>
                    </a:solidFill>
                  </a:tcPr>
                </a:tc>
                <a:extLst>
                  <a:ext uri="{0D108BD9-81ED-4DB2-BD59-A6C34878D82A}">
                    <a16:rowId xmlns:a16="http://schemas.microsoft.com/office/drawing/2014/main" val="90609866"/>
                  </a:ext>
                </a:extLst>
              </a:tr>
              <a:tr h="550045">
                <a:tc>
                  <a:txBody>
                    <a:bodyPr/>
                    <a:lstStyle/>
                    <a:p>
                      <a:pPr algn="ctr">
                        <a:lnSpc>
                          <a:spcPct val="150000"/>
                        </a:lnSpc>
                        <a:spcAft>
                          <a:spcPts val="800"/>
                        </a:spcAft>
                      </a:pPr>
                      <a:r>
                        <a:rPr lang="en-US" sz="1050" kern="100" dirty="0">
                          <a:effectLst/>
                        </a:rPr>
                        <a:t>NFR-01</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dirty="0">
                          <a:effectLst/>
                        </a:rPr>
                        <a:t>Usability</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tc>
                  <a:txBody>
                    <a:bodyPr/>
                    <a:lstStyle/>
                    <a:p>
                      <a:pPr algn="ctr">
                        <a:lnSpc>
                          <a:spcPct val="150000"/>
                        </a:lnSpc>
                        <a:spcAft>
                          <a:spcPts val="800"/>
                        </a:spcAft>
                      </a:pPr>
                      <a:r>
                        <a:rPr lang="en-US" sz="1050" kern="100">
                          <a:effectLst/>
                        </a:rPr>
                        <a:t>The system interface must be simple, intuitive, and consistent across all modules to minimize user error.</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extLst>
                  <a:ext uri="{0D108BD9-81ED-4DB2-BD59-A6C34878D82A}">
                    <a16:rowId xmlns:a16="http://schemas.microsoft.com/office/drawing/2014/main" val="342618769"/>
                  </a:ext>
                </a:extLst>
              </a:tr>
              <a:tr h="362730">
                <a:tc>
                  <a:txBody>
                    <a:bodyPr/>
                    <a:lstStyle/>
                    <a:p>
                      <a:pPr algn="ctr">
                        <a:lnSpc>
                          <a:spcPct val="150000"/>
                        </a:lnSpc>
                        <a:spcAft>
                          <a:spcPts val="800"/>
                        </a:spcAft>
                      </a:pPr>
                      <a:r>
                        <a:rPr lang="en-US" sz="1050" kern="100" dirty="0">
                          <a:effectLst/>
                        </a:rPr>
                        <a:t>NFR-02</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a:effectLst/>
                        </a:rPr>
                        <a:t>Localization</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tc>
                  <a:txBody>
                    <a:bodyPr/>
                    <a:lstStyle/>
                    <a:p>
                      <a:pPr algn="ctr">
                        <a:lnSpc>
                          <a:spcPct val="150000"/>
                        </a:lnSpc>
                        <a:spcAft>
                          <a:spcPts val="800"/>
                        </a:spcAft>
                      </a:pPr>
                      <a:r>
                        <a:rPr lang="en-US" sz="1050" kern="100">
                          <a:effectLst/>
                        </a:rPr>
                        <a:t>The system must fully support the Arabic language (RTL layout, Arabic fonts, and localized labels).</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extLst>
                  <a:ext uri="{0D108BD9-81ED-4DB2-BD59-A6C34878D82A}">
                    <a16:rowId xmlns:a16="http://schemas.microsoft.com/office/drawing/2014/main" val="2084326219"/>
                  </a:ext>
                </a:extLst>
              </a:tr>
              <a:tr h="553955">
                <a:tc>
                  <a:txBody>
                    <a:bodyPr/>
                    <a:lstStyle/>
                    <a:p>
                      <a:pPr algn="ctr">
                        <a:lnSpc>
                          <a:spcPct val="150000"/>
                        </a:lnSpc>
                        <a:spcAft>
                          <a:spcPts val="800"/>
                        </a:spcAft>
                      </a:pPr>
                      <a:r>
                        <a:rPr lang="en-US" sz="1050" kern="100" dirty="0">
                          <a:effectLst/>
                        </a:rPr>
                        <a:t>NFR-03</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dirty="0">
                          <a:effectLst/>
                        </a:rPr>
                        <a:t>Accuracy</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tc>
                  <a:txBody>
                    <a:bodyPr/>
                    <a:lstStyle/>
                    <a:p>
                      <a:pPr algn="ctr">
                        <a:lnSpc>
                          <a:spcPct val="150000"/>
                        </a:lnSpc>
                        <a:spcAft>
                          <a:spcPts val="800"/>
                        </a:spcAft>
                      </a:pPr>
                      <a:r>
                        <a:rPr lang="en-US" sz="1050" kern="100" dirty="0">
                          <a:effectLst/>
                        </a:rPr>
                        <a:t>The system must perform calculations (e.g., invoices, statistics) with 100% accuracy and validate all input data formats.</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extLst>
                  <a:ext uri="{0D108BD9-81ED-4DB2-BD59-A6C34878D82A}">
                    <a16:rowId xmlns:a16="http://schemas.microsoft.com/office/drawing/2014/main" val="3956620792"/>
                  </a:ext>
                </a:extLst>
              </a:tr>
              <a:tr h="553955">
                <a:tc>
                  <a:txBody>
                    <a:bodyPr/>
                    <a:lstStyle/>
                    <a:p>
                      <a:pPr algn="ctr">
                        <a:lnSpc>
                          <a:spcPct val="150000"/>
                        </a:lnSpc>
                        <a:spcAft>
                          <a:spcPts val="800"/>
                        </a:spcAft>
                      </a:pPr>
                      <a:r>
                        <a:rPr lang="en-US" sz="1050" kern="100" dirty="0">
                          <a:effectLst/>
                        </a:rPr>
                        <a:t>NFR-04</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a:effectLst/>
                        </a:rPr>
                        <a:t>Availability</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tc>
                  <a:txBody>
                    <a:bodyPr/>
                    <a:lstStyle/>
                    <a:p>
                      <a:pPr algn="ctr">
                        <a:lnSpc>
                          <a:spcPct val="150000"/>
                        </a:lnSpc>
                        <a:spcAft>
                          <a:spcPts val="800"/>
                        </a:spcAft>
                      </a:pPr>
                      <a:r>
                        <a:rPr lang="en-US" sz="1050" kern="100">
                          <a:effectLst/>
                        </a:rPr>
                        <a:t>The system must be accessible 24/7 via web browser without significant downtime during normal operations.</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extLst>
                  <a:ext uri="{0D108BD9-81ED-4DB2-BD59-A6C34878D82A}">
                    <a16:rowId xmlns:a16="http://schemas.microsoft.com/office/drawing/2014/main" val="925347890"/>
                  </a:ext>
                </a:extLst>
              </a:tr>
              <a:tr h="362730">
                <a:tc>
                  <a:txBody>
                    <a:bodyPr/>
                    <a:lstStyle/>
                    <a:p>
                      <a:pPr algn="ctr">
                        <a:lnSpc>
                          <a:spcPct val="150000"/>
                        </a:lnSpc>
                        <a:spcAft>
                          <a:spcPts val="800"/>
                        </a:spcAft>
                      </a:pPr>
                      <a:r>
                        <a:rPr lang="en-US" sz="1050" kern="100" dirty="0">
                          <a:effectLst/>
                        </a:rPr>
                        <a:t>NFR-05</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a:effectLst/>
                        </a:rPr>
                        <a:t>Performance</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tc>
                  <a:txBody>
                    <a:bodyPr/>
                    <a:lstStyle/>
                    <a:p>
                      <a:pPr algn="ctr">
                        <a:lnSpc>
                          <a:spcPct val="150000"/>
                        </a:lnSpc>
                        <a:spcAft>
                          <a:spcPts val="800"/>
                        </a:spcAft>
                      </a:pPr>
                      <a:r>
                        <a:rPr lang="en-US" sz="1050" kern="100">
                          <a:effectLst/>
                        </a:rPr>
                        <a:t>Page load times and database query responses must remain under 2 seconds for standard operations.</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extLst>
                  <a:ext uri="{0D108BD9-81ED-4DB2-BD59-A6C34878D82A}">
                    <a16:rowId xmlns:a16="http://schemas.microsoft.com/office/drawing/2014/main" val="1660127760"/>
                  </a:ext>
                </a:extLst>
              </a:tr>
              <a:tr h="362730">
                <a:tc>
                  <a:txBody>
                    <a:bodyPr/>
                    <a:lstStyle/>
                    <a:p>
                      <a:pPr algn="ctr">
                        <a:lnSpc>
                          <a:spcPct val="150000"/>
                        </a:lnSpc>
                        <a:spcAft>
                          <a:spcPts val="800"/>
                        </a:spcAft>
                      </a:pPr>
                      <a:r>
                        <a:rPr lang="en-US" sz="1050" kern="100" dirty="0">
                          <a:effectLst/>
                        </a:rPr>
                        <a:t>NFR-06</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a:effectLst/>
                        </a:rPr>
                        <a:t>Security</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tc>
                  <a:txBody>
                    <a:bodyPr/>
                    <a:lstStyle/>
                    <a:p>
                      <a:pPr algn="ctr">
                        <a:lnSpc>
                          <a:spcPct val="150000"/>
                        </a:lnSpc>
                        <a:spcAft>
                          <a:spcPts val="800"/>
                        </a:spcAft>
                      </a:pPr>
                      <a:r>
                        <a:rPr lang="en-US" sz="1050" kern="100">
                          <a:effectLst/>
                        </a:rPr>
                        <a:t>User passwords must be encrypted (using secure hashing algorithms) before storage in the database.</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extLst>
                  <a:ext uri="{0D108BD9-81ED-4DB2-BD59-A6C34878D82A}">
                    <a16:rowId xmlns:a16="http://schemas.microsoft.com/office/drawing/2014/main" val="33585865"/>
                  </a:ext>
                </a:extLst>
              </a:tr>
              <a:tr h="553955">
                <a:tc>
                  <a:txBody>
                    <a:bodyPr/>
                    <a:lstStyle/>
                    <a:p>
                      <a:pPr algn="ctr">
                        <a:lnSpc>
                          <a:spcPct val="150000"/>
                        </a:lnSpc>
                        <a:spcAft>
                          <a:spcPts val="800"/>
                        </a:spcAft>
                      </a:pPr>
                      <a:r>
                        <a:rPr lang="en-US" sz="1050" kern="100" dirty="0">
                          <a:effectLst/>
                        </a:rPr>
                        <a:t>NFR-07</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dirty="0">
                          <a:effectLst/>
                        </a:rPr>
                        <a:t>Security</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tc>
                  <a:txBody>
                    <a:bodyPr/>
                    <a:lstStyle/>
                    <a:p>
                      <a:pPr algn="ctr">
                        <a:lnSpc>
                          <a:spcPct val="150000"/>
                        </a:lnSpc>
                        <a:spcAft>
                          <a:spcPts val="800"/>
                        </a:spcAft>
                      </a:pPr>
                      <a:r>
                        <a:rPr lang="en-US" sz="1050" kern="100">
                          <a:effectLst/>
                        </a:rPr>
                        <a:t>Access to all pages must be protected by session validation; unauthorized access attempts must be redirected to login.</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extLst>
                  <a:ext uri="{0D108BD9-81ED-4DB2-BD59-A6C34878D82A}">
                    <a16:rowId xmlns:a16="http://schemas.microsoft.com/office/drawing/2014/main" val="2860951998"/>
                  </a:ext>
                </a:extLst>
              </a:tr>
              <a:tr h="553955">
                <a:tc>
                  <a:txBody>
                    <a:bodyPr/>
                    <a:lstStyle/>
                    <a:p>
                      <a:pPr algn="ctr">
                        <a:lnSpc>
                          <a:spcPct val="150000"/>
                        </a:lnSpc>
                        <a:spcAft>
                          <a:spcPts val="800"/>
                        </a:spcAft>
                      </a:pPr>
                      <a:r>
                        <a:rPr lang="en-US" sz="1050" kern="100" dirty="0">
                          <a:effectLst/>
                        </a:rPr>
                        <a:t>NFR-08</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a:effectLst/>
                        </a:rPr>
                        <a:t>Security</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tc>
                  <a:txBody>
                    <a:bodyPr/>
                    <a:lstStyle/>
                    <a:p>
                      <a:pPr algn="ctr">
                        <a:lnSpc>
                          <a:spcPct val="150000"/>
                        </a:lnSpc>
                        <a:spcAft>
                          <a:spcPts val="800"/>
                        </a:spcAft>
                      </a:pPr>
                      <a:r>
                        <a:rPr lang="en-US" sz="1050" kern="100">
                          <a:effectLst/>
                        </a:rPr>
                        <a:t>Role-Based Access Control (RBAC) must strictly enforce permissions; users can only access features relevant to their role.</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extLst>
                  <a:ext uri="{0D108BD9-81ED-4DB2-BD59-A6C34878D82A}">
                    <a16:rowId xmlns:a16="http://schemas.microsoft.com/office/drawing/2014/main" val="2584595022"/>
                  </a:ext>
                </a:extLst>
              </a:tr>
              <a:tr h="553955">
                <a:tc>
                  <a:txBody>
                    <a:bodyPr/>
                    <a:lstStyle/>
                    <a:p>
                      <a:pPr algn="ctr">
                        <a:lnSpc>
                          <a:spcPct val="150000"/>
                        </a:lnSpc>
                        <a:spcAft>
                          <a:spcPts val="800"/>
                        </a:spcAft>
                      </a:pPr>
                      <a:r>
                        <a:rPr lang="en-US" sz="1050" kern="100" dirty="0">
                          <a:effectLst/>
                        </a:rPr>
                        <a:t>NFR-09</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a:effectLst/>
                        </a:rPr>
                        <a:t>Scalability</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tc>
                  <a:txBody>
                    <a:bodyPr/>
                    <a:lstStyle/>
                    <a:p>
                      <a:pPr algn="ctr">
                        <a:lnSpc>
                          <a:spcPct val="150000"/>
                        </a:lnSpc>
                        <a:spcAft>
                          <a:spcPts val="800"/>
                        </a:spcAft>
                      </a:pPr>
                      <a:r>
                        <a:rPr lang="en-US" sz="1050" kern="100" dirty="0">
                          <a:effectLst/>
                        </a:rPr>
                        <a:t>The database schema and code structure must allow for future module additions without major refactoring.</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extLst>
                  <a:ext uri="{0D108BD9-81ED-4DB2-BD59-A6C34878D82A}">
                    <a16:rowId xmlns:a16="http://schemas.microsoft.com/office/drawing/2014/main" val="388537799"/>
                  </a:ext>
                </a:extLst>
              </a:tr>
              <a:tr h="334367">
                <a:tc>
                  <a:txBody>
                    <a:bodyPr/>
                    <a:lstStyle/>
                    <a:p>
                      <a:pPr algn="ctr">
                        <a:lnSpc>
                          <a:spcPct val="150000"/>
                        </a:lnSpc>
                        <a:spcAft>
                          <a:spcPts val="800"/>
                        </a:spcAft>
                      </a:pPr>
                      <a:r>
                        <a:rPr lang="en-US" sz="1050" kern="100" dirty="0">
                          <a:effectLst/>
                        </a:rPr>
                        <a:t>NFR-10</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a:effectLst/>
                        </a:rPr>
                        <a:t>Integration</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tc>
                  <a:txBody>
                    <a:bodyPr/>
                    <a:lstStyle/>
                    <a:p>
                      <a:pPr algn="ctr">
                        <a:lnSpc>
                          <a:spcPct val="150000"/>
                        </a:lnSpc>
                        <a:spcAft>
                          <a:spcPts val="800"/>
                        </a:spcAft>
                      </a:pPr>
                      <a:r>
                        <a:rPr lang="en-US" sz="1050" kern="100" dirty="0">
                          <a:effectLst/>
                        </a:rPr>
                        <a:t>Data entered once (e.g., patient registration) must be automatically available across all related modules.</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extLst>
                  <a:ext uri="{0D108BD9-81ED-4DB2-BD59-A6C34878D82A}">
                    <a16:rowId xmlns:a16="http://schemas.microsoft.com/office/drawing/2014/main" val="3551566515"/>
                  </a:ext>
                </a:extLst>
              </a:tr>
            </a:tbl>
          </a:graphicData>
        </a:graphic>
      </p:graphicFrame>
    </p:spTree>
    <p:extLst>
      <p:ext uri="{BB962C8B-B14F-4D97-AF65-F5344CB8AC3E}">
        <p14:creationId xmlns:p14="http://schemas.microsoft.com/office/powerpoint/2010/main" val="1617685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0754B0C-14C8-4AFD-9DCF-E64CECAF5C9B}"/>
              </a:ext>
            </a:extLst>
          </p:cNvPr>
          <p:cNvSpPr>
            <a:spLocks noGrp="1"/>
          </p:cNvSpPr>
          <p:nvPr>
            <p:ph type="dt" sz="half" idx="10"/>
          </p:nvPr>
        </p:nvSpPr>
        <p:spPr/>
        <p:txBody>
          <a:bodyPr/>
          <a:lstStyle/>
          <a:p>
            <a:fld id="{4E54A005-A4AE-48B5-9B72-AC59F9D0C9F3}" type="datetime1">
              <a:rPr lang="en-US" smtClean="0"/>
              <a:t>10/28/2026</a:t>
            </a:fld>
            <a:endParaRPr lang="en-US"/>
          </a:p>
        </p:txBody>
      </p:sp>
      <p:sp>
        <p:nvSpPr>
          <p:cNvPr id="3" name="Footer Placeholder 2">
            <a:extLst>
              <a:ext uri="{FF2B5EF4-FFF2-40B4-BE49-F238E27FC236}">
                <a16:creationId xmlns:a16="http://schemas.microsoft.com/office/drawing/2014/main" id="{66D6DB04-ACBA-47A0-858F-94F2D2F0D0A9}"/>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DFACACC4-4DDA-47D0-ABA8-B650C8A765A6}"/>
              </a:ext>
            </a:extLst>
          </p:cNvPr>
          <p:cNvSpPr>
            <a:spLocks noGrp="1"/>
          </p:cNvSpPr>
          <p:nvPr>
            <p:ph type="sldNum" sz="quarter" idx="12"/>
          </p:nvPr>
        </p:nvSpPr>
        <p:spPr/>
        <p:txBody>
          <a:bodyPr/>
          <a:lstStyle/>
          <a:p>
            <a:fld id="{2C11977B-EEE1-4D56-A6CE-8035002D8A82}" type="slidenum">
              <a:rPr lang="en-US" smtClean="0"/>
              <a:t>8</a:t>
            </a:fld>
            <a:endParaRPr lang="en-US"/>
          </a:p>
        </p:txBody>
      </p:sp>
      <p:pic>
        <p:nvPicPr>
          <p:cNvPr id="8" name="Picture 7">
            <a:extLst>
              <a:ext uri="{FF2B5EF4-FFF2-40B4-BE49-F238E27FC236}">
                <a16:creationId xmlns:a16="http://schemas.microsoft.com/office/drawing/2014/main" id="{B389D129-06E6-4718-88D2-31D558A02C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0" name="TextBox 9">
            <a:extLst>
              <a:ext uri="{FF2B5EF4-FFF2-40B4-BE49-F238E27FC236}">
                <a16:creationId xmlns:a16="http://schemas.microsoft.com/office/drawing/2014/main" id="{28544682-1AFD-43AD-93C5-214A748C629D}"/>
              </a:ext>
            </a:extLst>
          </p:cNvPr>
          <p:cNvSpPr txBox="1"/>
          <p:nvPr/>
        </p:nvSpPr>
        <p:spPr>
          <a:xfrm>
            <a:off x="2478856" y="159515"/>
            <a:ext cx="8192285" cy="558743"/>
          </a:xfrm>
          <a:prstGeom prst="rect">
            <a:avLst/>
          </a:prstGeom>
          <a:noFill/>
        </p:spPr>
        <p:txBody>
          <a:bodyPr wrap="square">
            <a:spAutoFit/>
          </a:bodyPr>
          <a:lstStyle/>
          <a:p>
            <a:pPr marL="0" marR="0" algn="l">
              <a:lnSpc>
                <a:spcPct val="115000"/>
              </a:lnSpc>
              <a:spcAft>
                <a:spcPts val="800"/>
              </a:spcAft>
              <a:buNone/>
            </a:pPr>
            <a:r>
              <a:rPr lang="en-US" sz="2800" b="1" dirty="0">
                <a:solidFill>
                  <a:schemeClr val="accent1">
                    <a:lumMod val="50000"/>
                  </a:schemeClr>
                </a:solidFill>
                <a:latin typeface="Calibri Light" panose="020F0302020204030204" pitchFamily="34" charset="0"/>
                <a:cs typeface="Times New Roman" panose="02020603050405020304" pitchFamily="18" charset="0"/>
              </a:rPr>
              <a:t>Functional requirements for the current project</a:t>
            </a:r>
          </a:p>
        </p:txBody>
      </p:sp>
      <p:graphicFrame>
        <p:nvGraphicFramePr>
          <p:cNvPr id="11" name="Table 10">
            <a:extLst>
              <a:ext uri="{FF2B5EF4-FFF2-40B4-BE49-F238E27FC236}">
                <a16:creationId xmlns:a16="http://schemas.microsoft.com/office/drawing/2014/main" id="{E726D077-5F03-4F24-9ADB-EE15E91219F7}"/>
              </a:ext>
            </a:extLst>
          </p:cNvPr>
          <p:cNvGraphicFramePr>
            <a:graphicFrameLocks noGrp="1"/>
          </p:cNvGraphicFramePr>
          <p:nvPr>
            <p:extLst>
              <p:ext uri="{D42A27DB-BD31-4B8C-83A1-F6EECF244321}">
                <p14:modId xmlns:p14="http://schemas.microsoft.com/office/powerpoint/2010/main" val="283727369"/>
              </p:ext>
            </p:extLst>
          </p:nvPr>
        </p:nvGraphicFramePr>
        <p:xfrm>
          <a:off x="838200" y="935976"/>
          <a:ext cx="9729247" cy="5762509"/>
        </p:xfrm>
        <a:graphic>
          <a:graphicData uri="http://schemas.openxmlformats.org/drawingml/2006/table">
            <a:tbl>
              <a:tblPr firstRow="1" firstCol="1" bandRow="1">
                <a:tableStyleId>{5C22544A-7EE6-4342-B048-85BDC9FD1C3A}</a:tableStyleId>
              </a:tblPr>
              <a:tblGrid>
                <a:gridCol w="1041075">
                  <a:extLst>
                    <a:ext uri="{9D8B030D-6E8A-4147-A177-3AD203B41FA5}">
                      <a16:colId xmlns:a16="http://schemas.microsoft.com/office/drawing/2014/main" val="591602939"/>
                    </a:ext>
                  </a:extLst>
                </a:gridCol>
                <a:gridCol w="1289012">
                  <a:extLst>
                    <a:ext uri="{9D8B030D-6E8A-4147-A177-3AD203B41FA5}">
                      <a16:colId xmlns:a16="http://schemas.microsoft.com/office/drawing/2014/main" val="2033854600"/>
                    </a:ext>
                  </a:extLst>
                </a:gridCol>
                <a:gridCol w="3899648">
                  <a:extLst>
                    <a:ext uri="{9D8B030D-6E8A-4147-A177-3AD203B41FA5}">
                      <a16:colId xmlns:a16="http://schemas.microsoft.com/office/drawing/2014/main" val="1608208603"/>
                    </a:ext>
                  </a:extLst>
                </a:gridCol>
                <a:gridCol w="3499512">
                  <a:extLst>
                    <a:ext uri="{9D8B030D-6E8A-4147-A177-3AD203B41FA5}">
                      <a16:colId xmlns:a16="http://schemas.microsoft.com/office/drawing/2014/main" val="35783377"/>
                    </a:ext>
                  </a:extLst>
                </a:gridCol>
              </a:tblGrid>
              <a:tr h="264746">
                <a:tc>
                  <a:txBody>
                    <a:bodyPr/>
                    <a:lstStyle/>
                    <a:p>
                      <a:pPr marL="0" marR="0" algn="ctr">
                        <a:lnSpc>
                          <a:spcPct val="115000"/>
                        </a:lnSpc>
                        <a:spcAft>
                          <a:spcPts val="800"/>
                        </a:spcAft>
                        <a:buNone/>
                      </a:pPr>
                      <a:r>
                        <a:rPr lang="en-US" sz="1600" kern="100" dirty="0">
                          <a:effectLst/>
                        </a:rPr>
                        <a:t>Priority</a:t>
                      </a:r>
                      <a:endParaRPr lang="en-US" sz="1600" kern="100" dirty="0">
                        <a:effectLst/>
                        <a:latin typeface="Calibri" panose="020F0502020204030204" pitchFamily="34" charset="0"/>
                        <a:ea typeface="Calibri" panose="020F0502020204030204" pitchFamily="34" charset="0"/>
                        <a:cs typeface="Arial" panose="020B0604020202020204" pitchFamily="34" charset="0"/>
                      </a:endParaRPr>
                    </a:p>
                  </a:txBody>
                  <a:tcPr marL="64430" marR="64430" marT="0" marB="0">
                    <a:solidFill>
                      <a:schemeClr val="accent5">
                        <a:lumMod val="50000"/>
                      </a:schemeClr>
                    </a:solidFill>
                  </a:tcPr>
                </a:tc>
                <a:tc>
                  <a:txBody>
                    <a:bodyPr/>
                    <a:lstStyle/>
                    <a:p>
                      <a:pPr marL="0" marR="0" algn="ctr">
                        <a:lnSpc>
                          <a:spcPct val="115000"/>
                        </a:lnSpc>
                        <a:spcAft>
                          <a:spcPts val="800"/>
                        </a:spcAft>
                        <a:buNone/>
                      </a:pPr>
                      <a:r>
                        <a:rPr lang="en-US" sz="1600" kern="100" dirty="0">
                          <a:effectLst/>
                        </a:rPr>
                        <a:t>ID</a:t>
                      </a:r>
                      <a:endParaRPr lang="en-US" sz="1600" kern="100" dirty="0">
                        <a:effectLst/>
                        <a:latin typeface="Calibri" panose="020F0502020204030204" pitchFamily="34" charset="0"/>
                        <a:ea typeface="Calibri" panose="020F0502020204030204" pitchFamily="34" charset="0"/>
                        <a:cs typeface="Arial" panose="020B0604020202020204" pitchFamily="34" charset="0"/>
                      </a:endParaRPr>
                    </a:p>
                  </a:txBody>
                  <a:tcPr marL="64430" marR="64430" marT="0" marB="0">
                    <a:solidFill>
                      <a:schemeClr val="accent5">
                        <a:lumMod val="50000"/>
                      </a:schemeClr>
                    </a:solidFill>
                  </a:tcPr>
                </a:tc>
                <a:tc>
                  <a:txBody>
                    <a:bodyPr/>
                    <a:lstStyle/>
                    <a:p>
                      <a:pPr marL="0" marR="0" algn="ctr">
                        <a:lnSpc>
                          <a:spcPct val="115000"/>
                        </a:lnSpc>
                        <a:spcAft>
                          <a:spcPts val="800"/>
                        </a:spcAft>
                        <a:buNone/>
                      </a:pPr>
                      <a:r>
                        <a:rPr lang="en-US" sz="1600" kern="100" dirty="0">
                          <a:effectLst/>
                        </a:rPr>
                        <a:t>Requirement</a:t>
                      </a:r>
                      <a:endParaRPr lang="en-US" sz="1600" kern="100" dirty="0">
                        <a:effectLst/>
                        <a:latin typeface="Calibri" panose="020F0502020204030204" pitchFamily="34" charset="0"/>
                        <a:ea typeface="Calibri" panose="020F0502020204030204" pitchFamily="34" charset="0"/>
                        <a:cs typeface="Arial" panose="020B0604020202020204" pitchFamily="34" charset="0"/>
                      </a:endParaRPr>
                    </a:p>
                  </a:txBody>
                  <a:tcPr marL="64430" marR="64430" marT="0" marB="0">
                    <a:solidFill>
                      <a:schemeClr val="accent5">
                        <a:lumMod val="50000"/>
                      </a:schemeClr>
                    </a:solidFill>
                  </a:tcPr>
                </a:tc>
                <a:tc>
                  <a:txBody>
                    <a:bodyPr/>
                    <a:lstStyle/>
                    <a:p>
                      <a:pPr marL="0" marR="0" algn="ctr">
                        <a:lnSpc>
                          <a:spcPct val="115000"/>
                        </a:lnSpc>
                        <a:spcAft>
                          <a:spcPts val="800"/>
                        </a:spcAft>
                        <a:buNone/>
                      </a:pPr>
                      <a:r>
                        <a:rPr lang="en-US" sz="1600" kern="100" dirty="0">
                          <a:effectLst/>
                        </a:rPr>
                        <a:t>Description</a:t>
                      </a:r>
                      <a:endParaRPr lang="en-US" sz="1600" kern="100" dirty="0">
                        <a:effectLst/>
                        <a:latin typeface="Calibri" panose="020F0502020204030204" pitchFamily="34" charset="0"/>
                        <a:ea typeface="Calibri" panose="020F0502020204030204" pitchFamily="34" charset="0"/>
                        <a:cs typeface="Arial" panose="020B0604020202020204" pitchFamily="34" charset="0"/>
                      </a:endParaRPr>
                    </a:p>
                  </a:txBody>
                  <a:tcPr marL="64430" marR="64430" marT="0" marB="0">
                    <a:solidFill>
                      <a:schemeClr val="accent5">
                        <a:lumMod val="50000"/>
                      </a:schemeClr>
                    </a:solidFill>
                  </a:tcPr>
                </a:tc>
                <a:extLst>
                  <a:ext uri="{0D108BD9-81ED-4DB2-BD59-A6C34878D82A}">
                    <a16:rowId xmlns:a16="http://schemas.microsoft.com/office/drawing/2014/main" val="3177680516"/>
                  </a:ext>
                </a:extLst>
              </a:tr>
              <a:tr h="462924">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4</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REQ-043</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Change test request status</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Change the status of an analysis request by the specialist.</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869210391"/>
                  </a:ext>
                </a:extLst>
              </a:tr>
              <a:tr h="462924">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4</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REQ-044</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 a test request</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 an analysis request for a patient by a doctor.</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640566338"/>
                  </a:ext>
                </a:extLst>
              </a:tr>
              <a:tr h="258359">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4</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REQ-045</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Edit a test request</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Modification of a request for additive analysis of a patient.</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9802814"/>
                  </a:ext>
                </a:extLst>
              </a:tr>
              <a:tr h="455853">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4</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REQ-046</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Enter test result</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Entering the result of an analysis by the responsible specialist.</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505177867"/>
                  </a:ext>
                </a:extLst>
              </a:tr>
              <a:tr h="462924">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4</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REQ-047</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 a medical record</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Adding a new patient medical record.</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246204041"/>
                  </a:ext>
                </a:extLst>
              </a:tr>
              <a:tr h="258359">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4</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REQ-048</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Update medical record data</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Updating a pre-listed medical record.</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700577650"/>
                  </a:ext>
                </a:extLst>
              </a:tr>
              <a:tr h="455853">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5</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REQ-049</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 a diagnosis</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 a new diagnosis to the patient's condition by the doctor.</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3597032157"/>
                  </a:ext>
                </a:extLst>
              </a:tr>
              <a:tr h="258359">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5</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REQ-050</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Update a diagnosis</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 pre-added diagnostic update by the doctor.</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3067740824"/>
                  </a:ext>
                </a:extLst>
              </a:tr>
              <a:tr h="462924">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5</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REQ-051</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 an article</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Adding a new health article.</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72758115"/>
                  </a:ext>
                </a:extLst>
              </a:tr>
              <a:tr h="258359">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5</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REQ-052</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Edit an article</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Edit a previously added article.</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09928272"/>
                  </a:ext>
                </a:extLst>
              </a:tr>
              <a:tr h="462924">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5</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REQ-053</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Delete an article</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Delete a previously added article.</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3351311962"/>
                  </a:ext>
                </a:extLst>
              </a:tr>
              <a:tr h="462924">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5</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REQ-054</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Change article status</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Changing the status of an article (available, hidden).</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649494993"/>
                  </a:ext>
                </a:extLst>
              </a:tr>
              <a:tr h="258359">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4</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REQ-043</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Change test request status</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Change the status of an analysis request by the specialist.</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3416417915"/>
                  </a:ext>
                </a:extLst>
              </a:tr>
              <a:tr h="258359">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4</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REQ-044</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 a test request</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 an analysis request for a patient by a doctor.</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257964789"/>
                  </a:ext>
                </a:extLst>
              </a:tr>
              <a:tr h="258359">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4</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REQ-045</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Edit a test request</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Modification of a request for additive analysis of a patient.</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30936681"/>
                  </a:ext>
                </a:extLst>
              </a:tr>
            </a:tbl>
          </a:graphicData>
        </a:graphic>
      </p:graphicFrame>
    </p:spTree>
    <p:extLst>
      <p:ext uri="{BB962C8B-B14F-4D97-AF65-F5344CB8AC3E}">
        <p14:creationId xmlns:p14="http://schemas.microsoft.com/office/powerpoint/2010/main" val="22092718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A2C5F94-7BF3-4A41-AAF9-07CA145FD67B}"/>
              </a:ext>
            </a:extLst>
          </p:cNvPr>
          <p:cNvSpPr>
            <a:spLocks noGrp="1"/>
          </p:cNvSpPr>
          <p:nvPr>
            <p:ph type="dt" sz="half" idx="10"/>
          </p:nvPr>
        </p:nvSpPr>
        <p:spPr/>
        <p:txBody>
          <a:bodyPr/>
          <a:lstStyle/>
          <a:p>
            <a:fld id="{4E54A005-A4AE-48B5-9B72-AC59F9D0C9F3}" type="datetime1">
              <a:rPr lang="en-US" smtClean="0"/>
              <a:t>10/28/2026</a:t>
            </a:fld>
            <a:endParaRPr lang="en-US"/>
          </a:p>
        </p:txBody>
      </p:sp>
      <p:sp>
        <p:nvSpPr>
          <p:cNvPr id="3" name="Footer Placeholder 2">
            <a:extLst>
              <a:ext uri="{FF2B5EF4-FFF2-40B4-BE49-F238E27FC236}">
                <a16:creationId xmlns:a16="http://schemas.microsoft.com/office/drawing/2014/main" id="{B42B794D-225C-43D5-B3EA-D9ADBD1E35F0}"/>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FB67B760-0633-4C71-B291-10C0B7FBEE99}"/>
              </a:ext>
            </a:extLst>
          </p:cNvPr>
          <p:cNvSpPr>
            <a:spLocks noGrp="1"/>
          </p:cNvSpPr>
          <p:nvPr>
            <p:ph type="sldNum" sz="quarter" idx="12"/>
          </p:nvPr>
        </p:nvSpPr>
        <p:spPr/>
        <p:txBody>
          <a:bodyPr/>
          <a:lstStyle/>
          <a:p>
            <a:fld id="{2C11977B-EEE1-4D56-A6CE-8035002D8A82}" type="slidenum">
              <a:rPr lang="en-US" smtClean="0"/>
              <a:t>9</a:t>
            </a:fld>
            <a:endParaRPr lang="en-US"/>
          </a:p>
        </p:txBody>
      </p:sp>
      <p:pic>
        <p:nvPicPr>
          <p:cNvPr id="6" name="Picture 5">
            <a:extLst>
              <a:ext uri="{FF2B5EF4-FFF2-40B4-BE49-F238E27FC236}">
                <a16:creationId xmlns:a16="http://schemas.microsoft.com/office/drawing/2014/main" id="{D457EBB2-23C4-448F-BBCB-72E0E9549A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extBox 7">
            <a:extLst>
              <a:ext uri="{FF2B5EF4-FFF2-40B4-BE49-F238E27FC236}">
                <a16:creationId xmlns:a16="http://schemas.microsoft.com/office/drawing/2014/main" id="{1BB44C88-79D7-48F3-A10B-F7E5DD83CFD0}"/>
              </a:ext>
            </a:extLst>
          </p:cNvPr>
          <p:cNvSpPr txBox="1"/>
          <p:nvPr/>
        </p:nvSpPr>
        <p:spPr>
          <a:xfrm>
            <a:off x="3887772" y="505200"/>
            <a:ext cx="6094428" cy="558743"/>
          </a:xfrm>
          <a:prstGeom prst="rect">
            <a:avLst/>
          </a:prstGeom>
          <a:noFill/>
        </p:spPr>
        <p:txBody>
          <a:bodyPr wrap="square">
            <a:spAutoFit/>
          </a:bodyPr>
          <a:lstStyle/>
          <a:p>
            <a:pPr marL="0" marR="0" algn="l">
              <a:lnSpc>
                <a:spcPct val="115000"/>
              </a:lnSpc>
              <a:spcAft>
                <a:spcPts val="800"/>
              </a:spcAft>
              <a:buNone/>
            </a:pPr>
            <a:r>
              <a:rPr lang="en-US" sz="2800" b="1" dirty="0">
                <a:solidFill>
                  <a:schemeClr val="accent1">
                    <a:lumMod val="50000"/>
                  </a:schemeClr>
                </a:solidFill>
                <a:latin typeface="Calibri Light" panose="020F0302020204030204" pitchFamily="34" charset="0"/>
                <a:cs typeface="Times New Roman" panose="02020603050405020304" pitchFamily="18" charset="0"/>
              </a:rPr>
              <a:t>Development Methodology</a:t>
            </a:r>
          </a:p>
        </p:txBody>
      </p:sp>
      <p:sp>
        <p:nvSpPr>
          <p:cNvPr id="10" name="TextBox 9">
            <a:extLst>
              <a:ext uri="{FF2B5EF4-FFF2-40B4-BE49-F238E27FC236}">
                <a16:creationId xmlns:a16="http://schemas.microsoft.com/office/drawing/2014/main" id="{811F5458-E584-49FB-B0DD-EA1E92927BE6}"/>
              </a:ext>
            </a:extLst>
          </p:cNvPr>
          <p:cNvSpPr txBox="1"/>
          <p:nvPr/>
        </p:nvSpPr>
        <p:spPr>
          <a:xfrm>
            <a:off x="14139" y="1994643"/>
            <a:ext cx="12019175" cy="4361707"/>
          </a:xfrm>
          <a:prstGeom prst="rect">
            <a:avLst/>
          </a:prstGeom>
          <a:noFill/>
        </p:spPr>
        <p:txBody>
          <a:bodyPr wrap="square">
            <a:spAutoFit/>
          </a:bodyPr>
          <a:lstStyle/>
          <a:p>
            <a:pPr marL="342900" lvl="0" indent="-342900" algn="just" rtl="0">
              <a:lnSpc>
                <a:spcPct val="150000"/>
              </a:lnSpc>
              <a:spcAft>
                <a:spcPts val="800"/>
              </a:spcAft>
              <a:tabLst>
                <a:tab pos="457200" algn="l"/>
              </a:tabLst>
            </a:pPr>
            <a:r>
              <a:rPr lang="en-US" sz="1600" b="1" kern="100" dirty="0">
                <a:effectLst/>
                <a:latin typeface="Times New Roman" panose="02020603050405020304" pitchFamily="18" charset="0"/>
                <a:ea typeface="Arial" panose="020B0604020202020204" pitchFamily="34" charset="0"/>
              </a:rPr>
              <a:t>Phase I: Reference Study &amp; Requirements Elicitation</a:t>
            </a:r>
            <a:r>
              <a:rPr lang="en-US" sz="1600" kern="100" dirty="0">
                <a:effectLst/>
                <a:latin typeface="Times New Roman" panose="02020603050405020304" pitchFamily="18" charset="0"/>
                <a:ea typeface="Arial" panose="020B0604020202020204" pitchFamily="34" charset="0"/>
              </a:rPr>
              <a:t> (Weeks 1-2): Literature review, stakeholder analysis, and formal documentation of REQ-001 to REQ-054.</a:t>
            </a:r>
            <a:endParaRPr lang="en-US" sz="1600" kern="100" dirty="0">
              <a:effectLst/>
              <a:latin typeface="Calibri" panose="020F0502020204030204" pitchFamily="34" charset="0"/>
              <a:ea typeface="Calibri" panose="020F0502020204030204" pitchFamily="34" charset="0"/>
            </a:endParaRPr>
          </a:p>
          <a:p>
            <a:pPr marL="342900" lvl="0" indent="-342900" algn="just">
              <a:lnSpc>
                <a:spcPct val="150000"/>
              </a:lnSpc>
              <a:spcAft>
                <a:spcPts val="800"/>
              </a:spcAft>
              <a:tabLst>
                <a:tab pos="457200" algn="l"/>
              </a:tabLst>
            </a:pPr>
            <a:r>
              <a:rPr lang="en-US" sz="1600" b="1" kern="100" dirty="0">
                <a:effectLst/>
                <a:latin typeface="Times New Roman" panose="02020603050405020304" pitchFamily="18" charset="0"/>
                <a:ea typeface="Arial" panose="020B0604020202020204" pitchFamily="34" charset="0"/>
              </a:rPr>
              <a:t>Phase II: Iteration 1 - Core Clinical Modules</a:t>
            </a:r>
            <a:r>
              <a:rPr lang="en-US" sz="1600" kern="100" dirty="0">
                <a:effectLst/>
                <a:latin typeface="Times New Roman" panose="02020603050405020304" pitchFamily="18" charset="0"/>
                <a:ea typeface="Arial" panose="020B0604020202020204" pitchFamily="34" charset="0"/>
              </a:rPr>
              <a:t> (Weeks 3-4): Implementation of patient record viewing and initial clinical workflows.</a:t>
            </a:r>
            <a:endParaRPr lang="en-US" sz="1600" kern="100" dirty="0">
              <a:effectLst/>
              <a:latin typeface="Calibri" panose="020F0502020204030204" pitchFamily="34" charset="0"/>
              <a:ea typeface="Calibri" panose="020F0502020204030204" pitchFamily="34" charset="0"/>
            </a:endParaRPr>
          </a:p>
          <a:p>
            <a:pPr marL="342900" lvl="0" indent="-342900" algn="just">
              <a:lnSpc>
                <a:spcPct val="150000"/>
              </a:lnSpc>
              <a:spcAft>
                <a:spcPts val="800"/>
              </a:spcAft>
              <a:tabLst>
                <a:tab pos="457200" algn="l"/>
              </a:tabLst>
            </a:pPr>
            <a:r>
              <a:rPr lang="en-US" sz="1600" b="1" kern="100" dirty="0">
                <a:effectLst/>
                <a:latin typeface="Times New Roman" panose="02020603050405020304" pitchFamily="18" charset="0"/>
                <a:ea typeface="Arial" panose="020B0604020202020204" pitchFamily="34" charset="0"/>
              </a:rPr>
              <a:t>Phase III: Iteration 2 - Scheduling &amp; Tracking</a:t>
            </a:r>
            <a:r>
              <a:rPr lang="en-US" sz="1600" kern="100" dirty="0">
                <a:effectLst/>
                <a:latin typeface="Times New Roman" panose="02020603050405020304" pitchFamily="18" charset="0"/>
                <a:ea typeface="Arial" panose="020B0604020202020204" pitchFamily="34" charset="0"/>
              </a:rPr>
              <a:t> (Weeks 5-6): Appointment booking, modification, and real-time status tracking.</a:t>
            </a:r>
            <a:endParaRPr lang="en-US" sz="1600" kern="100" dirty="0">
              <a:effectLst/>
              <a:latin typeface="Calibri" panose="020F0502020204030204" pitchFamily="34" charset="0"/>
              <a:ea typeface="Calibri" panose="020F0502020204030204" pitchFamily="34" charset="0"/>
            </a:endParaRPr>
          </a:p>
          <a:p>
            <a:pPr marL="342900" lvl="0" indent="-342900" algn="just">
              <a:lnSpc>
                <a:spcPct val="150000"/>
              </a:lnSpc>
              <a:spcAft>
                <a:spcPts val="800"/>
              </a:spcAft>
              <a:tabLst>
                <a:tab pos="457200" algn="l"/>
              </a:tabLst>
            </a:pPr>
            <a:r>
              <a:rPr lang="en-US" sz="1600" b="1" kern="100" dirty="0">
                <a:effectLst/>
                <a:latin typeface="Times New Roman" panose="02020603050405020304" pitchFamily="18" charset="0"/>
                <a:ea typeface="Arial" panose="020B0604020202020204" pitchFamily="34" charset="0"/>
              </a:rPr>
              <a:t>Phase IV: Iteration 3 - Content &amp; Feedback</a:t>
            </a:r>
            <a:r>
              <a:rPr lang="en-US" sz="1600" kern="100" dirty="0">
                <a:effectLst/>
                <a:latin typeface="Times New Roman" panose="02020603050405020304" pitchFamily="18" charset="0"/>
                <a:ea typeface="Arial" panose="020B0604020202020204" pitchFamily="34" charset="0"/>
              </a:rPr>
              <a:t> (Weeks 7-8): Health articles, survey deployment, and service rating mechanisms.</a:t>
            </a:r>
            <a:endParaRPr lang="en-US" sz="1600" kern="100" dirty="0">
              <a:effectLst/>
              <a:latin typeface="Calibri" panose="020F0502020204030204" pitchFamily="34" charset="0"/>
              <a:ea typeface="Calibri" panose="020F0502020204030204" pitchFamily="34" charset="0"/>
            </a:endParaRPr>
          </a:p>
          <a:p>
            <a:pPr marL="342900" lvl="0" indent="-342900" algn="just">
              <a:lnSpc>
                <a:spcPct val="150000"/>
              </a:lnSpc>
              <a:spcAft>
                <a:spcPts val="800"/>
              </a:spcAft>
              <a:tabLst>
                <a:tab pos="457200" algn="l"/>
              </a:tabLst>
            </a:pPr>
            <a:r>
              <a:rPr lang="en-US" sz="1600" b="1" kern="100" dirty="0">
                <a:effectLst/>
                <a:latin typeface="Times New Roman" panose="02020603050405020304" pitchFamily="18" charset="0"/>
                <a:ea typeface="Arial" panose="020B0604020202020204" pitchFamily="34" charset="0"/>
              </a:rPr>
              <a:t>Phase V: Iteration 4 - Administrative &amp; Financial</a:t>
            </a:r>
            <a:r>
              <a:rPr lang="en-US" sz="1600" kern="100" dirty="0">
                <a:effectLst/>
                <a:latin typeface="Times New Roman" panose="02020603050405020304" pitchFamily="18" charset="0"/>
                <a:ea typeface="Arial" panose="020B0604020202020204" pitchFamily="34" charset="0"/>
              </a:rPr>
              <a:t> (Weeks 9-10): Department lifecycle management, invoice generation, and reporting.</a:t>
            </a:r>
            <a:endParaRPr lang="en-US" sz="1600" kern="100" dirty="0">
              <a:effectLst/>
              <a:latin typeface="Calibri" panose="020F0502020204030204" pitchFamily="34" charset="0"/>
              <a:ea typeface="Calibri" panose="020F0502020204030204" pitchFamily="34" charset="0"/>
            </a:endParaRPr>
          </a:p>
          <a:p>
            <a:pPr marL="342900" lvl="0" indent="-342900" algn="just">
              <a:lnSpc>
                <a:spcPct val="150000"/>
              </a:lnSpc>
              <a:spcAft>
                <a:spcPts val="800"/>
              </a:spcAft>
              <a:tabLst>
                <a:tab pos="457200" algn="l"/>
              </a:tabLst>
            </a:pPr>
            <a:r>
              <a:rPr lang="en-US" sz="1600" b="1" kern="100" dirty="0">
                <a:effectLst/>
                <a:latin typeface="Times New Roman" panose="02020603050405020304" pitchFamily="18" charset="0"/>
                <a:ea typeface="Arial" panose="020B0604020202020204" pitchFamily="34" charset="0"/>
              </a:rPr>
              <a:t>Phase VI: Iteration 5 - Advanced Clinical &amp; Integration</a:t>
            </a:r>
            <a:r>
              <a:rPr lang="en-US" sz="1600" kern="100" dirty="0">
                <a:effectLst/>
                <a:latin typeface="Times New Roman" panose="02020603050405020304" pitchFamily="18" charset="0"/>
                <a:ea typeface="Arial" panose="020B0604020202020204" pitchFamily="34" charset="0"/>
              </a:rPr>
              <a:t> (Weeks 11-12): Final integration of laboratory test requests (REQ-042 to REQ-046), advanced medical records, and cross-module synchronization.</a:t>
            </a:r>
            <a:endParaRPr lang="en-US" sz="1600" kern="100" dirty="0">
              <a:effectLst/>
              <a:latin typeface="Calibri" panose="020F0502020204030204" pitchFamily="34" charset="0"/>
              <a:ea typeface="Calibri" panose="020F0502020204030204" pitchFamily="34" charset="0"/>
            </a:endParaRPr>
          </a:p>
          <a:p>
            <a:pPr marL="342900" lvl="0" indent="-342900" algn="just">
              <a:lnSpc>
                <a:spcPct val="150000"/>
              </a:lnSpc>
              <a:spcAft>
                <a:spcPts val="800"/>
              </a:spcAft>
              <a:tabLst>
                <a:tab pos="457200" algn="l"/>
              </a:tabLst>
            </a:pPr>
            <a:r>
              <a:rPr lang="en-US" sz="1600" b="1" kern="100" dirty="0">
                <a:effectLst/>
                <a:latin typeface="Times New Roman" panose="02020603050405020304" pitchFamily="18" charset="0"/>
                <a:ea typeface="Arial" panose="020B0604020202020204" pitchFamily="34" charset="0"/>
              </a:rPr>
              <a:t>Phase VII: Documentation &amp; Validation</a:t>
            </a:r>
            <a:r>
              <a:rPr lang="en-US" sz="1600" kern="100" dirty="0">
                <a:effectLst/>
                <a:latin typeface="Times New Roman" panose="02020603050405020304" pitchFamily="18" charset="0"/>
                <a:ea typeface="Arial" panose="020B0604020202020204" pitchFamily="34" charset="0"/>
              </a:rPr>
              <a:t> (Weeks 13-16): Comprehensive technical writing, UML/ERD finalization, test case execution, and academic report compilation.</a:t>
            </a:r>
            <a:endParaRPr lang="en-US" sz="1600" kern="100" dirty="0">
              <a:effectLst/>
              <a:latin typeface="Calibri" panose="020F0502020204030204" pitchFamily="34" charset="0"/>
              <a:ea typeface="Calibri" panose="020F0502020204030204" pitchFamily="34" charset="0"/>
            </a:endParaRPr>
          </a:p>
        </p:txBody>
      </p:sp>
    </p:spTree>
    <p:extLst>
      <p:ext uri="{BB962C8B-B14F-4D97-AF65-F5344CB8AC3E}">
        <p14:creationId xmlns:p14="http://schemas.microsoft.com/office/powerpoint/2010/main" val="40744607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3ADAE4A-50A2-4738-BE9F-023133F733D7}"/>
              </a:ext>
            </a:extLst>
          </p:cNvPr>
          <p:cNvSpPr>
            <a:spLocks noGrp="1"/>
          </p:cNvSpPr>
          <p:nvPr>
            <p:ph type="dt" sz="half" idx="10"/>
          </p:nvPr>
        </p:nvSpPr>
        <p:spPr/>
        <p:txBody>
          <a:bodyPr/>
          <a:lstStyle/>
          <a:p>
            <a:fld id="{4E54A005-A4AE-48B5-9B72-AC59F9D0C9F3}" type="datetime1">
              <a:rPr lang="en-US" smtClean="0"/>
              <a:t>10/28/2026</a:t>
            </a:fld>
            <a:endParaRPr lang="en-US"/>
          </a:p>
        </p:txBody>
      </p:sp>
      <p:sp>
        <p:nvSpPr>
          <p:cNvPr id="3" name="Footer Placeholder 2">
            <a:extLst>
              <a:ext uri="{FF2B5EF4-FFF2-40B4-BE49-F238E27FC236}">
                <a16:creationId xmlns:a16="http://schemas.microsoft.com/office/drawing/2014/main" id="{8AB1C546-CE7E-4967-B0A6-759CFFC7C780}"/>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43E1226F-1C77-44EC-8441-5ECAEFE0456D}"/>
              </a:ext>
            </a:extLst>
          </p:cNvPr>
          <p:cNvSpPr>
            <a:spLocks noGrp="1"/>
          </p:cNvSpPr>
          <p:nvPr>
            <p:ph type="sldNum" sz="quarter" idx="12"/>
          </p:nvPr>
        </p:nvSpPr>
        <p:spPr/>
        <p:txBody>
          <a:bodyPr/>
          <a:lstStyle/>
          <a:p>
            <a:fld id="{2C11977B-EEE1-4D56-A6CE-8035002D8A82}" type="slidenum">
              <a:rPr lang="en-US" smtClean="0"/>
              <a:t>10</a:t>
            </a:fld>
            <a:endParaRPr lang="en-US"/>
          </a:p>
        </p:txBody>
      </p:sp>
      <p:pic>
        <p:nvPicPr>
          <p:cNvPr id="6" name="Picture 5">
            <a:extLst>
              <a:ext uri="{FF2B5EF4-FFF2-40B4-BE49-F238E27FC236}">
                <a16:creationId xmlns:a16="http://schemas.microsoft.com/office/drawing/2014/main" id="{DC80AEA0-7052-4883-9D8A-2DF6D983DE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extBox 7">
            <a:extLst>
              <a:ext uri="{FF2B5EF4-FFF2-40B4-BE49-F238E27FC236}">
                <a16:creationId xmlns:a16="http://schemas.microsoft.com/office/drawing/2014/main" id="{6E6B644A-5BF2-4F65-85E6-CFF08282199A}"/>
              </a:ext>
            </a:extLst>
          </p:cNvPr>
          <p:cNvSpPr txBox="1"/>
          <p:nvPr/>
        </p:nvSpPr>
        <p:spPr>
          <a:xfrm>
            <a:off x="3887772" y="209272"/>
            <a:ext cx="6094428" cy="558743"/>
          </a:xfrm>
          <a:prstGeom prst="rect">
            <a:avLst/>
          </a:prstGeom>
          <a:noFill/>
        </p:spPr>
        <p:txBody>
          <a:bodyPr wrap="square">
            <a:spAutoFit/>
          </a:bodyPr>
          <a:lstStyle/>
          <a:p>
            <a:pPr algn="l">
              <a:lnSpc>
                <a:spcPct val="115000"/>
              </a:lnSpc>
              <a:spcAft>
                <a:spcPts val="800"/>
              </a:spcAft>
            </a:pPr>
            <a:r>
              <a:rPr lang="en-US" sz="2800" b="1" dirty="0">
                <a:solidFill>
                  <a:schemeClr val="accent1">
                    <a:lumMod val="50000"/>
                  </a:schemeClr>
                </a:solidFill>
                <a:latin typeface="Calibri Light" panose="020F0302020204030204" pitchFamily="34" charset="0"/>
                <a:cs typeface="Times New Roman" panose="02020603050405020304" pitchFamily="18" charset="0"/>
              </a:rPr>
              <a:t>Project Plan (Gantt Chart)</a:t>
            </a:r>
          </a:p>
        </p:txBody>
      </p:sp>
      <p:pic>
        <p:nvPicPr>
          <p:cNvPr id="9" name="Picture 8">
            <a:extLst>
              <a:ext uri="{FF2B5EF4-FFF2-40B4-BE49-F238E27FC236}">
                <a16:creationId xmlns:a16="http://schemas.microsoft.com/office/drawing/2014/main" id="{9C5F3D08-18B8-4BB0-9C2A-6ABE6FC3BF24}"/>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200" y="1200035"/>
            <a:ext cx="9511646" cy="5448693"/>
          </a:xfrm>
          <a:prstGeom prst="rect">
            <a:avLst/>
          </a:prstGeom>
          <a:solidFill>
            <a:schemeClr val="bg1">
              <a:lumMod val="95000"/>
            </a:schemeClr>
          </a:solidFill>
          <a:ln>
            <a:solidFill>
              <a:schemeClr val="accent2">
                <a:lumMod val="40000"/>
                <a:lumOff val="60000"/>
              </a:schemeClr>
            </a:solidFill>
          </a:ln>
        </p:spPr>
        <p:style>
          <a:lnRef idx="2">
            <a:schemeClr val="accent2"/>
          </a:lnRef>
          <a:fillRef idx="1">
            <a:schemeClr val="lt1"/>
          </a:fillRef>
          <a:effectRef idx="0">
            <a:schemeClr val="accent2"/>
          </a:effectRef>
          <a:fontRef idx="minor">
            <a:schemeClr val="dk1"/>
          </a:fontRef>
        </p:style>
      </p:pic>
    </p:spTree>
    <p:extLst>
      <p:ext uri="{BB962C8B-B14F-4D97-AF65-F5344CB8AC3E}">
        <p14:creationId xmlns:p14="http://schemas.microsoft.com/office/powerpoint/2010/main" val="24318577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1075</Words>
  <Application>Microsoft Office PowerPoint</Application>
  <PresentationFormat>Widescreen</PresentationFormat>
  <Paragraphs>195</Paragraphs>
  <Slides>10</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vt:i4>
      </vt:variant>
    </vt:vector>
  </HeadingPairs>
  <TitlesOfParts>
    <vt:vector size="17" baseType="lpstr">
      <vt:lpstr>Arial</vt:lpstr>
      <vt:lpstr>Calibri</vt:lpstr>
      <vt:lpstr>Calibri Light</vt:lpstr>
      <vt:lpstr>Plus Jakarta Sans</vt:lpstr>
      <vt:lpstr>Symbol</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2026-10-27T08:59:23Z</dcterms:created>
  <dcterms:modified xsi:type="dcterms:W3CDTF">2026-10-28T10:49:07Z</dcterms:modified>
</cp:coreProperties>
</file>