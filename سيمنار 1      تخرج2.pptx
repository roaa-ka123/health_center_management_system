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0"/>
  </p:notesMasterIdLst>
  <p:sldIdLst>
    <p:sldId id="267" r:id="rId2"/>
    <p:sldId id="294" r:id="rId3"/>
    <p:sldId id="296" r:id="rId4"/>
    <p:sldId id="288" r:id="rId5"/>
    <p:sldId id="271" r:id="rId6"/>
    <p:sldId id="289" r:id="rId7"/>
    <p:sldId id="290" r:id="rId8"/>
    <p:sldId id="285" r:id="rId9"/>
    <p:sldId id="292" r:id="rId10"/>
    <p:sldId id="293" r:id="rId11"/>
    <p:sldId id="298" r:id="rId12"/>
    <p:sldId id="297" r:id="rId13"/>
    <p:sldId id="299" r:id="rId14"/>
    <p:sldId id="300" r:id="rId15"/>
    <p:sldId id="301" r:id="rId16"/>
    <p:sldId id="302" r:id="rId17"/>
    <p:sldId id="303" r:id="rId18"/>
    <p:sldId id="30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DC73C"/>
    <a:srgbClr val="1ED6CD"/>
    <a:srgbClr val="2FC588"/>
    <a:srgbClr val="3CB5B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38" autoAdjust="0"/>
    <p:restoredTop sz="94660"/>
  </p:normalViewPr>
  <p:slideViewPr>
    <p:cSldViewPr snapToGrid="0">
      <p:cViewPr varScale="1">
        <p:scale>
          <a:sx n="80" d="100"/>
          <a:sy n="80" d="100"/>
        </p:scale>
        <p:origin x="95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2D380A-B25C-4554-9D12-6A864851EAA3}" type="datetimeFigureOut">
              <a:rPr lang="en-US" smtClean="0"/>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8C53628-D422-490A-B670-D481D4DAFA63}" type="slidenum">
              <a:rPr lang="en-US" smtClean="0"/>
              <a:t>‹#›</a:t>
            </a:fld>
            <a:endParaRPr lang="en-US"/>
          </a:p>
        </p:txBody>
      </p:sp>
    </p:spTree>
    <p:extLst>
      <p:ext uri="{BB962C8B-B14F-4D97-AF65-F5344CB8AC3E}">
        <p14:creationId xmlns:p14="http://schemas.microsoft.com/office/powerpoint/2010/main" val="3409141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74F2E77-788A-9C1E-A253-E519B641DDB1}"/>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5" name="Footer Placeholder 4">
            <a:extLst>
              <a:ext uri="{FF2B5EF4-FFF2-40B4-BE49-F238E27FC236}">
                <a16:creationId xmlns:a16="http://schemas.microsoft.com/office/drawing/2014/main" id="{884498E3-ED2D-6826-7063-38EB88912EBA}"/>
              </a:ext>
            </a:extLst>
          </p:cNvPr>
          <p:cNvSpPr>
            <a:spLocks noGrp="1"/>
          </p:cNvSpPr>
          <p:nvPr>
            <p:ph type="ftr" sz="quarter" idx="11"/>
          </p:nvPr>
        </p:nvSpPr>
        <p:spPr/>
        <p:txBody>
          <a:bodyPr/>
          <a:lstStyle/>
          <a:p>
            <a:r>
              <a:rPr lang="ar-LB"/>
              <a:t>مشروع فصلي....</a:t>
            </a:r>
            <a:endParaRPr lang="en-US"/>
          </a:p>
        </p:txBody>
      </p:sp>
      <p:sp>
        <p:nvSpPr>
          <p:cNvPr id="6" name="Slide Number Placeholder 5">
            <a:extLst>
              <a:ext uri="{FF2B5EF4-FFF2-40B4-BE49-F238E27FC236}">
                <a16:creationId xmlns:a16="http://schemas.microsoft.com/office/drawing/2014/main" id="{058161BF-6988-026C-DC94-2566B9B74374}"/>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37354282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3947E8-ECBE-386A-59D3-99FCD9C8600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3B1C658-EDE0-BA68-5E59-5A8AE19B74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8F6B6D6-EA20-5153-F9E6-69BE378DA17E}"/>
              </a:ext>
            </a:extLst>
          </p:cNvPr>
          <p:cNvSpPr>
            <a:spLocks noGrp="1"/>
          </p:cNvSpPr>
          <p:nvPr>
            <p:ph type="dt" sz="half" idx="10"/>
          </p:nvPr>
        </p:nvSpPr>
        <p:spPr/>
        <p:txBody>
          <a:bodyPr/>
          <a:lstStyle/>
          <a:p>
            <a:fld id="{CF5F1D80-E922-4C56-BACD-EEFC21DCFF81}" type="datetime1">
              <a:rPr lang="en-US" smtClean="0"/>
              <a:t>10/30/2026</a:t>
            </a:fld>
            <a:endParaRPr lang="en-US"/>
          </a:p>
        </p:txBody>
      </p:sp>
      <p:sp>
        <p:nvSpPr>
          <p:cNvPr id="5" name="Footer Placeholder 4">
            <a:extLst>
              <a:ext uri="{FF2B5EF4-FFF2-40B4-BE49-F238E27FC236}">
                <a16:creationId xmlns:a16="http://schemas.microsoft.com/office/drawing/2014/main" id="{025D8551-6A6D-0059-4C2D-C744DB801887}"/>
              </a:ext>
            </a:extLst>
          </p:cNvPr>
          <p:cNvSpPr>
            <a:spLocks noGrp="1"/>
          </p:cNvSpPr>
          <p:nvPr>
            <p:ph type="ftr" sz="quarter" idx="11"/>
          </p:nvPr>
        </p:nvSpPr>
        <p:spPr/>
        <p:txBody>
          <a:bodyPr/>
          <a:lstStyle/>
          <a:p>
            <a:r>
              <a:rPr lang="ar-LB"/>
              <a:t>مشروع فصلي....</a:t>
            </a:r>
            <a:endParaRPr lang="en-US"/>
          </a:p>
        </p:txBody>
      </p:sp>
      <p:sp>
        <p:nvSpPr>
          <p:cNvPr id="6" name="Slide Number Placeholder 5">
            <a:extLst>
              <a:ext uri="{FF2B5EF4-FFF2-40B4-BE49-F238E27FC236}">
                <a16:creationId xmlns:a16="http://schemas.microsoft.com/office/drawing/2014/main" id="{6AFFA687-E925-6CDC-8C7E-7C88CD08FADC}"/>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3617193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B5B58-257B-3360-2D4E-3A189798CD5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3FB5218-484E-2B62-9425-B97EE0F44D4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4002CB-4614-0299-EDD5-8B440101ABD2}"/>
              </a:ext>
            </a:extLst>
          </p:cNvPr>
          <p:cNvSpPr>
            <a:spLocks noGrp="1"/>
          </p:cNvSpPr>
          <p:nvPr>
            <p:ph type="dt" sz="half" idx="10"/>
          </p:nvPr>
        </p:nvSpPr>
        <p:spPr/>
        <p:txBody>
          <a:bodyPr/>
          <a:lstStyle/>
          <a:p>
            <a:fld id="{49343454-2FB9-4C8F-B182-7B2E5743343C}" type="datetime1">
              <a:rPr lang="en-US" smtClean="0"/>
              <a:t>10/30/2026</a:t>
            </a:fld>
            <a:endParaRPr lang="en-US"/>
          </a:p>
        </p:txBody>
      </p:sp>
      <p:sp>
        <p:nvSpPr>
          <p:cNvPr id="5" name="Footer Placeholder 4">
            <a:extLst>
              <a:ext uri="{FF2B5EF4-FFF2-40B4-BE49-F238E27FC236}">
                <a16:creationId xmlns:a16="http://schemas.microsoft.com/office/drawing/2014/main" id="{BE8D11BC-DD39-8C40-2266-8449E8E24A52}"/>
              </a:ext>
            </a:extLst>
          </p:cNvPr>
          <p:cNvSpPr>
            <a:spLocks noGrp="1"/>
          </p:cNvSpPr>
          <p:nvPr>
            <p:ph type="ftr" sz="quarter" idx="11"/>
          </p:nvPr>
        </p:nvSpPr>
        <p:spPr/>
        <p:txBody>
          <a:bodyPr/>
          <a:lstStyle/>
          <a:p>
            <a:r>
              <a:rPr lang="ar-LB"/>
              <a:t>مشروع فصلي....</a:t>
            </a:r>
            <a:endParaRPr lang="en-US"/>
          </a:p>
        </p:txBody>
      </p:sp>
      <p:sp>
        <p:nvSpPr>
          <p:cNvPr id="6" name="Slide Number Placeholder 5">
            <a:extLst>
              <a:ext uri="{FF2B5EF4-FFF2-40B4-BE49-F238E27FC236}">
                <a16:creationId xmlns:a16="http://schemas.microsoft.com/office/drawing/2014/main" id="{07E50166-28D8-2DDD-636F-FD317779A847}"/>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25775612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172B2-850D-2F4C-6716-85D5B2D7D4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7800FC-42E7-C5BA-C8AC-E0FEED1D1B6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0CF8609-C937-CBCC-AEB9-BF37DF6818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1A492CB-5016-8804-EC3D-0E23BC9DE510}"/>
              </a:ext>
            </a:extLst>
          </p:cNvPr>
          <p:cNvSpPr>
            <a:spLocks noGrp="1"/>
          </p:cNvSpPr>
          <p:nvPr>
            <p:ph type="dt" sz="half" idx="10"/>
          </p:nvPr>
        </p:nvSpPr>
        <p:spPr/>
        <p:txBody>
          <a:bodyPr/>
          <a:lstStyle/>
          <a:p>
            <a:fld id="{5D83650C-01B7-4756-A73F-6F4EA1E5431E}" type="datetime1">
              <a:rPr lang="en-US" smtClean="0"/>
              <a:t>10/30/2026</a:t>
            </a:fld>
            <a:endParaRPr lang="en-US"/>
          </a:p>
        </p:txBody>
      </p:sp>
      <p:sp>
        <p:nvSpPr>
          <p:cNvPr id="6" name="Footer Placeholder 5">
            <a:extLst>
              <a:ext uri="{FF2B5EF4-FFF2-40B4-BE49-F238E27FC236}">
                <a16:creationId xmlns:a16="http://schemas.microsoft.com/office/drawing/2014/main" id="{336F2CA0-62A7-3F15-B164-0AEED105DF29}"/>
              </a:ext>
            </a:extLst>
          </p:cNvPr>
          <p:cNvSpPr>
            <a:spLocks noGrp="1"/>
          </p:cNvSpPr>
          <p:nvPr>
            <p:ph type="ftr" sz="quarter" idx="11"/>
          </p:nvPr>
        </p:nvSpPr>
        <p:spPr/>
        <p:txBody>
          <a:bodyPr/>
          <a:lstStyle/>
          <a:p>
            <a:r>
              <a:rPr lang="ar-LB"/>
              <a:t>مشروع فصلي....</a:t>
            </a:r>
            <a:endParaRPr lang="en-US"/>
          </a:p>
        </p:txBody>
      </p:sp>
      <p:sp>
        <p:nvSpPr>
          <p:cNvPr id="7" name="Slide Number Placeholder 6">
            <a:extLst>
              <a:ext uri="{FF2B5EF4-FFF2-40B4-BE49-F238E27FC236}">
                <a16:creationId xmlns:a16="http://schemas.microsoft.com/office/drawing/2014/main" id="{EC2D77B4-97C3-0109-492A-4CB1B0659F93}"/>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14801741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010D8A-FA99-1027-FEC9-8FDFF362905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A742391-9774-2E4C-C170-3FE9774B85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21A0E3-5607-927A-7181-9A807B9F4C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18725F-934A-682D-D056-CDE6C388B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A43AAD-ACFD-0BD4-4A71-BA3ECBF9919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CE2CC47-F10F-8A91-81CA-F3A857264525}"/>
              </a:ext>
            </a:extLst>
          </p:cNvPr>
          <p:cNvSpPr>
            <a:spLocks noGrp="1"/>
          </p:cNvSpPr>
          <p:nvPr>
            <p:ph type="dt" sz="half" idx="10"/>
          </p:nvPr>
        </p:nvSpPr>
        <p:spPr/>
        <p:txBody>
          <a:bodyPr/>
          <a:lstStyle/>
          <a:p>
            <a:fld id="{733A1D95-9BF9-4CE1-A0EA-90FF297D19D0}" type="datetime1">
              <a:rPr lang="en-US" smtClean="0"/>
              <a:t>10/30/2026</a:t>
            </a:fld>
            <a:endParaRPr lang="en-US"/>
          </a:p>
        </p:txBody>
      </p:sp>
      <p:sp>
        <p:nvSpPr>
          <p:cNvPr id="8" name="Footer Placeholder 7">
            <a:extLst>
              <a:ext uri="{FF2B5EF4-FFF2-40B4-BE49-F238E27FC236}">
                <a16:creationId xmlns:a16="http://schemas.microsoft.com/office/drawing/2014/main" id="{72BC06B0-830C-FBEE-FECE-C6406EF9FF3A}"/>
              </a:ext>
            </a:extLst>
          </p:cNvPr>
          <p:cNvSpPr>
            <a:spLocks noGrp="1"/>
          </p:cNvSpPr>
          <p:nvPr>
            <p:ph type="ftr" sz="quarter" idx="11"/>
          </p:nvPr>
        </p:nvSpPr>
        <p:spPr/>
        <p:txBody>
          <a:bodyPr/>
          <a:lstStyle/>
          <a:p>
            <a:r>
              <a:rPr lang="ar-LB"/>
              <a:t>مشروع فصلي....</a:t>
            </a:r>
            <a:endParaRPr lang="en-US"/>
          </a:p>
        </p:txBody>
      </p:sp>
      <p:sp>
        <p:nvSpPr>
          <p:cNvPr id="9" name="Slide Number Placeholder 8">
            <a:extLst>
              <a:ext uri="{FF2B5EF4-FFF2-40B4-BE49-F238E27FC236}">
                <a16:creationId xmlns:a16="http://schemas.microsoft.com/office/drawing/2014/main" id="{ADBB5166-40BA-5202-2D38-1BA48B8A0967}"/>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3398304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C952DB-965F-D567-974C-4831D027315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2D18B86-2CE2-5395-B958-F12A10036B39}"/>
              </a:ext>
            </a:extLst>
          </p:cNvPr>
          <p:cNvSpPr>
            <a:spLocks noGrp="1"/>
          </p:cNvSpPr>
          <p:nvPr>
            <p:ph type="dt" sz="half" idx="10"/>
          </p:nvPr>
        </p:nvSpPr>
        <p:spPr/>
        <p:txBody>
          <a:bodyPr/>
          <a:lstStyle/>
          <a:p>
            <a:fld id="{F9E80EBF-8A8A-40F0-86A7-7286F440E0F3}" type="datetime1">
              <a:rPr lang="en-US" smtClean="0"/>
              <a:t>10/30/2026</a:t>
            </a:fld>
            <a:endParaRPr lang="en-US"/>
          </a:p>
        </p:txBody>
      </p:sp>
      <p:sp>
        <p:nvSpPr>
          <p:cNvPr id="4" name="Footer Placeholder 3">
            <a:extLst>
              <a:ext uri="{FF2B5EF4-FFF2-40B4-BE49-F238E27FC236}">
                <a16:creationId xmlns:a16="http://schemas.microsoft.com/office/drawing/2014/main" id="{25D887C2-51F3-E8A5-28C0-2C405A478D61}"/>
              </a:ext>
            </a:extLst>
          </p:cNvPr>
          <p:cNvSpPr>
            <a:spLocks noGrp="1"/>
          </p:cNvSpPr>
          <p:nvPr>
            <p:ph type="ftr" sz="quarter" idx="11"/>
          </p:nvPr>
        </p:nvSpPr>
        <p:spPr/>
        <p:txBody>
          <a:bodyPr/>
          <a:lstStyle/>
          <a:p>
            <a:r>
              <a:rPr lang="ar-LB"/>
              <a:t>مشروع فصلي....</a:t>
            </a:r>
            <a:endParaRPr lang="en-US"/>
          </a:p>
        </p:txBody>
      </p:sp>
      <p:sp>
        <p:nvSpPr>
          <p:cNvPr id="5" name="Slide Number Placeholder 4">
            <a:extLst>
              <a:ext uri="{FF2B5EF4-FFF2-40B4-BE49-F238E27FC236}">
                <a16:creationId xmlns:a16="http://schemas.microsoft.com/office/drawing/2014/main" id="{577BC180-A612-3483-A0E1-6AB31CA0C98D}"/>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4635227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5F26E7-965A-6AC1-351E-3BF6ACBDDEE2}"/>
              </a:ext>
            </a:extLst>
          </p:cNvPr>
          <p:cNvSpPr>
            <a:spLocks noGrp="1"/>
          </p:cNvSpPr>
          <p:nvPr>
            <p:ph type="dt" sz="half" idx="10"/>
          </p:nvPr>
        </p:nvSpPr>
        <p:spPr/>
        <p:txBody>
          <a:bodyPr/>
          <a:lstStyle/>
          <a:p>
            <a:fld id="{0BEA7337-48F7-4AF7-9A31-C231AA9DABEB}" type="datetime1">
              <a:rPr lang="en-US" smtClean="0"/>
              <a:t>10/30/2026</a:t>
            </a:fld>
            <a:endParaRPr lang="en-US"/>
          </a:p>
        </p:txBody>
      </p:sp>
      <p:sp>
        <p:nvSpPr>
          <p:cNvPr id="3" name="Footer Placeholder 2">
            <a:extLst>
              <a:ext uri="{FF2B5EF4-FFF2-40B4-BE49-F238E27FC236}">
                <a16:creationId xmlns:a16="http://schemas.microsoft.com/office/drawing/2014/main" id="{753F3A08-7728-7EE4-12FE-99584A0608B1}"/>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D511E605-1894-7F38-96D7-5711BA104A8A}"/>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20358356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ED52C-F553-7253-3DE6-B294241BB84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6B6EE6A-61D8-D2C7-AC2A-BAD820BACEA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A134D0E1-40CD-A415-635E-7B576877B7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FD09A8-16DE-895E-2FE5-490F44A79359}"/>
              </a:ext>
            </a:extLst>
          </p:cNvPr>
          <p:cNvSpPr>
            <a:spLocks noGrp="1"/>
          </p:cNvSpPr>
          <p:nvPr>
            <p:ph type="dt" sz="half" idx="10"/>
          </p:nvPr>
        </p:nvSpPr>
        <p:spPr/>
        <p:txBody>
          <a:bodyPr/>
          <a:lstStyle/>
          <a:p>
            <a:fld id="{F9F60AB9-8616-4B55-B544-8181381708AB}" type="datetime1">
              <a:rPr lang="en-US" smtClean="0"/>
              <a:t>10/30/2026</a:t>
            </a:fld>
            <a:endParaRPr lang="en-US"/>
          </a:p>
        </p:txBody>
      </p:sp>
      <p:sp>
        <p:nvSpPr>
          <p:cNvPr id="6" name="Footer Placeholder 5">
            <a:extLst>
              <a:ext uri="{FF2B5EF4-FFF2-40B4-BE49-F238E27FC236}">
                <a16:creationId xmlns:a16="http://schemas.microsoft.com/office/drawing/2014/main" id="{FAE81FF2-B792-3CF2-49A0-9DAB42219CF1}"/>
              </a:ext>
            </a:extLst>
          </p:cNvPr>
          <p:cNvSpPr>
            <a:spLocks noGrp="1"/>
          </p:cNvSpPr>
          <p:nvPr>
            <p:ph type="ftr" sz="quarter" idx="11"/>
          </p:nvPr>
        </p:nvSpPr>
        <p:spPr/>
        <p:txBody>
          <a:bodyPr/>
          <a:lstStyle/>
          <a:p>
            <a:r>
              <a:rPr lang="ar-LB"/>
              <a:t>مشروع فصلي....</a:t>
            </a:r>
            <a:endParaRPr lang="en-US"/>
          </a:p>
        </p:txBody>
      </p:sp>
      <p:sp>
        <p:nvSpPr>
          <p:cNvPr id="7" name="Slide Number Placeholder 6">
            <a:extLst>
              <a:ext uri="{FF2B5EF4-FFF2-40B4-BE49-F238E27FC236}">
                <a16:creationId xmlns:a16="http://schemas.microsoft.com/office/drawing/2014/main" id="{BD1FA9E5-F4BF-CDB1-5103-4CD6FA630BF0}"/>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42228769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A2051-2331-215D-2FDD-370D7A88D8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30711D-48C9-0C54-AC74-04A3AAD4524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A3EC347-4A26-72BD-E2FC-29DFEC1F72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35EAAE-4733-3414-1943-04DD07D957AE}"/>
              </a:ext>
            </a:extLst>
          </p:cNvPr>
          <p:cNvSpPr>
            <a:spLocks noGrp="1"/>
          </p:cNvSpPr>
          <p:nvPr>
            <p:ph type="dt" sz="half" idx="10"/>
          </p:nvPr>
        </p:nvSpPr>
        <p:spPr/>
        <p:txBody>
          <a:bodyPr/>
          <a:lstStyle/>
          <a:p>
            <a:fld id="{E207D518-531C-4414-B657-2CD37CCA6B63}" type="datetime1">
              <a:rPr lang="en-US" smtClean="0"/>
              <a:t>10/30/2026</a:t>
            </a:fld>
            <a:endParaRPr lang="en-US"/>
          </a:p>
        </p:txBody>
      </p:sp>
      <p:sp>
        <p:nvSpPr>
          <p:cNvPr id="6" name="Footer Placeholder 5">
            <a:extLst>
              <a:ext uri="{FF2B5EF4-FFF2-40B4-BE49-F238E27FC236}">
                <a16:creationId xmlns:a16="http://schemas.microsoft.com/office/drawing/2014/main" id="{8D023DCB-8125-80EF-6294-84DE2F57B257}"/>
              </a:ext>
            </a:extLst>
          </p:cNvPr>
          <p:cNvSpPr>
            <a:spLocks noGrp="1"/>
          </p:cNvSpPr>
          <p:nvPr>
            <p:ph type="ftr" sz="quarter" idx="11"/>
          </p:nvPr>
        </p:nvSpPr>
        <p:spPr/>
        <p:txBody>
          <a:bodyPr/>
          <a:lstStyle/>
          <a:p>
            <a:r>
              <a:rPr lang="ar-LB"/>
              <a:t>مشروع فصلي....</a:t>
            </a:r>
            <a:endParaRPr lang="en-US"/>
          </a:p>
        </p:txBody>
      </p:sp>
      <p:sp>
        <p:nvSpPr>
          <p:cNvPr id="7" name="Slide Number Placeholder 6">
            <a:extLst>
              <a:ext uri="{FF2B5EF4-FFF2-40B4-BE49-F238E27FC236}">
                <a16:creationId xmlns:a16="http://schemas.microsoft.com/office/drawing/2014/main" id="{D63398A8-CDCE-094C-42A2-3D874E3BED05}"/>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3447669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848C1-0408-D8AF-69A2-588425BC50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BFA3F95-D448-1D26-F510-A0FB77EC631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B69917-0033-D989-92E8-CE98F1132F8D}"/>
              </a:ext>
            </a:extLst>
          </p:cNvPr>
          <p:cNvSpPr>
            <a:spLocks noGrp="1"/>
          </p:cNvSpPr>
          <p:nvPr>
            <p:ph type="dt" sz="half" idx="10"/>
          </p:nvPr>
        </p:nvSpPr>
        <p:spPr/>
        <p:txBody>
          <a:bodyPr/>
          <a:lstStyle/>
          <a:p>
            <a:fld id="{07C97074-5979-461C-BB0D-F24AD7AEA7D7}" type="datetime1">
              <a:rPr lang="en-US" smtClean="0"/>
              <a:t>10/30/2026</a:t>
            </a:fld>
            <a:endParaRPr lang="en-US"/>
          </a:p>
        </p:txBody>
      </p:sp>
      <p:sp>
        <p:nvSpPr>
          <p:cNvPr id="5" name="Footer Placeholder 4">
            <a:extLst>
              <a:ext uri="{FF2B5EF4-FFF2-40B4-BE49-F238E27FC236}">
                <a16:creationId xmlns:a16="http://schemas.microsoft.com/office/drawing/2014/main" id="{DB90D59D-1B12-2463-BE4C-9D8702C27E0D}"/>
              </a:ext>
            </a:extLst>
          </p:cNvPr>
          <p:cNvSpPr>
            <a:spLocks noGrp="1"/>
          </p:cNvSpPr>
          <p:nvPr>
            <p:ph type="ftr" sz="quarter" idx="11"/>
          </p:nvPr>
        </p:nvSpPr>
        <p:spPr/>
        <p:txBody>
          <a:bodyPr/>
          <a:lstStyle/>
          <a:p>
            <a:r>
              <a:rPr lang="ar-LB"/>
              <a:t>مشروع فصلي....</a:t>
            </a:r>
            <a:endParaRPr lang="en-US"/>
          </a:p>
        </p:txBody>
      </p:sp>
      <p:sp>
        <p:nvSpPr>
          <p:cNvPr id="6" name="Slide Number Placeholder 5">
            <a:extLst>
              <a:ext uri="{FF2B5EF4-FFF2-40B4-BE49-F238E27FC236}">
                <a16:creationId xmlns:a16="http://schemas.microsoft.com/office/drawing/2014/main" id="{D114DA28-4071-592C-92AE-FA0CA34DF08D}"/>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4656906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84654F-0ECF-8954-9B9E-9F199056941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73D16A-A760-D48C-1E66-0E3F9C8F4F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B65E059-1E45-81B2-2FD4-F09024827648}"/>
              </a:ext>
            </a:extLst>
          </p:cNvPr>
          <p:cNvSpPr>
            <a:spLocks noGrp="1"/>
          </p:cNvSpPr>
          <p:nvPr>
            <p:ph type="dt" sz="half" idx="10"/>
          </p:nvPr>
        </p:nvSpPr>
        <p:spPr/>
        <p:txBody>
          <a:bodyPr/>
          <a:lstStyle/>
          <a:p>
            <a:fld id="{CF7CA7B2-F8F1-4C99-9A58-0619E9B4236C}" type="datetime1">
              <a:rPr lang="en-US" smtClean="0"/>
              <a:t>10/30/2026</a:t>
            </a:fld>
            <a:endParaRPr lang="en-US"/>
          </a:p>
        </p:txBody>
      </p:sp>
      <p:sp>
        <p:nvSpPr>
          <p:cNvPr id="5" name="Footer Placeholder 4">
            <a:extLst>
              <a:ext uri="{FF2B5EF4-FFF2-40B4-BE49-F238E27FC236}">
                <a16:creationId xmlns:a16="http://schemas.microsoft.com/office/drawing/2014/main" id="{FDDB7F42-4E93-CA7A-A3D6-1E12EACCB8F8}"/>
              </a:ext>
            </a:extLst>
          </p:cNvPr>
          <p:cNvSpPr>
            <a:spLocks noGrp="1"/>
          </p:cNvSpPr>
          <p:nvPr>
            <p:ph type="ftr" sz="quarter" idx="11"/>
          </p:nvPr>
        </p:nvSpPr>
        <p:spPr/>
        <p:txBody>
          <a:bodyPr/>
          <a:lstStyle/>
          <a:p>
            <a:r>
              <a:rPr lang="ar-LB"/>
              <a:t>مشروع فصلي....</a:t>
            </a:r>
            <a:endParaRPr lang="en-US"/>
          </a:p>
        </p:txBody>
      </p:sp>
      <p:sp>
        <p:nvSpPr>
          <p:cNvPr id="6" name="Slide Number Placeholder 5">
            <a:extLst>
              <a:ext uri="{FF2B5EF4-FFF2-40B4-BE49-F238E27FC236}">
                <a16:creationId xmlns:a16="http://schemas.microsoft.com/office/drawing/2014/main" id="{D5C4C34D-6493-F571-4B38-C06CB99FB7C6}"/>
              </a:ext>
            </a:extLst>
          </p:cNvPr>
          <p:cNvSpPr>
            <a:spLocks noGrp="1"/>
          </p:cNvSpPr>
          <p:nvPr>
            <p:ph type="sldNum" sz="quarter" idx="12"/>
          </p:nvPr>
        </p:nvSpPr>
        <p:spPr/>
        <p:txBody>
          <a:bodyPr/>
          <a:lstStyle/>
          <a:p>
            <a:fld id="{2C11977B-EEE1-4D56-A6CE-8035002D8A82}" type="slidenum">
              <a:rPr lang="en-US" smtClean="0"/>
              <a:t>‹#›</a:t>
            </a:fld>
            <a:endParaRPr lang="en-US"/>
          </a:p>
        </p:txBody>
      </p:sp>
    </p:spTree>
    <p:extLst>
      <p:ext uri="{BB962C8B-B14F-4D97-AF65-F5344CB8AC3E}">
        <p14:creationId xmlns:p14="http://schemas.microsoft.com/office/powerpoint/2010/main" val="352379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99C9861-6315-7D19-1FC2-C18236A744B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E11EFFF-1B3C-0223-E81F-FF7E22B499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E9D6D-05BC-2BD6-8D4D-8631CA54E7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59F99F-ECCB-4E1D-B4DE-BB12197DD00B}" type="datetime1">
              <a:rPr lang="en-US" smtClean="0"/>
              <a:t>10/30/2026</a:t>
            </a:fld>
            <a:endParaRPr lang="en-US"/>
          </a:p>
        </p:txBody>
      </p:sp>
      <p:sp>
        <p:nvSpPr>
          <p:cNvPr id="5" name="Footer Placeholder 4">
            <a:extLst>
              <a:ext uri="{FF2B5EF4-FFF2-40B4-BE49-F238E27FC236}">
                <a16:creationId xmlns:a16="http://schemas.microsoft.com/office/drawing/2014/main" id="{F7B39DBC-854C-A039-E3A7-5A146D3F615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ar-LB"/>
              <a:t>مشروع فصلي....</a:t>
            </a:r>
            <a:endParaRPr lang="en-US"/>
          </a:p>
        </p:txBody>
      </p:sp>
      <p:sp>
        <p:nvSpPr>
          <p:cNvPr id="6" name="Slide Number Placeholder 5">
            <a:extLst>
              <a:ext uri="{FF2B5EF4-FFF2-40B4-BE49-F238E27FC236}">
                <a16:creationId xmlns:a16="http://schemas.microsoft.com/office/drawing/2014/main" id="{D585C828-C825-6DB3-1130-384DF2FBA1D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C11977B-EEE1-4D56-A6CE-8035002D8A82}" type="slidenum">
              <a:rPr lang="en-US" smtClean="0"/>
              <a:t>‹#›</a:t>
            </a:fld>
            <a:endParaRPr lang="en-US"/>
          </a:p>
        </p:txBody>
      </p:sp>
    </p:spTree>
    <p:extLst>
      <p:ext uri="{BB962C8B-B14F-4D97-AF65-F5344CB8AC3E}">
        <p14:creationId xmlns:p14="http://schemas.microsoft.com/office/powerpoint/2010/main" val="61958213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6CCBCD6-3161-4836-AB74-F29EDADE8A3B}"/>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DCB90683-F680-46DA-8061-3D864026F0FC}"/>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F4B3F3D1-082F-4311-A2F6-7ED96B57CFE4}"/>
              </a:ext>
            </a:extLst>
          </p:cNvPr>
          <p:cNvSpPr>
            <a:spLocks noGrp="1"/>
          </p:cNvSpPr>
          <p:nvPr>
            <p:ph type="sldNum" sz="quarter" idx="12"/>
          </p:nvPr>
        </p:nvSpPr>
        <p:spPr/>
        <p:txBody>
          <a:bodyPr/>
          <a:lstStyle/>
          <a:p>
            <a:fld id="{2C11977B-EEE1-4D56-A6CE-8035002D8A82}" type="slidenum">
              <a:rPr lang="en-US" smtClean="0"/>
              <a:t>1</a:t>
            </a:fld>
            <a:endParaRPr lang="en-US"/>
          </a:p>
        </p:txBody>
      </p:sp>
      <p:pic>
        <p:nvPicPr>
          <p:cNvPr id="6" name="Picture 5">
            <a:extLst>
              <a:ext uri="{FF2B5EF4-FFF2-40B4-BE49-F238E27FC236}">
                <a16:creationId xmlns:a16="http://schemas.microsoft.com/office/drawing/2014/main" id="{A8B12A0F-5AAC-472C-9081-A708672DB5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pic>
        <p:nvPicPr>
          <p:cNvPr id="7" name="Picture 7">
            <a:extLst>
              <a:ext uri="{FF2B5EF4-FFF2-40B4-BE49-F238E27FC236}">
                <a16:creationId xmlns:a16="http://schemas.microsoft.com/office/drawing/2014/main" id="{5EF4F571-5C01-424A-B971-FFAF3EC2E4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3027" y="-19050"/>
            <a:ext cx="3188973" cy="1959976"/>
          </a:xfrm>
          <a:prstGeom prst="rect">
            <a:avLst/>
          </a:prstGeom>
        </p:spPr>
      </p:pic>
      <p:sp>
        <p:nvSpPr>
          <p:cNvPr id="8" name="TextBox 8">
            <a:extLst>
              <a:ext uri="{FF2B5EF4-FFF2-40B4-BE49-F238E27FC236}">
                <a16:creationId xmlns:a16="http://schemas.microsoft.com/office/drawing/2014/main" id="{22C003BA-9A47-4011-8292-0489A49E54BB}"/>
              </a:ext>
            </a:extLst>
          </p:cNvPr>
          <p:cNvSpPr txBox="1"/>
          <p:nvPr/>
        </p:nvSpPr>
        <p:spPr>
          <a:xfrm>
            <a:off x="-193963" y="374500"/>
            <a:ext cx="4807525" cy="923330"/>
          </a:xfrm>
          <a:prstGeom prst="rect">
            <a:avLst/>
          </a:prstGeom>
          <a:noFill/>
        </p:spPr>
        <p:txBody>
          <a:bodyPr wrap="square" rtlCol="0">
            <a:spAutoFit/>
          </a:bodyPr>
          <a:lstStyle/>
          <a:p>
            <a:pPr algn="ctr" rtl="0"/>
            <a:r>
              <a:rPr lang="en-US" b="1" dirty="0">
                <a:latin typeface="Times New Roman" panose="02020603050405020304" pitchFamily="18" charset="0"/>
                <a:cs typeface="Times New Roman" panose="02020603050405020304" pitchFamily="18" charset="0"/>
              </a:rPr>
              <a:t>THE SYRIAN PRIVATE UNIVERSITY</a:t>
            </a:r>
          </a:p>
          <a:p>
            <a:pPr algn="ctr" rtl="0"/>
            <a:r>
              <a:rPr lang="en-US" b="1" dirty="0">
                <a:latin typeface="Times New Roman" panose="02020603050405020304" pitchFamily="18" charset="0"/>
                <a:cs typeface="Times New Roman" panose="02020603050405020304" pitchFamily="18" charset="0"/>
              </a:rPr>
              <a:t>FACULTY OF COMPUTER &amp; INFORMATICS ENGINEERING</a:t>
            </a:r>
          </a:p>
        </p:txBody>
      </p:sp>
      <p:sp>
        <p:nvSpPr>
          <p:cNvPr id="9" name="TextBox 10">
            <a:extLst>
              <a:ext uri="{FF2B5EF4-FFF2-40B4-BE49-F238E27FC236}">
                <a16:creationId xmlns:a16="http://schemas.microsoft.com/office/drawing/2014/main" id="{452147AD-663D-4B59-96E3-8A019A2CCD2B}"/>
              </a:ext>
            </a:extLst>
          </p:cNvPr>
          <p:cNvSpPr txBox="1"/>
          <p:nvPr/>
        </p:nvSpPr>
        <p:spPr>
          <a:xfrm>
            <a:off x="2123446" y="3664797"/>
            <a:ext cx="7871459" cy="789575"/>
          </a:xfrm>
          <a:prstGeom prst="rect">
            <a:avLst/>
          </a:prstGeom>
          <a:noFill/>
        </p:spPr>
        <p:txBody>
          <a:bodyPr wrap="square" rtlCol="0">
            <a:spAutoFit/>
          </a:bodyPr>
          <a:lstStyle/>
          <a:p>
            <a:pPr algn="ctr" rtl="1">
              <a:lnSpc>
                <a:spcPct val="150000"/>
              </a:lnSpc>
            </a:pPr>
            <a:r>
              <a:rPr lang="en-US" b="1" dirty="0">
                <a:latin typeface="Times New Roman" panose="02020603050405020304" pitchFamily="18" charset="0"/>
                <a:cs typeface="Times New Roman" panose="02020603050405020304" pitchFamily="18" charset="0"/>
              </a:rPr>
              <a:t>Prepared By:</a:t>
            </a:r>
            <a:endParaRPr lang="ar-AE" b="1" dirty="0">
              <a:latin typeface="Times New Roman" panose="02020603050405020304" pitchFamily="18" charset="0"/>
              <a:cs typeface="Times New Roman" panose="02020603050405020304" pitchFamily="18" charset="0"/>
            </a:endParaRPr>
          </a:p>
          <a:p>
            <a:pPr algn="ctr">
              <a:lnSpc>
                <a:spcPct val="107000"/>
              </a:lnSpc>
              <a:spcAft>
                <a:spcPts val="800"/>
              </a:spcAft>
            </a:pPr>
            <a:r>
              <a:rPr lang="en-US" sz="1800" b="1" kern="100" dirty="0" err="1">
                <a:effectLst/>
                <a:latin typeface="Times New Roman" panose="02020603050405020304" pitchFamily="18" charset="0"/>
                <a:ea typeface="Calibri" panose="020F0502020204030204" pitchFamily="34" charset="0"/>
              </a:rPr>
              <a:t>Roaa</a:t>
            </a:r>
            <a:r>
              <a:rPr lang="en-US" sz="1800" b="1" kern="100" dirty="0">
                <a:effectLst/>
                <a:latin typeface="Times New Roman" panose="02020603050405020304" pitchFamily="18" charset="0"/>
                <a:ea typeface="Calibri" panose="020F0502020204030204" pitchFamily="34" charset="0"/>
              </a:rPr>
              <a:t> </a:t>
            </a:r>
            <a:r>
              <a:rPr lang="en-US" sz="1800" b="1" kern="100" dirty="0" err="1">
                <a:effectLst/>
                <a:latin typeface="Times New Roman" panose="02020603050405020304" pitchFamily="18" charset="0"/>
                <a:ea typeface="Calibri" panose="020F0502020204030204" pitchFamily="34" charset="0"/>
              </a:rPr>
              <a:t>kashour</a:t>
            </a:r>
            <a:r>
              <a:rPr lang="en-US" sz="1800" b="1" kern="100" dirty="0">
                <a:effectLst/>
                <a:latin typeface="Times New Roman" panose="02020603050405020304" pitchFamily="18" charset="0"/>
                <a:ea typeface="Calibri" panose="020F0502020204030204" pitchFamily="34" charset="0"/>
              </a:rPr>
              <a:t>                                            Tasneem </a:t>
            </a:r>
            <a:r>
              <a:rPr lang="en-US" sz="1800" b="1" kern="100" dirty="0" err="1">
                <a:effectLst/>
                <a:latin typeface="Times New Roman" panose="02020603050405020304" pitchFamily="18" charset="0"/>
                <a:ea typeface="Calibri" panose="020F0502020204030204" pitchFamily="34" charset="0"/>
              </a:rPr>
              <a:t>Kadoor</a:t>
            </a:r>
            <a:endParaRPr lang="en-US" sz="1800" kern="100" dirty="0">
              <a:effectLst/>
              <a:latin typeface="Calibri" panose="020F0502020204030204" pitchFamily="34" charset="0"/>
              <a:ea typeface="Calibri" panose="020F0502020204030204" pitchFamily="34" charset="0"/>
            </a:endParaRPr>
          </a:p>
        </p:txBody>
      </p:sp>
      <p:sp>
        <p:nvSpPr>
          <p:cNvPr id="10" name="TextBox 11">
            <a:extLst>
              <a:ext uri="{FF2B5EF4-FFF2-40B4-BE49-F238E27FC236}">
                <a16:creationId xmlns:a16="http://schemas.microsoft.com/office/drawing/2014/main" id="{954251E9-F9C6-43BB-A784-3DCEC2E5DF6F}"/>
              </a:ext>
            </a:extLst>
          </p:cNvPr>
          <p:cNvSpPr txBox="1"/>
          <p:nvPr/>
        </p:nvSpPr>
        <p:spPr>
          <a:xfrm>
            <a:off x="4807521" y="5038581"/>
            <a:ext cx="2576945" cy="1688026"/>
          </a:xfrm>
          <a:prstGeom prst="rect">
            <a:avLst/>
          </a:prstGeom>
          <a:noFill/>
        </p:spPr>
        <p:txBody>
          <a:bodyPr wrap="square" rtlCol="0">
            <a:spAutoFit/>
          </a:bodyPr>
          <a:lstStyle/>
          <a:p>
            <a:pPr algn="ctr" rtl="1">
              <a:lnSpc>
                <a:spcPct val="150000"/>
              </a:lnSpc>
            </a:pPr>
            <a:r>
              <a:rPr lang="en-US" b="1" dirty="0">
                <a:latin typeface="Times New Roman" panose="02020603050405020304" pitchFamily="18" charset="0"/>
                <a:cs typeface="Times New Roman" panose="02020603050405020304" pitchFamily="18" charset="0"/>
              </a:rPr>
              <a:t>Supervised by :</a:t>
            </a:r>
            <a:endParaRPr lang="ar-AE" b="1" dirty="0">
              <a:latin typeface="Times New Roman" panose="02020603050405020304" pitchFamily="18" charset="0"/>
              <a:cs typeface="Times New Roman" panose="02020603050405020304" pitchFamily="18" charset="0"/>
            </a:endParaRPr>
          </a:p>
          <a:p>
            <a:pPr algn="ctr" rtl="1">
              <a:lnSpc>
                <a:spcPct val="107000"/>
              </a:lnSpc>
              <a:spcAft>
                <a:spcPts val="800"/>
              </a:spcAft>
            </a:pPr>
            <a:r>
              <a:rPr lang="en-US" sz="1800" b="1" kern="100" dirty="0">
                <a:effectLst/>
                <a:latin typeface="Calibri" panose="020F0502020204030204" pitchFamily="34" charset="0"/>
                <a:ea typeface="Calibri" panose="020F0502020204030204" pitchFamily="34" charset="0"/>
                <a:cs typeface="Simplified Arabic" panose="02020603050405020304" pitchFamily="18" charset="-78"/>
              </a:rPr>
              <a:t>Dr. </a:t>
            </a:r>
            <a:r>
              <a:rPr lang="en-US" sz="1800" b="1" kern="100" dirty="0" err="1">
                <a:effectLst/>
                <a:latin typeface="Calibri" panose="020F0502020204030204" pitchFamily="34" charset="0"/>
                <a:ea typeface="Calibri" panose="020F0502020204030204" pitchFamily="34" charset="0"/>
                <a:cs typeface="Simplified Arabic" panose="02020603050405020304" pitchFamily="18" charset="-78"/>
              </a:rPr>
              <a:t>Akram</a:t>
            </a:r>
            <a:r>
              <a:rPr lang="en-US" sz="1800" b="1" kern="100" dirty="0">
                <a:effectLst/>
                <a:latin typeface="Calibri" panose="020F0502020204030204" pitchFamily="34" charset="0"/>
                <a:ea typeface="Calibri" panose="020F0502020204030204" pitchFamily="34" charset="0"/>
                <a:cs typeface="Simplified Arabic" panose="02020603050405020304" pitchFamily="18" charset="-78"/>
              </a:rPr>
              <a:t> </a:t>
            </a:r>
            <a:r>
              <a:rPr lang="en-US" sz="1800" b="1" kern="100" dirty="0" err="1">
                <a:effectLst/>
                <a:latin typeface="Calibri" panose="020F0502020204030204" pitchFamily="34" charset="0"/>
                <a:ea typeface="Calibri" panose="020F0502020204030204" pitchFamily="34" charset="0"/>
                <a:cs typeface="Simplified Arabic" panose="02020603050405020304" pitchFamily="18" charset="-78"/>
              </a:rPr>
              <a:t>Masouh</a:t>
            </a:r>
            <a:endParaRPr lang="en-US" sz="1800" kern="100" dirty="0">
              <a:effectLst/>
              <a:latin typeface="Calibri" panose="020F0502020204030204" pitchFamily="34" charset="0"/>
              <a:ea typeface="Calibri" panose="020F0502020204030204" pitchFamily="34" charset="0"/>
            </a:endParaRPr>
          </a:p>
          <a:p>
            <a:pPr algn="ctr" rtl="1">
              <a:lnSpc>
                <a:spcPct val="150000"/>
              </a:lnSpc>
            </a:pPr>
            <a:endParaRPr lang="ar-AE" b="1" dirty="0">
              <a:latin typeface="Times New Roman" panose="02020603050405020304" pitchFamily="18" charset="0"/>
              <a:cs typeface="Times New Roman" panose="02020603050405020304" pitchFamily="18" charset="0"/>
            </a:endParaRPr>
          </a:p>
          <a:p>
            <a:pPr algn="ctr" rtl="1">
              <a:lnSpc>
                <a:spcPct val="150000"/>
              </a:lnSpc>
            </a:pPr>
            <a:r>
              <a:rPr lang="en-US" b="1" dirty="0">
                <a:latin typeface="Times New Roman" panose="02020603050405020304" pitchFamily="18" charset="0"/>
                <a:cs typeface="Times New Roman" panose="02020603050405020304" pitchFamily="18" charset="0"/>
              </a:rPr>
              <a:t>October 2026</a:t>
            </a:r>
            <a:endParaRPr lang="ar-AE" b="1" dirty="0">
              <a:latin typeface="Times New Roman" panose="02020603050405020304" pitchFamily="18" charset="0"/>
              <a:cs typeface="Times New Roman" panose="02020603050405020304" pitchFamily="18" charset="0"/>
            </a:endParaRPr>
          </a:p>
        </p:txBody>
      </p:sp>
      <p:sp>
        <p:nvSpPr>
          <p:cNvPr id="11" name="TextBox 12">
            <a:extLst>
              <a:ext uri="{FF2B5EF4-FFF2-40B4-BE49-F238E27FC236}">
                <a16:creationId xmlns:a16="http://schemas.microsoft.com/office/drawing/2014/main" id="{E7A89252-9F91-410E-B3DE-D6BBB104829C}"/>
              </a:ext>
            </a:extLst>
          </p:cNvPr>
          <p:cNvSpPr txBox="1"/>
          <p:nvPr/>
        </p:nvSpPr>
        <p:spPr>
          <a:xfrm>
            <a:off x="2916833" y="2643376"/>
            <a:ext cx="6284684" cy="584775"/>
          </a:xfrm>
          <a:prstGeom prst="rect">
            <a:avLst/>
          </a:prstGeom>
          <a:noFill/>
        </p:spPr>
        <p:txBody>
          <a:bodyPr wrap="square">
            <a:spAutoFit/>
          </a:bodyPr>
          <a:lstStyle/>
          <a:p>
            <a:pPr algn="ctr"/>
            <a:r>
              <a:rPr lang="en-US" sz="3200" b="1" kern="100" dirty="0">
                <a:effectLst/>
                <a:latin typeface="Times New Roman" panose="02020603050405020304" pitchFamily="18" charset="0"/>
                <a:ea typeface="Calibri" panose="020F0502020204030204" pitchFamily="34" charset="0"/>
              </a:rPr>
              <a:t>Health center management system</a:t>
            </a:r>
            <a:endParaRPr lang="en-US" sz="320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393373494"/>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0C2178E-97E8-49C3-8A3C-5877EA9A7080}"/>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5A66AE3A-4974-498F-8AF0-6276F08FE638}"/>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5FC2B5B5-802F-4D3F-A7DD-1DED3DF462F8}"/>
              </a:ext>
            </a:extLst>
          </p:cNvPr>
          <p:cNvSpPr>
            <a:spLocks noGrp="1"/>
          </p:cNvSpPr>
          <p:nvPr>
            <p:ph type="sldNum" sz="quarter" idx="12"/>
          </p:nvPr>
        </p:nvSpPr>
        <p:spPr/>
        <p:txBody>
          <a:bodyPr/>
          <a:lstStyle/>
          <a:p>
            <a:fld id="{2C11977B-EEE1-4D56-A6CE-8035002D8A82}" type="slidenum">
              <a:rPr lang="en-US" smtClean="0"/>
              <a:t>2</a:t>
            </a:fld>
            <a:endParaRPr lang="en-US"/>
          </a:p>
        </p:txBody>
      </p:sp>
      <p:pic>
        <p:nvPicPr>
          <p:cNvPr id="6" name="Picture 5">
            <a:extLst>
              <a:ext uri="{FF2B5EF4-FFF2-40B4-BE49-F238E27FC236}">
                <a16:creationId xmlns:a16="http://schemas.microsoft.com/office/drawing/2014/main" id="{A209F6AC-462E-4284-9F10-445BE572471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08AB40C4-63C6-4C9F-875D-B84E7C531C44}"/>
              </a:ext>
            </a:extLst>
          </p:cNvPr>
          <p:cNvSpPr txBox="1"/>
          <p:nvPr/>
        </p:nvSpPr>
        <p:spPr>
          <a:xfrm>
            <a:off x="4498944" y="475485"/>
            <a:ext cx="4437667" cy="1778692"/>
          </a:xfrm>
          <a:prstGeom prst="rect">
            <a:avLst/>
          </a:prstGeom>
          <a:noFill/>
        </p:spPr>
        <p:txBody>
          <a:bodyPr wrap="square">
            <a:spAutoFit/>
          </a:bodyPr>
          <a:lstStyle/>
          <a:p>
            <a:pPr marL="0" marR="0" algn="l">
              <a:lnSpc>
                <a:spcPct val="107000"/>
              </a:lnSpc>
              <a:spcBef>
                <a:spcPts val="200"/>
              </a:spcBef>
              <a:buNone/>
            </a:pPr>
            <a:r>
              <a:rPr lang="en-US" sz="3200" b="1" dirty="0">
                <a:solidFill>
                  <a:schemeClr val="accent2">
                    <a:lumMod val="50000"/>
                  </a:schemeClr>
                </a:solidFill>
                <a:effectLst/>
                <a:latin typeface="Calibri Light" panose="020F0302020204030204" pitchFamily="34" charset="0"/>
                <a:ea typeface="Times New Roman" panose="02020603050405020304" pitchFamily="18" charset="0"/>
                <a:cs typeface="Times New Roman" panose="02020603050405020304" pitchFamily="18" charset="0"/>
              </a:rPr>
              <a:t>Project Importance</a:t>
            </a:r>
          </a:p>
          <a:p>
            <a:pPr marL="0" marR="0" indent="457200" algn="r" rtl="1">
              <a:lnSpc>
                <a:spcPct val="107000"/>
              </a:lnSpc>
              <a:spcAft>
                <a:spcPts val="800"/>
              </a:spcAft>
              <a:buNone/>
            </a:pPr>
            <a:r>
              <a:rPr lang="ar-SA" sz="3200" dirty="0">
                <a:solidFill>
                  <a:schemeClr val="accent2">
                    <a:lumMod val="50000"/>
                  </a:schemeClr>
                </a:solidFill>
                <a:effectLst/>
                <a:latin typeface="Calibri" panose="020F0502020204030204" pitchFamily="34" charset="0"/>
                <a:ea typeface="Calibri" panose="020F0502020204030204" pitchFamily="34" charset="0"/>
                <a:cs typeface="Times New Roman" panose="02020603050405020304" pitchFamily="18" charset="0"/>
              </a:rPr>
              <a:t> </a:t>
            </a:r>
            <a:endParaRPr lang="en-US" sz="3200" dirty="0">
              <a:solidFill>
                <a:schemeClr val="accent2">
                  <a:lumMod val="50000"/>
                </a:schemeClr>
              </a:solidFill>
              <a:effectLst/>
              <a:latin typeface="Calibri" panose="020F0502020204030204" pitchFamily="34" charset="0"/>
              <a:ea typeface="Calibri" panose="020F0502020204030204" pitchFamily="34" charset="0"/>
              <a:cs typeface="Arial" panose="020B0604020202020204" pitchFamily="34" charset="0"/>
            </a:endParaRPr>
          </a:p>
          <a:p>
            <a:pPr marL="0" marR="0" algn="r" rtl="1">
              <a:lnSpc>
                <a:spcPct val="115000"/>
              </a:lnSpc>
              <a:spcAft>
                <a:spcPts val="800"/>
              </a:spcAft>
              <a:buNone/>
            </a:pPr>
            <a:r>
              <a:rPr lang="ar-LB" sz="3200" dirty="0">
                <a:solidFill>
                  <a:schemeClr val="accent2">
                    <a:lumMod val="50000"/>
                  </a:schemeClr>
                </a:solidFill>
                <a:effectLst/>
                <a:latin typeface="Calibri" panose="020F0502020204030204" pitchFamily="34" charset="0"/>
                <a:ea typeface="Calibri" panose="020F0502020204030204" pitchFamily="34" charset="0"/>
                <a:cs typeface="Arial" panose="020B0604020202020204" pitchFamily="34" charset="0"/>
              </a:rPr>
              <a:t> </a:t>
            </a:r>
            <a:endParaRPr lang="en-US" sz="3200" dirty="0">
              <a:solidFill>
                <a:schemeClr val="accent2">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sp>
        <p:nvSpPr>
          <p:cNvPr id="10" name="TextBox 9">
            <a:extLst>
              <a:ext uri="{FF2B5EF4-FFF2-40B4-BE49-F238E27FC236}">
                <a16:creationId xmlns:a16="http://schemas.microsoft.com/office/drawing/2014/main" id="{D12368D4-0AD8-40C4-ACD4-54BEDA869812}"/>
              </a:ext>
            </a:extLst>
          </p:cNvPr>
          <p:cNvSpPr txBox="1"/>
          <p:nvPr/>
        </p:nvSpPr>
        <p:spPr>
          <a:xfrm>
            <a:off x="568456" y="1859523"/>
            <a:ext cx="10537693" cy="3376886"/>
          </a:xfrm>
          <a:prstGeom prst="rect">
            <a:avLst/>
          </a:prstGeom>
          <a:noFill/>
        </p:spPr>
        <p:txBody>
          <a:bodyPr wrap="square">
            <a:spAutoFit/>
          </a:bodyPr>
          <a:lstStyle/>
          <a:p>
            <a:pPr marL="342900" lvl="0" indent="-342900" algn="just">
              <a:lnSpc>
                <a:spcPct val="150000"/>
              </a:lnSpc>
              <a:spcAft>
                <a:spcPts val="800"/>
              </a:spcAft>
              <a:buSzPts val="1000"/>
              <a:buFont typeface="Symbol" panose="05050102010706020507" pitchFamily="18" charset="2"/>
              <a:buChar char=""/>
              <a:tabLst>
                <a:tab pos="457200" algn="l"/>
              </a:tabLst>
            </a:pPr>
            <a:r>
              <a:rPr lang="en-US" sz="2000" b="1" dirty="0"/>
              <a:t>· Practical Significance : </a:t>
            </a:r>
            <a:r>
              <a:rPr lang="en-US" sz="2000" dirty="0"/>
              <a:t>A centralized web platform unifying clinical and administrative work, reducing manual effort and speeding up information retrieval. Native Arabic support and an intuitive interface ensure high user acceptance and quality of care.</a:t>
            </a:r>
          </a:p>
          <a:p>
            <a:pPr lvl="0" algn="just">
              <a:lnSpc>
                <a:spcPct val="150000"/>
              </a:lnSpc>
              <a:spcAft>
                <a:spcPts val="800"/>
              </a:spcAft>
              <a:buSzPts val="1000"/>
              <a:tabLst>
                <a:tab pos="457200" algn="l"/>
              </a:tabLst>
            </a:pPr>
            <a:br>
              <a:rPr lang="en-US" sz="2000" dirty="0"/>
            </a:br>
            <a:r>
              <a:rPr lang="en-US" sz="2000" b="1" dirty="0"/>
              <a:t>· Academic Significance: </a:t>
            </a:r>
            <a:r>
              <a:rPr lang="en-US" sz="2000" dirty="0"/>
              <a:t>A comprehensive practical application of software engineering methodologies (requirements elicitation, UML, database normalization) to a real-world health problem, bridging academic theory and production-ready software.</a:t>
            </a:r>
            <a:endParaRPr lang="ar-AE" sz="2000" dirty="0"/>
          </a:p>
        </p:txBody>
      </p:sp>
    </p:spTree>
    <p:extLst>
      <p:ext uri="{BB962C8B-B14F-4D97-AF65-F5344CB8AC3E}">
        <p14:creationId xmlns:p14="http://schemas.microsoft.com/office/powerpoint/2010/main" val="358824368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29212E-A202-4E61-B46C-6807D63203C8}"/>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993DD092-C81D-4731-B8B3-8BFAEFDD15F5}"/>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C11CBB7-FE81-4C07-BE28-585B5CB239AA}"/>
              </a:ext>
            </a:extLst>
          </p:cNvPr>
          <p:cNvSpPr>
            <a:spLocks noGrp="1"/>
          </p:cNvSpPr>
          <p:nvPr>
            <p:ph type="sldNum" sz="quarter" idx="12"/>
          </p:nvPr>
        </p:nvSpPr>
        <p:spPr/>
        <p:txBody>
          <a:bodyPr/>
          <a:lstStyle/>
          <a:p>
            <a:fld id="{2C11977B-EEE1-4D56-A6CE-8035002D8A82}" type="slidenum">
              <a:rPr lang="en-US" smtClean="0"/>
              <a:t>3</a:t>
            </a:fld>
            <a:endParaRPr lang="en-US"/>
          </a:p>
        </p:txBody>
      </p:sp>
      <p:pic>
        <p:nvPicPr>
          <p:cNvPr id="6" name="Picture 5">
            <a:extLst>
              <a:ext uri="{FF2B5EF4-FFF2-40B4-BE49-F238E27FC236}">
                <a16:creationId xmlns:a16="http://schemas.microsoft.com/office/drawing/2014/main" id="{3D2A6811-808E-4550-A5D9-AD01826F115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29EC69C6-6FC6-4A6A-80D0-B94BE7E67289}"/>
              </a:ext>
            </a:extLst>
          </p:cNvPr>
          <p:cNvSpPr txBox="1"/>
          <p:nvPr/>
        </p:nvSpPr>
        <p:spPr>
          <a:xfrm>
            <a:off x="4979710" y="498666"/>
            <a:ext cx="6094428" cy="584775"/>
          </a:xfrm>
          <a:prstGeom prst="rect">
            <a:avLst/>
          </a:prstGeom>
          <a:noFill/>
        </p:spPr>
        <p:txBody>
          <a:bodyPr wrap="square">
            <a:spAutoFit/>
          </a:bodyPr>
          <a:lstStyle/>
          <a:p>
            <a:pPr algn="l"/>
            <a:r>
              <a:rPr lang="en-US" sz="3200" b="1" dirty="0">
                <a:solidFill>
                  <a:schemeClr val="accent2">
                    <a:lumMod val="50000"/>
                  </a:schemeClr>
                </a:solidFill>
                <a:latin typeface="Calibri Light" panose="020F0302020204030204" pitchFamily="34" charset="0"/>
                <a:cs typeface="Times New Roman" panose="02020603050405020304" pitchFamily="18" charset="0"/>
              </a:rPr>
              <a:t>Project Goals</a:t>
            </a:r>
          </a:p>
        </p:txBody>
      </p:sp>
      <p:sp>
        <p:nvSpPr>
          <p:cNvPr id="10" name="TextBox 9">
            <a:extLst>
              <a:ext uri="{FF2B5EF4-FFF2-40B4-BE49-F238E27FC236}">
                <a16:creationId xmlns:a16="http://schemas.microsoft.com/office/drawing/2014/main" id="{4ED79B42-89F5-492F-8C31-010C1D6B96C6}"/>
              </a:ext>
            </a:extLst>
          </p:cNvPr>
          <p:cNvSpPr txBox="1"/>
          <p:nvPr/>
        </p:nvSpPr>
        <p:spPr>
          <a:xfrm>
            <a:off x="2641863" y="2179297"/>
            <a:ext cx="6169842" cy="480131"/>
          </a:xfrm>
          <a:prstGeom prst="rect">
            <a:avLst/>
          </a:prstGeom>
          <a:noFill/>
        </p:spPr>
        <p:txBody>
          <a:bodyPr wrap="square">
            <a:spAutoFit/>
          </a:bodyPr>
          <a:lstStyle/>
          <a:p>
            <a:pPr marL="457200" lvl="0" indent="-457200" defTabSz="933450">
              <a:lnSpc>
                <a:spcPct val="90000"/>
              </a:lnSpc>
              <a:spcBef>
                <a:spcPct val="0"/>
              </a:spcBef>
              <a:spcAft>
                <a:spcPct val="35000"/>
              </a:spcAft>
              <a:buFont typeface="Arial" panose="020B0604020202020204" pitchFamily="34" charset="0"/>
              <a:buChar char="•"/>
            </a:pPr>
            <a:r>
              <a:rPr lang="en-US" sz="2800" kern="1200" dirty="0"/>
              <a:t>Clinical Workflow Optimization</a:t>
            </a:r>
            <a:endParaRPr lang="ar-AE" sz="2800" kern="1200" dirty="0"/>
          </a:p>
        </p:txBody>
      </p:sp>
      <p:sp>
        <p:nvSpPr>
          <p:cNvPr id="12" name="TextBox 11">
            <a:extLst>
              <a:ext uri="{FF2B5EF4-FFF2-40B4-BE49-F238E27FC236}">
                <a16:creationId xmlns:a16="http://schemas.microsoft.com/office/drawing/2014/main" id="{540CCDF1-01D3-429B-9536-715FEB9C357F}"/>
              </a:ext>
            </a:extLst>
          </p:cNvPr>
          <p:cNvSpPr txBox="1"/>
          <p:nvPr/>
        </p:nvSpPr>
        <p:spPr>
          <a:xfrm>
            <a:off x="2641863" y="2998617"/>
            <a:ext cx="7237428" cy="480131"/>
          </a:xfrm>
          <a:prstGeom prst="rect">
            <a:avLst/>
          </a:prstGeom>
          <a:noFill/>
        </p:spPr>
        <p:txBody>
          <a:bodyPr wrap="square">
            <a:spAutoFit/>
          </a:bodyPr>
          <a:lstStyle/>
          <a:p>
            <a:pPr marL="457200" lvl="0" indent="-457200" defTabSz="933450">
              <a:lnSpc>
                <a:spcPct val="90000"/>
              </a:lnSpc>
              <a:spcBef>
                <a:spcPct val="0"/>
              </a:spcBef>
              <a:spcAft>
                <a:spcPct val="35000"/>
              </a:spcAft>
              <a:buFont typeface="Arial" panose="020B0604020202020204" pitchFamily="34" charset="0"/>
              <a:buChar char="•"/>
            </a:pPr>
            <a:r>
              <a:rPr lang="en-US" sz="2800" kern="1200" dirty="0"/>
              <a:t>Administrative and Financial Oversight</a:t>
            </a:r>
            <a:endParaRPr lang="ar-AE" sz="2800" kern="1200" dirty="0"/>
          </a:p>
        </p:txBody>
      </p:sp>
      <p:sp>
        <p:nvSpPr>
          <p:cNvPr id="14" name="TextBox 13">
            <a:extLst>
              <a:ext uri="{FF2B5EF4-FFF2-40B4-BE49-F238E27FC236}">
                <a16:creationId xmlns:a16="http://schemas.microsoft.com/office/drawing/2014/main" id="{60F9CAD1-4A65-419B-8590-B4BF58556F25}"/>
              </a:ext>
            </a:extLst>
          </p:cNvPr>
          <p:cNvSpPr txBox="1"/>
          <p:nvPr/>
        </p:nvSpPr>
        <p:spPr>
          <a:xfrm>
            <a:off x="2641863" y="4677483"/>
            <a:ext cx="6094428" cy="480131"/>
          </a:xfrm>
          <a:prstGeom prst="rect">
            <a:avLst/>
          </a:prstGeom>
          <a:noFill/>
        </p:spPr>
        <p:txBody>
          <a:bodyPr wrap="square">
            <a:spAutoFit/>
          </a:bodyPr>
          <a:lstStyle/>
          <a:p>
            <a:pPr marL="457200" lvl="0" indent="-457200" defTabSz="933450">
              <a:lnSpc>
                <a:spcPct val="90000"/>
              </a:lnSpc>
              <a:spcBef>
                <a:spcPct val="0"/>
              </a:spcBef>
              <a:spcAft>
                <a:spcPct val="35000"/>
              </a:spcAft>
              <a:buFont typeface="Arial" panose="020B0604020202020204" pitchFamily="34" charset="0"/>
              <a:buChar char="•"/>
            </a:pPr>
            <a:r>
              <a:rPr lang="en-US" sz="2800" kern="1200" dirty="0"/>
              <a:t>Secure Access Control</a:t>
            </a:r>
            <a:endParaRPr lang="ar-AE" sz="2800" kern="1200" dirty="0"/>
          </a:p>
        </p:txBody>
      </p:sp>
      <p:sp>
        <p:nvSpPr>
          <p:cNvPr id="16" name="TextBox 15">
            <a:extLst>
              <a:ext uri="{FF2B5EF4-FFF2-40B4-BE49-F238E27FC236}">
                <a16:creationId xmlns:a16="http://schemas.microsoft.com/office/drawing/2014/main" id="{5BF97301-BB3E-46E1-980F-00EEB06B6ECC}"/>
              </a:ext>
            </a:extLst>
          </p:cNvPr>
          <p:cNvSpPr txBox="1"/>
          <p:nvPr/>
        </p:nvSpPr>
        <p:spPr>
          <a:xfrm>
            <a:off x="2641863" y="3741832"/>
            <a:ext cx="6094428" cy="480131"/>
          </a:xfrm>
          <a:prstGeom prst="rect">
            <a:avLst/>
          </a:prstGeom>
          <a:noFill/>
        </p:spPr>
        <p:txBody>
          <a:bodyPr wrap="square">
            <a:spAutoFit/>
          </a:bodyPr>
          <a:lstStyle/>
          <a:p>
            <a:pPr marL="457200" lvl="0" indent="-457200" defTabSz="933450">
              <a:lnSpc>
                <a:spcPct val="90000"/>
              </a:lnSpc>
              <a:spcBef>
                <a:spcPct val="0"/>
              </a:spcBef>
              <a:spcAft>
                <a:spcPct val="35000"/>
              </a:spcAft>
              <a:buFont typeface="Arial" panose="020B0604020202020204" pitchFamily="34" charset="0"/>
              <a:buChar char="•"/>
            </a:pPr>
            <a:r>
              <a:rPr lang="en-US" sz="2800" kern="1200" dirty="0"/>
              <a:t>Patient Engagement and Education</a:t>
            </a:r>
            <a:endParaRPr lang="ar-AE" sz="2800" kern="1200" dirty="0"/>
          </a:p>
        </p:txBody>
      </p:sp>
    </p:spTree>
    <p:extLst>
      <p:ext uri="{BB962C8B-B14F-4D97-AF65-F5344CB8AC3E}">
        <p14:creationId xmlns:p14="http://schemas.microsoft.com/office/powerpoint/2010/main" val="622328355"/>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C68FCC-7B28-4B13-80DA-8F5D6ACCB394}"/>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95571657-1B3F-4353-86FD-9D182AD3AFDE}"/>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82DBF456-F97A-4463-BBEF-4A2D8F1E51B3}"/>
              </a:ext>
            </a:extLst>
          </p:cNvPr>
          <p:cNvSpPr>
            <a:spLocks noGrp="1"/>
          </p:cNvSpPr>
          <p:nvPr>
            <p:ph type="sldNum" sz="quarter" idx="12"/>
          </p:nvPr>
        </p:nvSpPr>
        <p:spPr/>
        <p:txBody>
          <a:bodyPr/>
          <a:lstStyle/>
          <a:p>
            <a:fld id="{2C11977B-EEE1-4D56-A6CE-8035002D8A82}" type="slidenum">
              <a:rPr lang="en-US" smtClean="0"/>
              <a:t>4</a:t>
            </a:fld>
            <a:endParaRPr lang="en-US"/>
          </a:p>
        </p:txBody>
      </p:sp>
      <p:pic>
        <p:nvPicPr>
          <p:cNvPr id="34" name="Picture 33">
            <a:extLst>
              <a:ext uri="{FF2B5EF4-FFF2-40B4-BE49-F238E27FC236}">
                <a16:creationId xmlns:a16="http://schemas.microsoft.com/office/drawing/2014/main" id="{4F894D92-3D2D-4B45-A12C-7BE8837C11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6" name="TextBox 35">
            <a:extLst>
              <a:ext uri="{FF2B5EF4-FFF2-40B4-BE49-F238E27FC236}">
                <a16:creationId xmlns:a16="http://schemas.microsoft.com/office/drawing/2014/main" id="{62C6A4F0-3A3C-44AB-B321-BAD4AEEA7856}"/>
              </a:ext>
            </a:extLst>
          </p:cNvPr>
          <p:cNvSpPr txBox="1"/>
          <p:nvPr/>
        </p:nvSpPr>
        <p:spPr>
          <a:xfrm>
            <a:off x="3207470" y="1232863"/>
            <a:ext cx="6094428" cy="625428"/>
          </a:xfrm>
          <a:prstGeom prst="rect">
            <a:avLst/>
          </a:prstGeom>
          <a:noFill/>
        </p:spPr>
        <p:txBody>
          <a:bodyPr wrap="square">
            <a:spAutoFit/>
          </a:bodyPr>
          <a:lstStyle/>
          <a:p>
            <a:pPr marL="0" marR="0" algn="l">
              <a:lnSpc>
                <a:spcPct val="115000"/>
              </a:lnSpc>
              <a:spcAft>
                <a:spcPts val="800"/>
              </a:spcAft>
              <a:buNone/>
            </a:pPr>
            <a:r>
              <a:rPr lang="en-US" sz="3200" b="1" dirty="0">
                <a:solidFill>
                  <a:schemeClr val="accent2">
                    <a:lumMod val="50000"/>
                  </a:schemeClr>
                </a:solidFill>
                <a:latin typeface="Calibri Light" panose="020F0302020204030204" pitchFamily="34" charset="0"/>
                <a:cs typeface="Times New Roman" panose="02020603050405020304" pitchFamily="18" charset="0"/>
              </a:rPr>
              <a:t>Literature Review and Previous Work</a:t>
            </a:r>
          </a:p>
        </p:txBody>
      </p:sp>
      <p:sp>
        <p:nvSpPr>
          <p:cNvPr id="38" name="TextBox 37">
            <a:extLst>
              <a:ext uri="{FF2B5EF4-FFF2-40B4-BE49-F238E27FC236}">
                <a16:creationId xmlns:a16="http://schemas.microsoft.com/office/drawing/2014/main" id="{AB60E0E3-DD6E-469E-9DBF-03C74B96E57F}"/>
              </a:ext>
            </a:extLst>
          </p:cNvPr>
          <p:cNvSpPr txBox="1"/>
          <p:nvPr/>
        </p:nvSpPr>
        <p:spPr>
          <a:xfrm>
            <a:off x="1262408" y="2663299"/>
            <a:ext cx="8719792" cy="3875613"/>
          </a:xfrm>
          <a:prstGeom prst="rect">
            <a:avLst/>
          </a:prstGeom>
          <a:noFill/>
        </p:spPr>
        <p:txBody>
          <a:bodyPr wrap="square">
            <a:spAutoFit/>
          </a:bodyPr>
          <a:lstStyle/>
          <a:p>
            <a:pPr marL="0" marR="0" algn="l">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Arial" panose="020B0604020202020204" pitchFamily="34" charset="0"/>
              </a:rPr>
              <a:t>First study: </a:t>
            </a:r>
            <a:r>
              <a:rPr lang="en-US" sz="2400" b="1" kern="100" dirty="0" err="1">
                <a:effectLst/>
                <a:latin typeface="Calibri" panose="020F0502020204030204" pitchFamily="34" charset="0"/>
                <a:ea typeface="Calibri" panose="020F0502020204030204" pitchFamily="34" charset="0"/>
                <a:cs typeface="Arial" panose="020B0604020202020204" pitchFamily="34" charset="0"/>
              </a:rPr>
              <a:t>OpenMRS</a:t>
            </a:r>
            <a:r>
              <a:rPr lang="en-US" sz="2400" b="1" kern="100" dirty="0">
                <a:effectLst/>
                <a:latin typeface="Calibri" panose="020F0502020204030204" pitchFamily="34" charset="0"/>
                <a:ea typeface="Calibri" panose="020F0502020204030204" pitchFamily="34" charset="0"/>
                <a:cs typeface="Arial" panose="020B0604020202020204" pitchFamily="34" charset="0"/>
              </a:rPr>
              <a:t>: Design and Implementation of an Open Source HER</a:t>
            </a:r>
          </a:p>
          <a:p>
            <a:pPr marL="0" marR="0" algn="l">
              <a:lnSpc>
                <a:spcPct val="115000"/>
              </a:lnSpc>
              <a:spcAft>
                <a:spcPts val="800"/>
              </a:spcAft>
              <a:buNone/>
            </a:pPr>
            <a:endParaRPr lang="en-US" sz="24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15000"/>
              </a:lnSpc>
              <a:spcAft>
                <a:spcPts val="800"/>
              </a:spcAft>
              <a:buNone/>
            </a:pPr>
            <a:r>
              <a:rPr lang="en-US" sz="2400" b="1" kern="100" dirty="0">
                <a:effectLst/>
                <a:latin typeface="Calibri" panose="020F0502020204030204" pitchFamily="34" charset="0"/>
                <a:ea typeface="Calibri" panose="020F0502020204030204" pitchFamily="34" charset="0"/>
                <a:cs typeface="Arial" panose="020B0604020202020204" pitchFamily="34" charset="0"/>
              </a:rPr>
              <a:t>Second study:</a:t>
            </a:r>
            <a:r>
              <a:rPr lang="ar-AE" sz="2400" b="1" kern="100" dirty="0">
                <a:effectLst/>
                <a:latin typeface="Calibri" panose="020F0502020204030204" pitchFamily="34" charset="0"/>
                <a:ea typeface="Calibri" panose="020F0502020204030204" pitchFamily="34" charset="0"/>
                <a:cs typeface="Arial" panose="020B0604020202020204" pitchFamily="34" charset="0"/>
              </a:rPr>
              <a:t> </a:t>
            </a:r>
            <a:r>
              <a:rPr lang="en-US" sz="2400" b="1" i="0" dirty="0">
                <a:solidFill>
                  <a:srgbClr val="0F172A"/>
                </a:solidFill>
                <a:effectLst/>
                <a:latin typeface="Plus Jakarta Sans"/>
              </a:rPr>
              <a:t>GNU Health: Free Health and Hospital Information System</a:t>
            </a:r>
          </a:p>
          <a:p>
            <a:pPr marL="0" marR="0" algn="l">
              <a:lnSpc>
                <a:spcPct val="115000"/>
              </a:lnSpc>
              <a:spcAft>
                <a:spcPts val="800"/>
              </a:spcAft>
              <a:buNone/>
            </a:pPr>
            <a:endParaRPr lang="en-US" sz="2400" b="1" kern="100" dirty="0">
              <a:effectLst/>
              <a:latin typeface="Calibri" panose="020F0502020204030204" pitchFamily="34" charset="0"/>
              <a:ea typeface="Calibri" panose="020F0502020204030204" pitchFamily="34" charset="0"/>
              <a:cs typeface="Arial" panose="020B0604020202020204" pitchFamily="34" charset="0"/>
            </a:endParaRPr>
          </a:p>
          <a:p>
            <a:pPr marL="0" marR="0" algn="l">
              <a:lnSpc>
                <a:spcPct val="115000"/>
              </a:lnSpc>
              <a:spcAft>
                <a:spcPts val="800"/>
              </a:spcAft>
              <a:buNone/>
            </a:pPr>
            <a:r>
              <a:rPr lang="en-US" sz="2400" b="1" kern="100" dirty="0">
                <a:latin typeface="Calibri" panose="020F0502020204030204" pitchFamily="34" charset="0"/>
                <a:ea typeface="Calibri" panose="020F0502020204030204" pitchFamily="34" charset="0"/>
                <a:cs typeface="Arial" panose="020B0604020202020204" pitchFamily="34" charset="0"/>
              </a:rPr>
              <a:t>Third study: </a:t>
            </a:r>
            <a:r>
              <a:rPr lang="en-US" sz="2400" b="1" i="0" dirty="0">
                <a:solidFill>
                  <a:srgbClr val="0F172A"/>
                </a:solidFill>
                <a:effectLst/>
                <a:latin typeface="Plus Jakarta Sans"/>
              </a:rPr>
              <a:t>Commercial Medical Software vs. Custom Web-Based Systems</a:t>
            </a:r>
            <a:endParaRPr lang="en-US" sz="2400" b="1" kern="1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33876391"/>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A17D16-B1B6-4A78-9AD8-1CB00C903140}"/>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09C17F2D-8874-4E6C-85AC-150B0EDAEF33}"/>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080DEE38-8A7F-47D9-9877-7A32008A05EA}"/>
              </a:ext>
            </a:extLst>
          </p:cNvPr>
          <p:cNvSpPr>
            <a:spLocks noGrp="1"/>
          </p:cNvSpPr>
          <p:nvPr>
            <p:ph type="sldNum" sz="quarter" idx="12"/>
          </p:nvPr>
        </p:nvSpPr>
        <p:spPr/>
        <p:txBody>
          <a:bodyPr/>
          <a:lstStyle/>
          <a:p>
            <a:fld id="{2C11977B-EEE1-4D56-A6CE-8035002D8A82}" type="slidenum">
              <a:rPr lang="en-US" smtClean="0"/>
              <a:t>5</a:t>
            </a:fld>
            <a:endParaRPr lang="en-US"/>
          </a:p>
        </p:txBody>
      </p:sp>
      <p:pic>
        <p:nvPicPr>
          <p:cNvPr id="6" name="Picture 5">
            <a:extLst>
              <a:ext uri="{FF2B5EF4-FFF2-40B4-BE49-F238E27FC236}">
                <a16:creationId xmlns:a16="http://schemas.microsoft.com/office/drawing/2014/main" id="{3A1F1C0C-1C35-4698-9EB5-9AB0618CB8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4CBC91BE-26D8-4162-B66F-4A9230784F36}"/>
              </a:ext>
            </a:extLst>
          </p:cNvPr>
          <p:cNvSpPr txBox="1"/>
          <p:nvPr/>
        </p:nvSpPr>
        <p:spPr>
          <a:xfrm>
            <a:off x="3735584" y="255273"/>
            <a:ext cx="6094476" cy="625428"/>
          </a:xfrm>
          <a:prstGeom prst="rect">
            <a:avLst/>
          </a:prstGeom>
          <a:noFill/>
        </p:spPr>
        <p:txBody>
          <a:bodyPr wrap="square">
            <a:spAutoFit/>
          </a:bodyPr>
          <a:lstStyle/>
          <a:p>
            <a:pPr marL="0" marR="0" algn="l">
              <a:lnSpc>
                <a:spcPct val="115000"/>
              </a:lnSpc>
              <a:spcAft>
                <a:spcPts val="800"/>
              </a:spcAft>
              <a:buNone/>
            </a:pPr>
            <a:r>
              <a:rPr lang="en-US" sz="3200" b="1" dirty="0">
                <a:solidFill>
                  <a:schemeClr val="accent2">
                    <a:lumMod val="50000"/>
                  </a:schemeClr>
                </a:solidFill>
                <a:latin typeface="Calibri Light" panose="020F0302020204030204" pitchFamily="34" charset="0"/>
                <a:cs typeface="Times New Roman" panose="02020603050405020304" pitchFamily="18" charset="0"/>
              </a:rPr>
              <a:t>Comparison of previous studies</a:t>
            </a:r>
          </a:p>
        </p:txBody>
      </p:sp>
      <p:graphicFrame>
        <p:nvGraphicFramePr>
          <p:cNvPr id="8" name="جدول 6">
            <a:extLst>
              <a:ext uri="{FF2B5EF4-FFF2-40B4-BE49-F238E27FC236}">
                <a16:creationId xmlns:a16="http://schemas.microsoft.com/office/drawing/2014/main" id="{E2CC075C-A876-4B06-9FC2-54456E87AC96}"/>
              </a:ext>
            </a:extLst>
          </p:cNvPr>
          <p:cNvGraphicFramePr>
            <a:graphicFrameLocks noGrp="1"/>
          </p:cNvGraphicFramePr>
          <p:nvPr>
            <p:extLst>
              <p:ext uri="{D42A27DB-BD31-4B8C-83A1-F6EECF244321}">
                <p14:modId xmlns:p14="http://schemas.microsoft.com/office/powerpoint/2010/main" val="1896978649"/>
              </p:ext>
            </p:extLst>
          </p:nvPr>
        </p:nvGraphicFramePr>
        <p:xfrm>
          <a:off x="1702061" y="1409213"/>
          <a:ext cx="8127999" cy="2291080"/>
        </p:xfrm>
        <a:graphic>
          <a:graphicData uri="http://schemas.openxmlformats.org/drawingml/2006/table">
            <a:tbl>
              <a:tblPr rtl="1" firstRow="1" bandRow="1">
                <a:tableStyleId>{5C22544A-7EE6-4342-B048-85BDC9FD1C3A}</a:tableStyleId>
              </a:tblPr>
              <a:tblGrid>
                <a:gridCol w="2709333">
                  <a:extLst>
                    <a:ext uri="{9D8B030D-6E8A-4147-A177-3AD203B41FA5}">
                      <a16:colId xmlns:a16="http://schemas.microsoft.com/office/drawing/2014/main" val="3188836662"/>
                    </a:ext>
                  </a:extLst>
                </a:gridCol>
                <a:gridCol w="2709333">
                  <a:extLst>
                    <a:ext uri="{9D8B030D-6E8A-4147-A177-3AD203B41FA5}">
                      <a16:colId xmlns:a16="http://schemas.microsoft.com/office/drawing/2014/main" val="3376917454"/>
                    </a:ext>
                  </a:extLst>
                </a:gridCol>
                <a:gridCol w="2709333">
                  <a:extLst>
                    <a:ext uri="{9D8B030D-6E8A-4147-A177-3AD203B41FA5}">
                      <a16:colId xmlns:a16="http://schemas.microsoft.com/office/drawing/2014/main" val="1785614208"/>
                    </a:ext>
                  </a:extLst>
                </a:gridCol>
              </a:tblGrid>
              <a:tr h="370840">
                <a:tc>
                  <a:txBody>
                    <a:bodyPr/>
                    <a:lstStyle/>
                    <a:p>
                      <a:pPr algn="ctr" rtl="1"/>
                      <a:r>
                        <a:rPr lang="en-US" dirty="0"/>
                        <a:t>Limitation</a:t>
                      </a:r>
                      <a:endParaRPr lang="ar-SA" dirty="0"/>
                    </a:p>
                  </a:txBody>
                  <a:tcPr anchor="ctr">
                    <a:solidFill>
                      <a:schemeClr val="accent5">
                        <a:lumMod val="50000"/>
                      </a:schemeClr>
                    </a:solidFill>
                  </a:tcPr>
                </a:tc>
                <a:tc>
                  <a:txBody>
                    <a:bodyPr/>
                    <a:lstStyle/>
                    <a:p>
                      <a:pPr algn="ctr" rtl="1"/>
                      <a:r>
                        <a:rPr lang="en-US" dirty="0"/>
                        <a:t>Contribution</a:t>
                      </a:r>
                      <a:endParaRPr lang="ar-SA" dirty="0"/>
                    </a:p>
                  </a:txBody>
                  <a:tcPr anchor="ctr">
                    <a:solidFill>
                      <a:schemeClr val="accent5">
                        <a:lumMod val="50000"/>
                      </a:schemeClr>
                    </a:solidFill>
                  </a:tcPr>
                </a:tc>
                <a:tc>
                  <a:txBody>
                    <a:bodyPr/>
                    <a:lstStyle/>
                    <a:p>
                      <a:pPr algn="ctr" rtl="1"/>
                      <a:r>
                        <a:rPr lang="en-US" dirty="0"/>
                        <a:t>System</a:t>
                      </a:r>
                      <a:endParaRPr lang="ar-SA" dirty="0"/>
                    </a:p>
                  </a:txBody>
                  <a:tcPr anchor="ctr">
                    <a:solidFill>
                      <a:schemeClr val="accent5">
                        <a:lumMod val="50000"/>
                      </a:schemeClr>
                    </a:solidFill>
                  </a:tcPr>
                </a:tc>
                <a:extLst>
                  <a:ext uri="{0D108BD9-81ED-4DB2-BD59-A6C34878D82A}">
                    <a16:rowId xmlns:a16="http://schemas.microsoft.com/office/drawing/2014/main" val="4100700989"/>
                  </a:ext>
                </a:extLst>
              </a:tr>
              <a:tr h="370840">
                <a:tc>
                  <a:txBody>
                    <a:bodyPr/>
                    <a:lstStyle/>
                    <a:p>
                      <a:pPr algn="ctr" rtl="1"/>
                      <a:r>
                        <a:rPr lang="en-US" dirty="0"/>
                        <a:t>Complex setup, steep learning curve </a:t>
                      </a:r>
                      <a:endParaRPr lang="ar-SA" dirty="0"/>
                    </a:p>
                  </a:txBody>
                  <a:tcPr anchor="ctr"/>
                </a:tc>
                <a:tc>
                  <a:txBody>
                    <a:bodyPr/>
                    <a:lstStyle/>
                    <a:p>
                      <a:pPr algn="ctr" rtl="1"/>
                      <a:r>
                        <a:rPr lang="en-US" dirty="0"/>
                        <a:t>Open-source </a:t>
                      </a:r>
                      <a:r>
                        <a:rPr lang="en-US" dirty="0" err="1"/>
                        <a:t>EMR</a:t>
                      </a:r>
                      <a:r>
                        <a:rPr lang="en-US" dirty="0"/>
                        <a:t>, modular, API-ready </a:t>
                      </a:r>
                      <a:endParaRPr lang="ar-SA" dirty="0"/>
                    </a:p>
                  </a:txBody>
                  <a:tcPr anchor="ctr"/>
                </a:tc>
                <a:tc>
                  <a:txBody>
                    <a:bodyPr/>
                    <a:lstStyle/>
                    <a:p>
                      <a:pPr algn="ctr" rtl="1"/>
                      <a:r>
                        <a:rPr lang="en-US" dirty="0" err="1"/>
                        <a:t>OpenMRS</a:t>
                      </a:r>
                      <a:endParaRPr lang="ar-SA" dirty="0"/>
                    </a:p>
                  </a:txBody>
                  <a:tcPr anchor="ctr"/>
                </a:tc>
                <a:extLst>
                  <a:ext uri="{0D108BD9-81ED-4DB2-BD59-A6C34878D82A}">
                    <a16:rowId xmlns:a16="http://schemas.microsoft.com/office/drawing/2014/main" val="1918131972"/>
                  </a:ext>
                </a:extLst>
              </a:tr>
              <a:tr h="370840">
                <a:tc>
                  <a:txBody>
                    <a:bodyPr/>
                    <a:lstStyle/>
                    <a:p>
                      <a:pPr algn="ctr" rtl="1"/>
                      <a:r>
                        <a:rPr lang="en-US" dirty="0"/>
                        <a:t>Linux/PostgreSQL dependency </a:t>
                      </a:r>
                      <a:endParaRPr lang="ar-SA" dirty="0"/>
                    </a:p>
                  </a:txBody>
                  <a:tcPr anchor="ctr"/>
                </a:tc>
                <a:tc>
                  <a:txBody>
                    <a:bodyPr/>
                    <a:lstStyle/>
                    <a:p>
                      <a:pPr algn="ctr" rtl="1"/>
                      <a:r>
                        <a:rPr lang="en-US" dirty="0"/>
                        <a:t>Comprehensive </a:t>
                      </a:r>
                      <a:r>
                        <a:rPr lang="en-US" dirty="0" err="1"/>
                        <a:t>EHR</a:t>
                      </a:r>
                      <a:r>
                        <a:rPr lang="en-US" dirty="0"/>
                        <a:t> + finance modules </a:t>
                      </a:r>
                      <a:endParaRPr lang="ar-SA" dirty="0"/>
                    </a:p>
                  </a:txBody>
                  <a:tcPr anchor="ctr"/>
                </a:tc>
                <a:tc>
                  <a:txBody>
                    <a:bodyPr/>
                    <a:lstStyle/>
                    <a:p>
                      <a:pPr algn="ctr" rtl="1"/>
                      <a:r>
                        <a:rPr lang="en-US" dirty="0"/>
                        <a:t>GNU Health</a:t>
                      </a:r>
                      <a:endParaRPr lang="ar-SA" dirty="0"/>
                    </a:p>
                  </a:txBody>
                  <a:tcPr anchor="ctr"/>
                </a:tc>
                <a:extLst>
                  <a:ext uri="{0D108BD9-81ED-4DB2-BD59-A6C34878D82A}">
                    <a16:rowId xmlns:a16="http://schemas.microsoft.com/office/drawing/2014/main" val="1459667133"/>
                  </a:ext>
                </a:extLst>
              </a:tr>
              <a:tr h="370840">
                <a:tc>
                  <a:txBody>
                    <a:bodyPr/>
                    <a:lstStyle/>
                    <a:p>
                      <a:pPr algn="ctr" rtl="1"/>
                      <a:r>
                        <a:rPr lang="en-US" dirty="0"/>
                        <a:t>Commercial license, English-only </a:t>
                      </a:r>
                      <a:endParaRPr lang="ar-SA" dirty="0"/>
                    </a:p>
                  </a:txBody>
                  <a:tcPr anchor="ctr"/>
                </a:tc>
                <a:tc>
                  <a:txBody>
                    <a:bodyPr/>
                    <a:lstStyle/>
                    <a:p>
                      <a:pPr algn="ctr" rtl="1"/>
                      <a:r>
                        <a:rPr lang="en-US" dirty="0"/>
                        <a:t>User-friendly, private-practice focused </a:t>
                      </a:r>
                      <a:endParaRPr lang="ar-SA" dirty="0"/>
                    </a:p>
                  </a:txBody>
                  <a:tcPr anchor="ctr"/>
                </a:tc>
                <a:tc>
                  <a:txBody>
                    <a:bodyPr/>
                    <a:lstStyle/>
                    <a:p>
                      <a:pPr algn="ctr" rtl="1"/>
                      <a:r>
                        <a:rPr lang="en-US" dirty="0" err="1"/>
                        <a:t>ClinicMaster</a:t>
                      </a:r>
                      <a:endParaRPr lang="ar-SA" dirty="0"/>
                    </a:p>
                  </a:txBody>
                  <a:tcPr anchor="ctr"/>
                </a:tc>
                <a:extLst>
                  <a:ext uri="{0D108BD9-81ED-4DB2-BD59-A6C34878D82A}">
                    <a16:rowId xmlns:a16="http://schemas.microsoft.com/office/drawing/2014/main" val="2114683431"/>
                  </a:ext>
                </a:extLst>
              </a:tr>
            </a:tbl>
          </a:graphicData>
        </a:graphic>
      </p:graphicFrame>
      <p:sp>
        <p:nvSpPr>
          <p:cNvPr id="10" name="TextBox 9">
            <a:extLst>
              <a:ext uri="{FF2B5EF4-FFF2-40B4-BE49-F238E27FC236}">
                <a16:creationId xmlns:a16="http://schemas.microsoft.com/office/drawing/2014/main" id="{AB8E4FC8-1DC5-4CF3-873F-A738608EE2C3}"/>
              </a:ext>
            </a:extLst>
          </p:cNvPr>
          <p:cNvSpPr txBox="1"/>
          <p:nvPr/>
        </p:nvSpPr>
        <p:spPr>
          <a:xfrm>
            <a:off x="1561707" y="4012659"/>
            <a:ext cx="8788923" cy="2031325"/>
          </a:xfrm>
          <a:prstGeom prst="rect">
            <a:avLst/>
          </a:prstGeom>
          <a:noFill/>
        </p:spPr>
        <p:txBody>
          <a:bodyPr wrap="square">
            <a:spAutoFit/>
          </a:bodyPr>
          <a:lstStyle/>
          <a:p>
            <a:pPr algn="l" rtl="0"/>
            <a:r>
              <a:rPr lang="en-US" dirty="0"/>
              <a:t>1. Research Gap:</a:t>
            </a:r>
          </a:p>
          <a:p>
            <a:pPr algn="ctr" rtl="0"/>
            <a:r>
              <a:rPr lang="en-US" dirty="0"/>
              <a:t>No existing system offers a lightweight, Arabic-native, academically-validated solution for mid-sized health centers with integrated patient feedback.</a:t>
            </a:r>
          </a:p>
          <a:p>
            <a:pPr algn="l" rtl="0"/>
            <a:endParaRPr lang="en-US" dirty="0"/>
          </a:p>
          <a:p>
            <a:pPr algn="l" rtl="0"/>
            <a:r>
              <a:rPr lang="en-US" dirty="0"/>
              <a:t>2. Our Innovation:</a:t>
            </a:r>
          </a:p>
          <a:p>
            <a:pPr algn="ctr" rtl="0"/>
            <a:r>
              <a:rPr lang="en-US" dirty="0"/>
              <a:t>HCMS combines iterative software engineering, explicit requirement traceability (RTM), and patient-centric features (surveys, ratings, articles) in a cost-free, RTL-optimized package.</a:t>
            </a:r>
            <a:endParaRPr lang="ar-SA" dirty="0"/>
          </a:p>
        </p:txBody>
      </p:sp>
    </p:spTree>
    <p:extLst>
      <p:ext uri="{BB962C8B-B14F-4D97-AF65-F5344CB8AC3E}">
        <p14:creationId xmlns:p14="http://schemas.microsoft.com/office/powerpoint/2010/main" val="1114823128"/>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216912-589E-49F2-8F8A-BE62A0E39106}"/>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49700FA2-E552-4D8A-ACDB-D677B8FD43C8}"/>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DB5F3483-8870-4C08-BCB6-F58E1BDA7699}"/>
              </a:ext>
            </a:extLst>
          </p:cNvPr>
          <p:cNvSpPr>
            <a:spLocks noGrp="1"/>
          </p:cNvSpPr>
          <p:nvPr>
            <p:ph type="sldNum" sz="quarter" idx="12"/>
          </p:nvPr>
        </p:nvSpPr>
        <p:spPr/>
        <p:txBody>
          <a:bodyPr/>
          <a:lstStyle/>
          <a:p>
            <a:fld id="{2C11977B-EEE1-4D56-A6CE-8035002D8A82}" type="slidenum">
              <a:rPr lang="en-US" smtClean="0"/>
              <a:t>6</a:t>
            </a:fld>
            <a:endParaRPr lang="en-US"/>
          </a:p>
        </p:txBody>
      </p:sp>
      <p:pic>
        <p:nvPicPr>
          <p:cNvPr id="6" name="Picture 5">
            <a:extLst>
              <a:ext uri="{FF2B5EF4-FFF2-40B4-BE49-F238E27FC236}">
                <a16:creationId xmlns:a16="http://schemas.microsoft.com/office/drawing/2014/main" id="{246BAB79-F7B1-44FC-9561-947CA25DEF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BEA446E3-A49D-4E52-A166-073E23D69700}"/>
              </a:ext>
            </a:extLst>
          </p:cNvPr>
          <p:cNvSpPr txBox="1"/>
          <p:nvPr/>
        </p:nvSpPr>
        <p:spPr>
          <a:xfrm>
            <a:off x="2981226" y="350674"/>
            <a:ext cx="7458173" cy="625428"/>
          </a:xfrm>
          <a:prstGeom prst="rect">
            <a:avLst/>
          </a:prstGeom>
          <a:noFill/>
        </p:spPr>
        <p:txBody>
          <a:bodyPr wrap="square">
            <a:spAutoFit/>
          </a:bodyPr>
          <a:lstStyle/>
          <a:p>
            <a:pPr marL="0" marR="0" algn="l">
              <a:lnSpc>
                <a:spcPct val="115000"/>
              </a:lnSpc>
              <a:spcAft>
                <a:spcPts val="800"/>
              </a:spcAft>
              <a:buNone/>
            </a:pPr>
            <a:r>
              <a:rPr lang="en-US" sz="3200" b="1" dirty="0">
                <a:solidFill>
                  <a:schemeClr val="accent2">
                    <a:lumMod val="50000"/>
                  </a:schemeClr>
                </a:solidFill>
                <a:latin typeface="Calibri Light" panose="020F0302020204030204" pitchFamily="34" charset="0"/>
                <a:cs typeface="Times New Roman" panose="02020603050405020304" pitchFamily="18" charset="0"/>
              </a:rPr>
              <a:t>General Functional System Requirements</a:t>
            </a:r>
            <a:endParaRPr lang="en-US" sz="3200" kern="100" dirty="0">
              <a:solidFill>
                <a:schemeClr val="accent2">
                  <a:lumMod val="50000"/>
                </a:schemeClr>
              </a:solidFill>
              <a:effectLst/>
              <a:latin typeface="Calibri" panose="020F0502020204030204" pitchFamily="34" charset="0"/>
              <a:ea typeface="Calibri" panose="020F050202020403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5F527957-5BA4-44CE-AEB4-6690F39E6A73}"/>
              </a:ext>
            </a:extLst>
          </p:cNvPr>
          <p:cNvGraphicFramePr>
            <a:graphicFrameLocks noGrp="1"/>
          </p:cNvGraphicFramePr>
          <p:nvPr>
            <p:extLst>
              <p:ext uri="{D42A27DB-BD31-4B8C-83A1-F6EECF244321}">
                <p14:modId xmlns:p14="http://schemas.microsoft.com/office/powerpoint/2010/main" val="2166240847"/>
              </p:ext>
            </p:extLst>
          </p:nvPr>
        </p:nvGraphicFramePr>
        <p:xfrm>
          <a:off x="1375409" y="1674796"/>
          <a:ext cx="9441181" cy="4019930"/>
        </p:xfrm>
        <a:graphic>
          <a:graphicData uri="http://schemas.openxmlformats.org/drawingml/2006/table">
            <a:tbl>
              <a:tblPr firstRow="1" firstCol="1" bandRow="1">
                <a:tableStyleId>{5C22544A-7EE6-4342-B048-85BDC9FD1C3A}</a:tableStyleId>
              </a:tblPr>
              <a:tblGrid>
                <a:gridCol w="2198472">
                  <a:extLst>
                    <a:ext uri="{9D8B030D-6E8A-4147-A177-3AD203B41FA5}">
                      <a16:colId xmlns:a16="http://schemas.microsoft.com/office/drawing/2014/main" val="3869976493"/>
                    </a:ext>
                  </a:extLst>
                </a:gridCol>
                <a:gridCol w="7242709">
                  <a:extLst>
                    <a:ext uri="{9D8B030D-6E8A-4147-A177-3AD203B41FA5}">
                      <a16:colId xmlns:a16="http://schemas.microsoft.com/office/drawing/2014/main" val="1345684223"/>
                    </a:ext>
                  </a:extLst>
                </a:gridCol>
              </a:tblGrid>
              <a:tr h="720477">
                <a:tc>
                  <a:txBody>
                    <a:bodyPr/>
                    <a:lstStyle/>
                    <a:p>
                      <a:pPr marL="0" marR="0" algn="ctr" rtl="1">
                        <a:lnSpc>
                          <a:spcPct val="115000"/>
                        </a:lnSpc>
                        <a:spcAft>
                          <a:spcPts val="800"/>
                        </a:spcAft>
                        <a:buNone/>
                      </a:pPr>
                      <a:r>
                        <a:rPr lang="en-US" sz="1800" kern="100" dirty="0">
                          <a:effectLst/>
                        </a:rPr>
                        <a:t>ID</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5">
                        <a:lumMod val="50000"/>
                      </a:schemeClr>
                    </a:solidFill>
                  </a:tcPr>
                </a:tc>
                <a:tc>
                  <a:txBody>
                    <a:bodyPr/>
                    <a:lstStyle/>
                    <a:p>
                      <a:pPr marL="0" marR="0" algn="ctr">
                        <a:lnSpc>
                          <a:spcPct val="115000"/>
                        </a:lnSpc>
                        <a:spcAft>
                          <a:spcPts val="800"/>
                        </a:spcAft>
                        <a:buNone/>
                      </a:pPr>
                      <a:r>
                        <a:rPr lang="en-US" sz="1800" kern="100" dirty="0">
                          <a:effectLst/>
                        </a:rPr>
                        <a:t>General Functional Requirement</a:t>
                      </a:r>
                    </a:p>
                  </a:txBody>
                  <a:tcPr marL="68580" marR="68580" marT="0" marB="0">
                    <a:solidFill>
                      <a:schemeClr val="accent5">
                        <a:lumMod val="50000"/>
                      </a:schemeClr>
                    </a:solidFill>
                  </a:tcPr>
                </a:tc>
                <a:extLst>
                  <a:ext uri="{0D108BD9-81ED-4DB2-BD59-A6C34878D82A}">
                    <a16:rowId xmlns:a16="http://schemas.microsoft.com/office/drawing/2014/main" val="188261995"/>
                  </a:ext>
                </a:extLst>
              </a:tr>
              <a:tr h="1028461">
                <a:tc>
                  <a:txBody>
                    <a:bodyPr/>
                    <a:lstStyle/>
                    <a:p>
                      <a:pPr marL="0" marR="0" rtl="0">
                        <a:lnSpc>
                          <a:spcPct val="115000"/>
                        </a:lnSpc>
                        <a:spcAft>
                          <a:spcPts val="800"/>
                        </a:spcAft>
                        <a:buNone/>
                      </a:pPr>
                      <a:r>
                        <a:rPr lang="en-US" sz="1800" kern="100" dirty="0">
                          <a:effectLst/>
                        </a:rPr>
                        <a:t>FR-G01</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5">
                        <a:lumMod val="50000"/>
                      </a:schemeClr>
                    </a:solidFill>
                  </a:tcPr>
                </a:tc>
                <a:tc>
                  <a:txBody>
                    <a:bodyPr/>
                    <a:lstStyle/>
                    <a:p>
                      <a:pPr marL="0" marR="0" algn="l" rtl="0">
                        <a:lnSpc>
                          <a:spcPct val="115000"/>
                        </a:lnSpc>
                        <a:spcAft>
                          <a:spcPts val="800"/>
                        </a:spcAft>
                        <a:buNone/>
                      </a:pPr>
                      <a:r>
                        <a:rPr lang="en-US" sz="1800" kern="100" dirty="0">
                          <a:effectLst/>
                        </a:rPr>
                        <a:t>The system must allow User Authentication &amp; Role-Based Access Control (RBAC)</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80829091"/>
                  </a:ext>
                </a:extLst>
              </a:tr>
              <a:tr h="56774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FR-G02</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5">
                        <a:lumMod val="5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The system must allow Clinical &amp; Patient Data Management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485496856"/>
                  </a:ext>
                </a:extLst>
              </a:tr>
              <a:tr h="56774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FR-G03</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5">
                        <a:lumMod val="5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The system must allow Appointment Scheduling &amp; Tracking</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79700579"/>
                  </a:ext>
                </a:extLst>
              </a:tr>
              <a:tr h="56774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FR-G04</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5">
                        <a:lumMod val="5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The system must allow Administrative &amp; Financial Oversight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93996681"/>
                  </a:ext>
                </a:extLst>
              </a:tr>
              <a:tr h="567748">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FR-G05</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solidFill>
                      <a:schemeClr val="accent5">
                        <a:lumMod val="50000"/>
                      </a:schemeClr>
                    </a:solidFill>
                  </a:tcPr>
                </a:tc>
                <a:tc>
                  <a:txBody>
                    <a:bodyPr/>
                    <a:lstStyle/>
                    <a:p>
                      <a:pPr marL="0" marR="0" lvl="0" indent="0" algn="l" defTabSz="914400" rtl="0" eaLnBrk="1" fontAlgn="auto" latinLnBrk="0" hangingPunct="1">
                        <a:lnSpc>
                          <a:spcPct val="115000"/>
                        </a:lnSpc>
                        <a:spcBef>
                          <a:spcPts val="0"/>
                        </a:spcBef>
                        <a:spcAft>
                          <a:spcPts val="800"/>
                        </a:spcAft>
                        <a:buClrTx/>
                        <a:buSzTx/>
                        <a:buFontTx/>
                        <a:buNone/>
                        <a:tabLst/>
                        <a:defRPr/>
                      </a:pPr>
                      <a:r>
                        <a:rPr lang="en-US" sz="1800" kern="100" dirty="0">
                          <a:effectLst/>
                        </a:rPr>
                        <a:t>The system must allow Patient Engagement &amp; Content Management</a:t>
                      </a:r>
                      <a:endParaRPr lang="en-US" sz="18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089383983"/>
                  </a:ext>
                </a:extLst>
              </a:tr>
            </a:tbl>
          </a:graphicData>
        </a:graphic>
      </p:graphicFrame>
    </p:spTree>
    <p:extLst>
      <p:ext uri="{BB962C8B-B14F-4D97-AF65-F5344CB8AC3E}">
        <p14:creationId xmlns:p14="http://schemas.microsoft.com/office/powerpoint/2010/main" val="3583456655"/>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E84768-2F6F-416A-8354-BB1C97752FDC}"/>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B6D049CF-019D-4792-BDA6-1CC8C7FFF826}"/>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D0FB8F5-75D6-4FB9-9D95-1E8415A7FCB0}"/>
              </a:ext>
            </a:extLst>
          </p:cNvPr>
          <p:cNvSpPr>
            <a:spLocks noGrp="1"/>
          </p:cNvSpPr>
          <p:nvPr>
            <p:ph type="sldNum" sz="quarter" idx="12"/>
          </p:nvPr>
        </p:nvSpPr>
        <p:spPr/>
        <p:txBody>
          <a:bodyPr/>
          <a:lstStyle/>
          <a:p>
            <a:fld id="{2C11977B-EEE1-4D56-A6CE-8035002D8A82}" type="slidenum">
              <a:rPr lang="en-US" smtClean="0"/>
              <a:t>7</a:t>
            </a:fld>
            <a:endParaRPr lang="en-US"/>
          </a:p>
        </p:txBody>
      </p:sp>
      <p:pic>
        <p:nvPicPr>
          <p:cNvPr id="6" name="Picture 5">
            <a:extLst>
              <a:ext uri="{FF2B5EF4-FFF2-40B4-BE49-F238E27FC236}">
                <a16:creationId xmlns:a16="http://schemas.microsoft.com/office/drawing/2014/main" id="{36354A65-4D1B-44B8-B614-948FAE14E8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F18659C9-2049-404B-81B6-FC6D296DBD02}"/>
              </a:ext>
            </a:extLst>
          </p:cNvPr>
          <p:cNvSpPr txBox="1"/>
          <p:nvPr/>
        </p:nvSpPr>
        <p:spPr>
          <a:xfrm>
            <a:off x="3396006" y="124561"/>
            <a:ext cx="6094428" cy="584775"/>
          </a:xfrm>
          <a:prstGeom prst="rect">
            <a:avLst/>
          </a:prstGeom>
          <a:noFill/>
        </p:spPr>
        <p:txBody>
          <a:bodyPr wrap="square">
            <a:spAutoFit/>
          </a:bodyPr>
          <a:lstStyle/>
          <a:p>
            <a:r>
              <a:rPr lang="en-US" sz="3200" b="1" dirty="0">
                <a:solidFill>
                  <a:schemeClr val="accent2">
                    <a:lumMod val="50000"/>
                  </a:schemeClr>
                </a:solidFill>
                <a:latin typeface="Calibri Light" panose="020F0302020204030204" pitchFamily="34" charset="0"/>
                <a:cs typeface="Times New Roman" panose="02020603050405020304" pitchFamily="18" charset="0"/>
              </a:rPr>
              <a:t> Non-Functional Requirements</a:t>
            </a:r>
            <a:endParaRPr lang="en-US" sz="3200" dirty="0">
              <a:solidFill>
                <a:schemeClr val="accent2">
                  <a:lumMod val="50000"/>
                </a:schemeClr>
              </a:solidFill>
            </a:endParaRPr>
          </a:p>
        </p:txBody>
      </p:sp>
      <p:graphicFrame>
        <p:nvGraphicFramePr>
          <p:cNvPr id="9" name="Table 8">
            <a:extLst>
              <a:ext uri="{FF2B5EF4-FFF2-40B4-BE49-F238E27FC236}">
                <a16:creationId xmlns:a16="http://schemas.microsoft.com/office/drawing/2014/main" id="{F1BC3965-6A68-4327-9D84-D635D574BBD5}"/>
              </a:ext>
            </a:extLst>
          </p:cNvPr>
          <p:cNvGraphicFramePr>
            <a:graphicFrameLocks noGrp="1"/>
          </p:cNvGraphicFramePr>
          <p:nvPr>
            <p:extLst>
              <p:ext uri="{D42A27DB-BD31-4B8C-83A1-F6EECF244321}">
                <p14:modId xmlns:p14="http://schemas.microsoft.com/office/powerpoint/2010/main" val="340299166"/>
              </p:ext>
            </p:extLst>
          </p:nvPr>
        </p:nvGraphicFramePr>
        <p:xfrm>
          <a:off x="932468" y="819744"/>
          <a:ext cx="9456945" cy="5913695"/>
        </p:xfrm>
        <a:graphic>
          <a:graphicData uri="http://schemas.openxmlformats.org/drawingml/2006/table">
            <a:tbl>
              <a:tblPr firstRow="1" firstCol="1" bandRow="1">
                <a:tableStyleId>{5C22544A-7EE6-4342-B048-85BDC9FD1C3A}</a:tableStyleId>
              </a:tblPr>
              <a:tblGrid>
                <a:gridCol w="3152315">
                  <a:extLst>
                    <a:ext uri="{9D8B030D-6E8A-4147-A177-3AD203B41FA5}">
                      <a16:colId xmlns:a16="http://schemas.microsoft.com/office/drawing/2014/main" val="2727127976"/>
                    </a:ext>
                  </a:extLst>
                </a:gridCol>
                <a:gridCol w="3152315">
                  <a:extLst>
                    <a:ext uri="{9D8B030D-6E8A-4147-A177-3AD203B41FA5}">
                      <a16:colId xmlns:a16="http://schemas.microsoft.com/office/drawing/2014/main" val="175046448"/>
                    </a:ext>
                  </a:extLst>
                </a:gridCol>
                <a:gridCol w="3152315">
                  <a:extLst>
                    <a:ext uri="{9D8B030D-6E8A-4147-A177-3AD203B41FA5}">
                      <a16:colId xmlns:a16="http://schemas.microsoft.com/office/drawing/2014/main" val="929254864"/>
                    </a:ext>
                  </a:extLst>
                </a:gridCol>
              </a:tblGrid>
              <a:tr h="349026">
                <a:tc>
                  <a:txBody>
                    <a:bodyPr/>
                    <a:lstStyle/>
                    <a:p>
                      <a:pPr algn="ctr">
                        <a:lnSpc>
                          <a:spcPct val="150000"/>
                        </a:lnSpc>
                        <a:spcAft>
                          <a:spcPts val="800"/>
                        </a:spcAft>
                      </a:pPr>
                      <a:r>
                        <a:rPr lang="en-US" sz="1050" kern="100" dirty="0">
                          <a:effectLst/>
                          <a:latin typeface="Calibri" panose="020F0502020204030204" pitchFamily="34" charset="0"/>
                          <a:ea typeface="Calibri" panose="020F0502020204030204" pitchFamily="34" charset="0"/>
                          <a:cs typeface="Arial" panose="020B0604020202020204" pitchFamily="34" charset="0"/>
                        </a:rPr>
                        <a:t>ID</a:t>
                      </a: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dirty="0">
                          <a:effectLst/>
                          <a:latin typeface="Calibri" panose="020F0502020204030204" pitchFamily="34" charset="0"/>
                          <a:ea typeface="Calibri" panose="020F0502020204030204" pitchFamily="34" charset="0"/>
                          <a:cs typeface="Arial" panose="020B0604020202020204" pitchFamily="34" charset="0"/>
                        </a:rPr>
                        <a:t>Description</a:t>
                      </a: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dirty="0">
                          <a:effectLst/>
                          <a:latin typeface="Calibri" panose="020F0502020204030204" pitchFamily="34" charset="0"/>
                          <a:ea typeface="Calibri" panose="020F0502020204030204" pitchFamily="34" charset="0"/>
                          <a:cs typeface="Arial" panose="020B0604020202020204" pitchFamily="34" charset="0"/>
                        </a:rPr>
                        <a:t>Non-Functional Requirement</a:t>
                      </a:r>
                    </a:p>
                  </a:txBody>
                  <a:tcPr marL="45454" marR="45454" marT="0" marB="0" anchor="ctr">
                    <a:solidFill>
                      <a:schemeClr val="accent5">
                        <a:lumMod val="50000"/>
                      </a:schemeClr>
                    </a:solidFill>
                  </a:tcPr>
                </a:tc>
                <a:extLst>
                  <a:ext uri="{0D108BD9-81ED-4DB2-BD59-A6C34878D82A}">
                    <a16:rowId xmlns:a16="http://schemas.microsoft.com/office/drawing/2014/main" val="90609866"/>
                  </a:ext>
                </a:extLst>
              </a:tr>
              <a:tr h="550045">
                <a:tc>
                  <a:txBody>
                    <a:bodyPr/>
                    <a:lstStyle/>
                    <a:p>
                      <a:pPr algn="ctr">
                        <a:lnSpc>
                          <a:spcPct val="150000"/>
                        </a:lnSpc>
                        <a:spcAft>
                          <a:spcPts val="800"/>
                        </a:spcAft>
                      </a:pPr>
                      <a:r>
                        <a:rPr lang="en-US" sz="1050" kern="100" dirty="0">
                          <a:effectLst/>
                        </a:rPr>
                        <a:t>NFR-01</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dirty="0">
                          <a:effectLst/>
                        </a:rPr>
                        <a:t>Usability</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dirty="0">
                          <a:effectLst/>
                        </a:rPr>
                        <a:t>The system interface must be simple, intuitive, and consistent across all modules to minimize user error.</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342618769"/>
                  </a:ext>
                </a:extLst>
              </a:tr>
              <a:tr h="362730">
                <a:tc>
                  <a:txBody>
                    <a:bodyPr/>
                    <a:lstStyle/>
                    <a:p>
                      <a:pPr algn="ctr">
                        <a:lnSpc>
                          <a:spcPct val="150000"/>
                        </a:lnSpc>
                        <a:spcAft>
                          <a:spcPts val="800"/>
                        </a:spcAft>
                      </a:pPr>
                      <a:r>
                        <a:rPr lang="en-US" sz="1050" kern="100" dirty="0">
                          <a:effectLst/>
                        </a:rPr>
                        <a:t>NFR-02</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a:effectLst/>
                        </a:rPr>
                        <a:t>Localization</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a:effectLst/>
                        </a:rPr>
                        <a:t>The system must fully support the Arabic language (RTL layout, Arabic fonts, and localized labels).</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2084326219"/>
                  </a:ext>
                </a:extLst>
              </a:tr>
              <a:tr h="553955">
                <a:tc>
                  <a:txBody>
                    <a:bodyPr/>
                    <a:lstStyle/>
                    <a:p>
                      <a:pPr algn="ctr">
                        <a:lnSpc>
                          <a:spcPct val="150000"/>
                        </a:lnSpc>
                        <a:spcAft>
                          <a:spcPts val="800"/>
                        </a:spcAft>
                      </a:pPr>
                      <a:r>
                        <a:rPr lang="en-US" sz="1050" kern="100" dirty="0">
                          <a:effectLst/>
                        </a:rPr>
                        <a:t>NFR-03</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dirty="0">
                          <a:effectLst/>
                        </a:rPr>
                        <a:t>Accuracy</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dirty="0">
                          <a:effectLst/>
                        </a:rPr>
                        <a:t>The system must perform calculations (e.g., invoices, statistics) with 100% accuracy and validate all input data formats.</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3956620792"/>
                  </a:ext>
                </a:extLst>
              </a:tr>
              <a:tr h="553955">
                <a:tc>
                  <a:txBody>
                    <a:bodyPr/>
                    <a:lstStyle/>
                    <a:p>
                      <a:pPr algn="ctr">
                        <a:lnSpc>
                          <a:spcPct val="150000"/>
                        </a:lnSpc>
                        <a:spcAft>
                          <a:spcPts val="800"/>
                        </a:spcAft>
                      </a:pPr>
                      <a:r>
                        <a:rPr lang="en-US" sz="1050" kern="100" dirty="0">
                          <a:effectLst/>
                        </a:rPr>
                        <a:t>NFR-04</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a:effectLst/>
                        </a:rPr>
                        <a:t>Availability</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a:effectLst/>
                        </a:rPr>
                        <a:t>The system must be accessible 24/7 via web browser without significant downtime during normal operations.</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925347890"/>
                  </a:ext>
                </a:extLst>
              </a:tr>
              <a:tr h="362730">
                <a:tc>
                  <a:txBody>
                    <a:bodyPr/>
                    <a:lstStyle/>
                    <a:p>
                      <a:pPr algn="ctr">
                        <a:lnSpc>
                          <a:spcPct val="150000"/>
                        </a:lnSpc>
                        <a:spcAft>
                          <a:spcPts val="800"/>
                        </a:spcAft>
                      </a:pPr>
                      <a:r>
                        <a:rPr lang="en-US" sz="1050" kern="100" dirty="0">
                          <a:effectLst/>
                        </a:rPr>
                        <a:t>NFR-05</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a:effectLst/>
                        </a:rPr>
                        <a:t>Performance</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a:effectLst/>
                        </a:rPr>
                        <a:t>Page load times and database query responses must remain under 2 seconds for standard operations.</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1660127760"/>
                  </a:ext>
                </a:extLst>
              </a:tr>
              <a:tr h="362730">
                <a:tc>
                  <a:txBody>
                    <a:bodyPr/>
                    <a:lstStyle/>
                    <a:p>
                      <a:pPr algn="ctr">
                        <a:lnSpc>
                          <a:spcPct val="150000"/>
                        </a:lnSpc>
                        <a:spcAft>
                          <a:spcPts val="800"/>
                        </a:spcAft>
                      </a:pPr>
                      <a:r>
                        <a:rPr lang="en-US" sz="1050" kern="100" dirty="0">
                          <a:effectLst/>
                        </a:rPr>
                        <a:t>NFR-06</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a:effectLst/>
                        </a:rPr>
                        <a:t>Security</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a:effectLst/>
                        </a:rPr>
                        <a:t>User passwords must be encrypted (using secure hashing algorithms) before storage in the database.</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33585865"/>
                  </a:ext>
                </a:extLst>
              </a:tr>
              <a:tr h="553955">
                <a:tc>
                  <a:txBody>
                    <a:bodyPr/>
                    <a:lstStyle/>
                    <a:p>
                      <a:pPr algn="ctr">
                        <a:lnSpc>
                          <a:spcPct val="150000"/>
                        </a:lnSpc>
                        <a:spcAft>
                          <a:spcPts val="800"/>
                        </a:spcAft>
                      </a:pPr>
                      <a:r>
                        <a:rPr lang="en-US" sz="1050" kern="100" dirty="0">
                          <a:effectLst/>
                        </a:rPr>
                        <a:t>NFR-07</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dirty="0">
                          <a:effectLst/>
                        </a:rPr>
                        <a:t>Security</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a:effectLst/>
                        </a:rPr>
                        <a:t>Access to all pages must be protected by session validation; unauthorized access attempts must be redirected to login.</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2860951998"/>
                  </a:ext>
                </a:extLst>
              </a:tr>
              <a:tr h="553955">
                <a:tc>
                  <a:txBody>
                    <a:bodyPr/>
                    <a:lstStyle/>
                    <a:p>
                      <a:pPr algn="ctr">
                        <a:lnSpc>
                          <a:spcPct val="150000"/>
                        </a:lnSpc>
                        <a:spcAft>
                          <a:spcPts val="800"/>
                        </a:spcAft>
                      </a:pPr>
                      <a:r>
                        <a:rPr lang="en-US" sz="1050" kern="100" dirty="0">
                          <a:effectLst/>
                        </a:rPr>
                        <a:t>NFR-08</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dirty="0">
                          <a:effectLst/>
                        </a:rPr>
                        <a:t>Security</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a:effectLst/>
                        </a:rPr>
                        <a:t>Role-Based Access Control (RBAC) must strictly enforce permissions; users can only access features relevant to their role.</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2584595022"/>
                  </a:ext>
                </a:extLst>
              </a:tr>
              <a:tr h="553955">
                <a:tc>
                  <a:txBody>
                    <a:bodyPr/>
                    <a:lstStyle/>
                    <a:p>
                      <a:pPr algn="ctr">
                        <a:lnSpc>
                          <a:spcPct val="150000"/>
                        </a:lnSpc>
                        <a:spcAft>
                          <a:spcPts val="800"/>
                        </a:spcAft>
                      </a:pPr>
                      <a:r>
                        <a:rPr lang="en-US" sz="1050" kern="100" dirty="0">
                          <a:effectLst/>
                        </a:rPr>
                        <a:t>NFR-09</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a:effectLst/>
                        </a:rPr>
                        <a:t>Scalability</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dirty="0">
                          <a:effectLst/>
                        </a:rPr>
                        <a:t>The database schema and code structure must allow for future module additions without major refactoring.</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388537799"/>
                  </a:ext>
                </a:extLst>
              </a:tr>
              <a:tr h="334367">
                <a:tc>
                  <a:txBody>
                    <a:bodyPr/>
                    <a:lstStyle/>
                    <a:p>
                      <a:pPr algn="ctr">
                        <a:lnSpc>
                          <a:spcPct val="150000"/>
                        </a:lnSpc>
                        <a:spcAft>
                          <a:spcPts val="800"/>
                        </a:spcAft>
                      </a:pPr>
                      <a:r>
                        <a:rPr lang="en-US" sz="1050" kern="100" dirty="0">
                          <a:effectLst/>
                        </a:rPr>
                        <a:t>NFR-10</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solidFill>
                      <a:schemeClr val="accent5">
                        <a:lumMod val="50000"/>
                      </a:schemeClr>
                    </a:solidFill>
                  </a:tcPr>
                </a:tc>
                <a:tc>
                  <a:txBody>
                    <a:bodyPr/>
                    <a:lstStyle/>
                    <a:p>
                      <a:pPr algn="ctr">
                        <a:lnSpc>
                          <a:spcPct val="150000"/>
                        </a:lnSpc>
                        <a:spcAft>
                          <a:spcPts val="800"/>
                        </a:spcAft>
                      </a:pPr>
                      <a:r>
                        <a:rPr lang="en-US" sz="1050" kern="100">
                          <a:effectLst/>
                        </a:rPr>
                        <a:t>Integration</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tc>
                  <a:txBody>
                    <a:bodyPr/>
                    <a:lstStyle/>
                    <a:p>
                      <a:pPr algn="ctr">
                        <a:lnSpc>
                          <a:spcPct val="150000"/>
                        </a:lnSpc>
                        <a:spcAft>
                          <a:spcPts val="800"/>
                        </a:spcAft>
                      </a:pPr>
                      <a:r>
                        <a:rPr lang="en-US" sz="1050" kern="100" dirty="0">
                          <a:effectLst/>
                        </a:rPr>
                        <a:t>Data entered once (e.g., patient registration) must be automatically available across all related modules.</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45454" marR="45454" marT="0" marB="0" anchor="ctr"/>
                </a:tc>
                <a:extLst>
                  <a:ext uri="{0D108BD9-81ED-4DB2-BD59-A6C34878D82A}">
                    <a16:rowId xmlns:a16="http://schemas.microsoft.com/office/drawing/2014/main" val="3551566515"/>
                  </a:ext>
                </a:extLst>
              </a:tr>
            </a:tbl>
          </a:graphicData>
        </a:graphic>
      </p:graphicFrame>
    </p:spTree>
    <p:extLst>
      <p:ext uri="{BB962C8B-B14F-4D97-AF65-F5344CB8AC3E}">
        <p14:creationId xmlns:p14="http://schemas.microsoft.com/office/powerpoint/2010/main" val="161768582"/>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0754B0C-14C8-4AFD-9DCF-E64CECAF5C9B}"/>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66D6DB04-ACBA-47A0-858F-94F2D2F0D0A9}"/>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DFACACC4-4DDA-47D0-ABA8-B650C8A765A6}"/>
              </a:ext>
            </a:extLst>
          </p:cNvPr>
          <p:cNvSpPr>
            <a:spLocks noGrp="1"/>
          </p:cNvSpPr>
          <p:nvPr>
            <p:ph type="sldNum" sz="quarter" idx="12"/>
          </p:nvPr>
        </p:nvSpPr>
        <p:spPr/>
        <p:txBody>
          <a:bodyPr/>
          <a:lstStyle/>
          <a:p>
            <a:fld id="{2C11977B-EEE1-4D56-A6CE-8035002D8A82}" type="slidenum">
              <a:rPr lang="en-US" smtClean="0"/>
              <a:t>8</a:t>
            </a:fld>
            <a:endParaRPr lang="en-US"/>
          </a:p>
        </p:txBody>
      </p:sp>
      <p:pic>
        <p:nvPicPr>
          <p:cNvPr id="8" name="Picture 7">
            <a:extLst>
              <a:ext uri="{FF2B5EF4-FFF2-40B4-BE49-F238E27FC236}">
                <a16:creationId xmlns:a16="http://schemas.microsoft.com/office/drawing/2014/main" id="{B389D129-06E6-4718-88D2-31D558A02C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28544682-1AFD-43AD-93C5-214A748C629D}"/>
              </a:ext>
            </a:extLst>
          </p:cNvPr>
          <p:cNvSpPr txBox="1"/>
          <p:nvPr/>
        </p:nvSpPr>
        <p:spPr>
          <a:xfrm>
            <a:off x="1707331" y="136525"/>
            <a:ext cx="8192285" cy="625428"/>
          </a:xfrm>
          <a:prstGeom prst="rect">
            <a:avLst/>
          </a:prstGeom>
          <a:noFill/>
        </p:spPr>
        <p:txBody>
          <a:bodyPr wrap="square">
            <a:spAutoFit/>
          </a:bodyPr>
          <a:lstStyle/>
          <a:p>
            <a:pPr marL="0" marR="0" algn="l">
              <a:lnSpc>
                <a:spcPct val="115000"/>
              </a:lnSpc>
              <a:spcAft>
                <a:spcPts val="800"/>
              </a:spcAft>
              <a:buNone/>
            </a:pPr>
            <a:r>
              <a:rPr lang="en-US" sz="3200" b="1" dirty="0">
                <a:solidFill>
                  <a:schemeClr val="accent2">
                    <a:lumMod val="50000"/>
                  </a:schemeClr>
                </a:solidFill>
                <a:latin typeface="Calibri Light" panose="020F0302020204030204" pitchFamily="34" charset="0"/>
                <a:cs typeface="Times New Roman" panose="02020603050405020304" pitchFamily="18" charset="0"/>
              </a:rPr>
              <a:t>Functional requirements for the current project</a:t>
            </a:r>
          </a:p>
        </p:txBody>
      </p:sp>
      <p:graphicFrame>
        <p:nvGraphicFramePr>
          <p:cNvPr id="11" name="Table 10">
            <a:extLst>
              <a:ext uri="{FF2B5EF4-FFF2-40B4-BE49-F238E27FC236}">
                <a16:creationId xmlns:a16="http://schemas.microsoft.com/office/drawing/2014/main" id="{E726D077-5F03-4F24-9ADB-EE15E91219F7}"/>
              </a:ext>
            </a:extLst>
          </p:cNvPr>
          <p:cNvGraphicFramePr>
            <a:graphicFrameLocks noGrp="1"/>
          </p:cNvGraphicFramePr>
          <p:nvPr>
            <p:extLst>
              <p:ext uri="{D42A27DB-BD31-4B8C-83A1-F6EECF244321}">
                <p14:modId xmlns:p14="http://schemas.microsoft.com/office/powerpoint/2010/main" val="3174317104"/>
              </p:ext>
            </p:extLst>
          </p:nvPr>
        </p:nvGraphicFramePr>
        <p:xfrm>
          <a:off x="838200" y="935975"/>
          <a:ext cx="9729247" cy="5785497"/>
        </p:xfrm>
        <a:graphic>
          <a:graphicData uri="http://schemas.openxmlformats.org/drawingml/2006/table">
            <a:tbl>
              <a:tblPr firstRow="1" firstCol="1" bandRow="1">
                <a:tableStyleId>{5C22544A-7EE6-4342-B048-85BDC9FD1C3A}</a:tableStyleId>
              </a:tblPr>
              <a:tblGrid>
                <a:gridCol w="1041075">
                  <a:extLst>
                    <a:ext uri="{9D8B030D-6E8A-4147-A177-3AD203B41FA5}">
                      <a16:colId xmlns:a16="http://schemas.microsoft.com/office/drawing/2014/main" val="591602939"/>
                    </a:ext>
                  </a:extLst>
                </a:gridCol>
                <a:gridCol w="1289012">
                  <a:extLst>
                    <a:ext uri="{9D8B030D-6E8A-4147-A177-3AD203B41FA5}">
                      <a16:colId xmlns:a16="http://schemas.microsoft.com/office/drawing/2014/main" val="2033854600"/>
                    </a:ext>
                  </a:extLst>
                </a:gridCol>
                <a:gridCol w="3899648">
                  <a:extLst>
                    <a:ext uri="{9D8B030D-6E8A-4147-A177-3AD203B41FA5}">
                      <a16:colId xmlns:a16="http://schemas.microsoft.com/office/drawing/2014/main" val="1608208603"/>
                    </a:ext>
                  </a:extLst>
                </a:gridCol>
                <a:gridCol w="3499512">
                  <a:extLst>
                    <a:ext uri="{9D8B030D-6E8A-4147-A177-3AD203B41FA5}">
                      <a16:colId xmlns:a16="http://schemas.microsoft.com/office/drawing/2014/main" val="35783377"/>
                    </a:ext>
                  </a:extLst>
                </a:gridCol>
              </a:tblGrid>
              <a:tr h="307109">
                <a:tc>
                  <a:txBody>
                    <a:bodyPr/>
                    <a:lstStyle/>
                    <a:p>
                      <a:pPr marL="0" marR="0" algn="ctr">
                        <a:lnSpc>
                          <a:spcPct val="115000"/>
                        </a:lnSpc>
                        <a:spcAft>
                          <a:spcPts val="800"/>
                        </a:spcAft>
                        <a:buNone/>
                      </a:pPr>
                      <a:r>
                        <a:rPr lang="en-US" sz="1600" kern="100" dirty="0">
                          <a:effectLst/>
                        </a:rPr>
                        <a:t>Priority</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chemeClr val="accent5">
                        <a:lumMod val="50000"/>
                      </a:schemeClr>
                    </a:solidFill>
                  </a:tcPr>
                </a:tc>
                <a:tc>
                  <a:txBody>
                    <a:bodyPr/>
                    <a:lstStyle/>
                    <a:p>
                      <a:pPr marL="0" marR="0" algn="ctr">
                        <a:lnSpc>
                          <a:spcPct val="115000"/>
                        </a:lnSpc>
                        <a:spcAft>
                          <a:spcPts val="800"/>
                        </a:spcAft>
                        <a:buNone/>
                      </a:pPr>
                      <a:r>
                        <a:rPr lang="en-US" sz="1600" kern="100" dirty="0">
                          <a:effectLst/>
                        </a:rPr>
                        <a:t>ID</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chemeClr val="accent5">
                        <a:lumMod val="50000"/>
                      </a:schemeClr>
                    </a:solidFill>
                  </a:tcPr>
                </a:tc>
                <a:tc>
                  <a:txBody>
                    <a:bodyPr/>
                    <a:lstStyle/>
                    <a:p>
                      <a:pPr marL="0" marR="0" algn="ctr">
                        <a:lnSpc>
                          <a:spcPct val="115000"/>
                        </a:lnSpc>
                        <a:spcAft>
                          <a:spcPts val="800"/>
                        </a:spcAft>
                        <a:buNone/>
                      </a:pPr>
                      <a:r>
                        <a:rPr lang="en-US" sz="1600" kern="100" dirty="0">
                          <a:effectLst/>
                        </a:rPr>
                        <a:t>Requirement</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chemeClr val="accent5">
                        <a:lumMod val="50000"/>
                      </a:schemeClr>
                    </a:solidFill>
                  </a:tcPr>
                </a:tc>
                <a:tc>
                  <a:txBody>
                    <a:bodyPr/>
                    <a:lstStyle/>
                    <a:p>
                      <a:pPr marL="0" marR="0" algn="ctr">
                        <a:lnSpc>
                          <a:spcPct val="115000"/>
                        </a:lnSpc>
                        <a:spcAft>
                          <a:spcPts val="800"/>
                        </a:spcAft>
                        <a:buNone/>
                      </a:pPr>
                      <a:r>
                        <a:rPr lang="en-US" sz="1600" kern="100" dirty="0">
                          <a:effectLst/>
                        </a:rPr>
                        <a:t>Description</a:t>
                      </a:r>
                      <a:endParaRPr lang="en-US" sz="1600" kern="100" dirty="0">
                        <a:effectLst/>
                        <a:latin typeface="Calibri" panose="020F0502020204030204" pitchFamily="34" charset="0"/>
                        <a:ea typeface="Calibri" panose="020F0502020204030204" pitchFamily="34" charset="0"/>
                        <a:cs typeface="Arial" panose="020B0604020202020204" pitchFamily="34" charset="0"/>
                      </a:endParaRPr>
                    </a:p>
                  </a:txBody>
                  <a:tcPr marL="64430" marR="64430" marT="0" marB="0">
                    <a:solidFill>
                      <a:schemeClr val="accent5">
                        <a:lumMod val="50000"/>
                      </a:schemeClr>
                    </a:solidFill>
                  </a:tcPr>
                </a:tc>
                <a:extLst>
                  <a:ext uri="{0D108BD9-81ED-4DB2-BD59-A6C34878D82A}">
                    <a16:rowId xmlns:a16="http://schemas.microsoft.com/office/drawing/2014/main" val="3177680516"/>
                  </a:ext>
                </a:extLst>
              </a:tr>
              <a:tr h="536999">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4</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REQ-043</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Change test request status</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dirty="0">
                          <a:solidFill>
                            <a:schemeClr val="tx1"/>
                          </a:solidFill>
                          <a:effectLst/>
                          <a:latin typeface="Times New Roman" panose="02020603050405020304" pitchFamily="18" charset="0"/>
                          <a:ea typeface="Arial" panose="020B0604020202020204" pitchFamily="34" charset="0"/>
                          <a:cs typeface="Arial" panose="020B0604020202020204" pitchFamily="34" charset="0"/>
                        </a:rPr>
                        <a:t>Change the status of an analysis request by the specialist.</a:t>
                      </a:r>
                      <a:endParaRPr lang="en-US" sz="9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869210391"/>
                  </a:ext>
                </a:extLst>
              </a:tr>
              <a:tr h="536999">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4</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REQ-044</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 a test request</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 an analysis request for a patient by a doctor.</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2640566338"/>
                  </a:ext>
                </a:extLst>
              </a:tr>
              <a:tr h="299700">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4</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REQ-045</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Edit a test request</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Modification of a request for additive analysis of a patient.</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9802814"/>
                  </a:ext>
                </a:extLst>
              </a:tr>
              <a:tr h="528797">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4</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REQ-046</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Enter test result</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Entering the result of an analysis by the responsible specialist.</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05177867"/>
                  </a:ext>
                </a:extLst>
              </a:tr>
              <a:tr h="536999">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4</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REQ-047</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 a medical record</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Adding a new patient medical record.</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4246204041"/>
                  </a:ext>
                </a:extLst>
              </a:tr>
              <a:tr h="299700">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4</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REQ-048</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Update medical record data</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Updating a pre-listed medical record.</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00577650"/>
                  </a:ext>
                </a:extLst>
              </a:tr>
              <a:tr h="528797">
                <a:tc>
                  <a:txBody>
                    <a:bodyPr/>
                    <a:lstStyle/>
                    <a:p>
                      <a:pPr algn="ctr">
                        <a:lnSpc>
                          <a:spcPct val="150000"/>
                        </a:lnSpc>
                        <a:spcAft>
                          <a:spcPts val="800"/>
                        </a:spcAft>
                      </a:pPr>
                      <a:r>
                        <a:rPr lang="en-US" sz="1050" b="1" kern="100">
                          <a:solidFill>
                            <a:schemeClr val="bg1"/>
                          </a:solidFill>
                          <a:effectLst/>
                          <a:latin typeface="Times New Roman" panose="02020603050405020304" pitchFamily="18" charset="0"/>
                          <a:ea typeface="Arial" panose="020B0604020202020204" pitchFamily="34" charset="0"/>
                          <a:cs typeface="Arial" panose="020B0604020202020204" pitchFamily="34" charset="0"/>
                        </a:rPr>
                        <a:t>5</a:t>
                      </a:r>
                      <a:endParaRPr lang="en-US" sz="900" kern="1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REQ-049</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dirty="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 a diagnosis</a:t>
                      </a:r>
                      <a:endParaRPr lang="en-US" sz="9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 a new diagnosis to the patient's condition by the doctor.</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597032157"/>
                  </a:ext>
                </a:extLst>
              </a:tr>
              <a:tr h="299700">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5</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REQ-050</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dirty="0">
                          <a:solidFill>
                            <a:schemeClr val="tx1"/>
                          </a:solidFill>
                          <a:effectLst/>
                          <a:latin typeface="Times New Roman" panose="02020603050405020304" pitchFamily="18" charset="0"/>
                          <a:ea typeface="Arial" panose="020B0604020202020204" pitchFamily="34" charset="0"/>
                          <a:cs typeface="Arial" panose="020B0604020202020204" pitchFamily="34" charset="0"/>
                        </a:rPr>
                        <a:t>Update a diagnosis</a:t>
                      </a:r>
                      <a:endParaRPr lang="en-US" sz="9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 pre-added diagnostic update by the doctor.</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067740824"/>
                  </a:ext>
                </a:extLst>
              </a:tr>
              <a:tr h="536999">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5</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REQ-051</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 an article</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Adding a new health article.</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72758115"/>
                  </a:ext>
                </a:extLst>
              </a:tr>
              <a:tr h="299700">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5</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REQ-052</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Edit an article</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Edit a previously added article.</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109928272"/>
                  </a:ext>
                </a:extLst>
              </a:tr>
              <a:tr h="536999">
                <a:tc>
                  <a:txBody>
                    <a:bodyPr/>
                    <a:lstStyle/>
                    <a:p>
                      <a:pPr algn="ctr">
                        <a:lnSpc>
                          <a:spcPct val="150000"/>
                        </a:lnSpc>
                        <a:spcAft>
                          <a:spcPts val="800"/>
                        </a:spcAft>
                      </a:pPr>
                      <a:r>
                        <a:rPr lang="en-US" sz="1050" b="1" kern="100">
                          <a:solidFill>
                            <a:schemeClr val="bg1"/>
                          </a:solidFill>
                          <a:effectLst/>
                          <a:latin typeface="Times New Roman" panose="02020603050405020304" pitchFamily="18" charset="0"/>
                          <a:ea typeface="Arial" panose="020B0604020202020204" pitchFamily="34" charset="0"/>
                          <a:cs typeface="Arial" panose="020B0604020202020204" pitchFamily="34" charset="0"/>
                        </a:rPr>
                        <a:t>5</a:t>
                      </a:r>
                      <a:endParaRPr lang="en-US" sz="900" kern="10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REQ-053</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Delete an article</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Delete a previously added article.</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351311962"/>
                  </a:ext>
                </a:extLst>
              </a:tr>
              <a:tr h="536999">
                <a:tc>
                  <a:txBody>
                    <a:bodyPr/>
                    <a:lstStyle/>
                    <a:p>
                      <a:pPr algn="ctr">
                        <a:lnSpc>
                          <a:spcPct val="150000"/>
                        </a:lnSpc>
                        <a:spcAft>
                          <a:spcPts val="800"/>
                        </a:spcAft>
                      </a:pPr>
                      <a:r>
                        <a:rPr lang="en-US" sz="1050" b="1" kern="100" dirty="0">
                          <a:solidFill>
                            <a:schemeClr val="bg1"/>
                          </a:solidFill>
                          <a:effectLst/>
                          <a:latin typeface="Times New Roman" panose="02020603050405020304" pitchFamily="18" charset="0"/>
                          <a:ea typeface="Arial" panose="020B0604020202020204" pitchFamily="34" charset="0"/>
                          <a:cs typeface="Arial" panose="020B0604020202020204" pitchFamily="34" charset="0"/>
                        </a:rPr>
                        <a:t>5</a:t>
                      </a:r>
                      <a:endParaRPr lang="en-US" sz="900" kern="1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solidFill>
                      <a:schemeClr val="accent5">
                        <a:lumMod val="50000"/>
                      </a:schemeClr>
                    </a:solidFill>
                  </a:tcPr>
                </a:tc>
                <a:tc>
                  <a:txBody>
                    <a:bodyPr/>
                    <a:lstStyle/>
                    <a:p>
                      <a:pPr algn="ctr">
                        <a:lnSpc>
                          <a:spcPct val="150000"/>
                        </a:lnSpc>
                        <a:spcAft>
                          <a:spcPts val="800"/>
                        </a:spcAft>
                      </a:pPr>
                      <a:r>
                        <a:rPr lang="en-US" sz="1050" b="1" kern="100">
                          <a:solidFill>
                            <a:schemeClr val="tx1"/>
                          </a:solidFill>
                          <a:effectLst/>
                          <a:latin typeface="Times New Roman" panose="02020603050405020304" pitchFamily="18" charset="0"/>
                          <a:ea typeface="Arial" panose="020B0604020202020204" pitchFamily="34" charset="0"/>
                          <a:cs typeface="Arial" panose="020B0604020202020204" pitchFamily="34" charset="0"/>
                        </a:rPr>
                        <a:t>REQ-054</a:t>
                      </a:r>
                      <a:endParaRPr lang="en-US" sz="900" kern="10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dirty="0">
                          <a:solidFill>
                            <a:schemeClr val="tx1"/>
                          </a:solidFill>
                          <a:effectLst/>
                          <a:latin typeface="Times New Roman" panose="02020603050405020304" pitchFamily="18" charset="0"/>
                          <a:ea typeface="Arial" panose="020B0604020202020204" pitchFamily="34" charset="0"/>
                          <a:cs typeface="Arial" panose="020B0604020202020204" pitchFamily="34" charset="0"/>
                        </a:rPr>
                        <a:t>Change article status</a:t>
                      </a:r>
                      <a:endParaRPr lang="en-US" sz="9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50000"/>
                        </a:lnSpc>
                        <a:spcAft>
                          <a:spcPts val="800"/>
                        </a:spcAft>
                      </a:pPr>
                      <a:r>
                        <a:rPr lang="en-US" sz="1050" b="1" kern="100" dirty="0">
                          <a:solidFill>
                            <a:schemeClr val="tx1"/>
                          </a:solidFill>
                          <a:effectLst/>
                          <a:latin typeface="Times New Roman" panose="02020603050405020304" pitchFamily="18" charset="0"/>
                          <a:ea typeface="Arial" panose="020B0604020202020204" pitchFamily="34" charset="0"/>
                          <a:cs typeface="Arial" panose="020B0604020202020204" pitchFamily="34" charset="0"/>
                        </a:rPr>
                        <a:t>Changing the status of an article (available, hidden).</a:t>
                      </a:r>
                      <a:endParaRPr lang="en-US" sz="900" kern="1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649494993"/>
                  </a:ext>
                </a:extLst>
              </a:tr>
            </a:tbl>
          </a:graphicData>
        </a:graphic>
      </p:graphicFrame>
    </p:spTree>
    <p:extLst>
      <p:ext uri="{BB962C8B-B14F-4D97-AF65-F5344CB8AC3E}">
        <p14:creationId xmlns:p14="http://schemas.microsoft.com/office/powerpoint/2010/main" val="2209271894"/>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C5F94-7BF3-4A41-AAF9-07CA145FD67B}"/>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B42B794D-225C-43D5-B3EA-D9ADBD1E35F0}"/>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FB67B760-0633-4C71-B291-10C0B7FBEE99}"/>
              </a:ext>
            </a:extLst>
          </p:cNvPr>
          <p:cNvSpPr>
            <a:spLocks noGrp="1"/>
          </p:cNvSpPr>
          <p:nvPr>
            <p:ph type="sldNum" sz="quarter" idx="12"/>
          </p:nvPr>
        </p:nvSpPr>
        <p:spPr/>
        <p:txBody>
          <a:bodyPr/>
          <a:lstStyle/>
          <a:p>
            <a:fld id="{2C11977B-EEE1-4D56-A6CE-8035002D8A82}" type="slidenum">
              <a:rPr lang="en-US" smtClean="0"/>
              <a:t>9</a:t>
            </a:fld>
            <a:endParaRPr lang="en-US"/>
          </a:p>
        </p:txBody>
      </p:sp>
      <p:pic>
        <p:nvPicPr>
          <p:cNvPr id="6" name="Picture 5">
            <a:extLst>
              <a:ext uri="{FF2B5EF4-FFF2-40B4-BE49-F238E27FC236}">
                <a16:creationId xmlns:a16="http://schemas.microsoft.com/office/drawing/2014/main" id="{D457EBB2-23C4-448F-BBCB-72E0E9549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1BB44C88-79D7-48F3-A10B-F7E5DD83CFD0}"/>
              </a:ext>
            </a:extLst>
          </p:cNvPr>
          <p:cNvSpPr txBox="1"/>
          <p:nvPr/>
        </p:nvSpPr>
        <p:spPr>
          <a:xfrm>
            <a:off x="3887772" y="505200"/>
            <a:ext cx="6094428" cy="625428"/>
          </a:xfrm>
          <a:prstGeom prst="rect">
            <a:avLst/>
          </a:prstGeom>
          <a:noFill/>
        </p:spPr>
        <p:txBody>
          <a:bodyPr wrap="square">
            <a:spAutoFit/>
          </a:bodyPr>
          <a:lstStyle/>
          <a:p>
            <a:pPr marL="0" marR="0" algn="l">
              <a:lnSpc>
                <a:spcPct val="115000"/>
              </a:lnSpc>
              <a:spcAft>
                <a:spcPts val="800"/>
              </a:spcAft>
              <a:buNone/>
            </a:pPr>
            <a:r>
              <a:rPr lang="en-US" sz="3200" b="1" dirty="0">
                <a:solidFill>
                  <a:schemeClr val="accent2">
                    <a:lumMod val="50000"/>
                  </a:schemeClr>
                </a:solidFill>
                <a:latin typeface="Calibri Light" panose="020F0302020204030204" pitchFamily="34" charset="0"/>
                <a:cs typeface="Times New Roman" panose="02020603050405020304" pitchFamily="18" charset="0"/>
              </a:rPr>
              <a:t>Development Methodology</a:t>
            </a:r>
          </a:p>
        </p:txBody>
      </p:sp>
      <p:sp>
        <p:nvSpPr>
          <p:cNvPr id="10" name="TextBox 9">
            <a:extLst>
              <a:ext uri="{FF2B5EF4-FFF2-40B4-BE49-F238E27FC236}">
                <a16:creationId xmlns:a16="http://schemas.microsoft.com/office/drawing/2014/main" id="{811F5458-E584-49FB-B0DD-EA1E92927BE6}"/>
              </a:ext>
            </a:extLst>
          </p:cNvPr>
          <p:cNvSpPr txBox="1"/>
          <p:nvPr/>
        </p:nvSpPr>
        <p:spPr>
          <a:xfrm>
            <a:off x="14139" y="1994643"/>
            <a:ext cx="12019175" cy="4361707"/>
          </a:xfrm>
          <a:prstGeom prst="rect">
            <a:avLst/>
          </a:prstGeom>
          <a:noFill/>
        </p:spPr>
        <p:txBody>
          <a:bodyPr wrap="square">
            <a:spAutoFit/>
          </a:bodyPr>
          <a:lstStyle/>
          <a:p>
            <a:pPr marL="342900" lvl="0" indent="-342900" algn="just" rtl="0">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I: Reference Study &amp; Requirements Elicitation</a:t>
            </a:r>
            <a:r>
              <a:rPr lang="en-US" sz="1600" kern="100" dirty="0">
                <a:effectLst/>
                <a:latin typeface="Times New Roman" panose="02020603050405020304" pitchFamily="18" charset="0"/>
                <a:ea typeface="Arial" panose="020B0604020202020204" pitchFamily="34" charset="0"/>
              </a:rPr>
              <a:t> (Weeks 1-2): Literature review, stakeholder analysis, and formal documentation of REQ-001 to REQ-054.</a:t>
            </a:r>
            <a:endParaRPr lang="en-US" sz="1600" kern="100" dirty="0">
              <a:effectLst/>
              <a:latin typeface="Calibri" panose="020F0502020204030204" pitchFamily="34" charset="0"/>
              <a:ea typeface="Calibri" panose="020F0502020204030204" pitchFamily="34" charset="0"/>
            </a:endParaRPr>
          </a:p>
          <a:p>
            <a:pPr marL="342900" lvl="0" indent="-342900" algn="just">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II: Iteration 1 - Core Clinical Modules</a:t>
            </a:r>
            <a:r>
              <a:rPr lang="en-US" sz="1600" kern="100" dirty="0">
                <a:effectLst/>
                <a:latin typeface="Times New Roman" panose="02020603050405020304" pitchFamily="18" charset="0"/>
                <a:ea typeface="Arial" panose="020B0604020202020204" pitchFamily="34" charset="0"/>
              </a:rPr>
              <a:t> (Weeks 3-4): Implementation of patient record viewing and initial clinical workflows.</a:t>
            </a:r>
            <a:endParaRPr lang="en-US" sz="1600" kern="100" dirty="0">
              <a:effectLst/>
              <a:latin typeface="Calibri" panose="020F0502020204030204" pitchFamily="34" charset="0"/>
              <a:ea typeface="Calibri" panose="020F0502020204030204" pitchFamily="34" charset="0"/>
            </a:endParaRPr>
          </a:p>
          <a:p>
            <a:pPr marL="342900" lvl="0" indent="-342900" algn="just">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III: Iteration 2 - Scheduling &amp; Tracking</a:t>
            </a:r>
            <a:r>
              <a:rPr lang="en-US" sz="1600" kern="100" dirty="0">
                <a:effectLst/>
                <a:latin typeface="Times New Roman" panose="02020603050405020304" pitchFamily="18" charset="0"/>
                <a:ea typeface="Arial" panose="020B0604020202020204" pitchFamily="34" charset="0"/>
              </a:rPr>
              <a:t> (Weeks 5-6): Appointment booking, modification, and real-time status tracking.</a:t>
            </a:r>
            <a:endParaRPr lang="en-US" sz="1600" kern="100" dirty="0">
              <a:effectLst/>
              <a:latin typeface="Calibri" panose="020F0502020204030204" pitchFamily="34" charset="0"/>
              <a:ea typeface="Calibri" panose="020F0502020204030204" pitchFamily="34" charset="0"/>
            </a:endParaRPr>
          </a:p>
          <a:p>
            <a:pPr marL="342900" lvl="0" indent="-342900" algn="just">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IV: Iteration 3 - Content &amp; Feedback</a:t>
            </a:r>
            <a:r>
              <a:rPr lang="en-US" sz="1600" kern="100" dirty="0">
                <a:effectLst/>
                <a:latin typeface="Times New Roman" panose="02020603050405020304" pitchFamily="18" charset="0"/>
                <a:ea typeface="Arial" panose="020B0604020202020204" pitchFamily="34" charset="0"/>
              </a:rPr>
              <a:t> (Weeks 7-8): Health articles, survey deployment, and service rating mechanisms.</a:t>
            </a:r>
            <a:endParaRPr lang="en-US" sz="1600" kern="100" dirty="0">
              <a:effectLst/>
              <a:latin typeface="Calibri" panose="020F0502020204030204" pitchFamily="34" charset="0"/>
              <a:ea typeface="Calibri" panose="020F0502020204030204" pitchFamily="34" charset="0"/>
            </a:endParaRPr>
          </a:p>
          <a:p>
            <a:pPr marL="342900" lvl="0" indent="-342900" algn="just">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V: Iteration 4 - Administrative &amp; Financial</a:t>
            </a:r>
            <a:r>
              <a:rPr lang="en-US" sz="1600" kern="100" dirty="0">
                <a:effectLst/>
                <a:latin typeface="Times New Roman" panose="02020603050405020304" pitchFamily="18" charset="0"/>
                <a:ea typeface="Arial" panose="020B0604020202020204" pitchFamily="34" charset="0"/>
              </a:rPr>
              <a:t> (Weeks 9-10): Department lifecycle management, invoice generation, and reporting.</a:t>
            </a:r>
            <a:endParaRPr lang="en-US" sz="1600" kern="100" dirty="0">
              <a:effectLst/>
              <a:latin typeface="Calibri" panose="020F0502020204030204" pitchFamily="34" charset="0"/>
              <a:ea typeface="Calibri" panose="020F0502020204030204" pitchFamily="34" charset="0"/>
            </a:endParaRPr>
          </a:p>
          <a:p>
            <a:pPr marL="342900" lvl="0" indent="-342900" algn="just">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VI: Iteration 5 - Advanced Clinical &amp; Integration</a:t>
            </a:r>
            <a:r>
              <a:rPr lang="en-US" sz="1600" kern="100" dirty="0">
                <a:effectLst/>
                <a:latin typeface="Times New Roman" panose="02020603050405020304" pitchFamily="18" charset="0"/>
                <a:ea typeface="Arial" panose="020B0604020202020204" pitchFamily="34" charset="0"/>
              </a:rPr>
              <a:t> (Weeks 11-12): Final integration of laboratory test requests (REQ-042 to REQ-046), advanced medical records, and cross-module synchronization.</a:t>
            </a:r>
            <a:endParaRPr lang="en-US" sz="1600" kern="100" dirty="0">
              <a:effectLst/>
              <a:latin typeface="Calibri" panose="020F0502020204030204" pitchFamily="34" charset="0"/>
              <a:ea typeface="Calibri" panose="020F0502020204030204" pitchFamily="34" charset="0"/>
            </a:endParaRPr>
          </a:p>
          <a:p>
            <a:pPr marL="342900" lvl="0" indent="-342900" algn="just">
              <a:lnSpc>
                <a:spcPct val="150000"/>
              </a:lnSpc>
              <a:spcAft>
                <a:spcPts val="800"/>
              </a:spcAft>
              <a:tabLst>
                <a:tab pos="457200" algn="l"/>
              </a:tabLst>
            </a:pPr>
            <a:r>
              <a:rPr lang="en-US" sz="1600" b="1" kern="100" dirty="0">
                <a:effectLst/>
                <a:latin typeface="Times New Roman" panose="02020603050405020304" pitchFamily="18" charset="0"/>
                <a:ea typeface="Arial" panose="020B0604020202020204" pitchFamily="34" charset="0"/>
              </a:rPr>
              <a:t>Phase VII: Documentation &amp; Validation</a:t>
            </a:r>
            <a:r>
              <a:rPr lang="en-US" sz="1600" kern="100" dirty="0">
                <a:effectLst/>
                <a:latin typeface="Times New Roman" panose="02020603050405020304" pitchFamily="18" charset="0"/>
                <a:ea typeface="Arial" panose="020B0604020202020204" pitchFamily="34" charset="0"/>
              </a:rPr>
              <a:t> (Weeks 13-16): Comprehensive technical writing, UML/ERD finalization, test case execution, and academic report compilation.</a:t>
            </a:r>
            <a:endParaRPr lang="en-US" sz="160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4074460786"/>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DAE4A-50A2-4738-BE9F-023133F733D7}"/>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8AB1C546-CE7E-4967-B0A6-759CFFC7C780}"/>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3E1226F-1C77-44EC-8441-5ECAEFE0456D}"/>
              </a:ext>
            </a:extLst>
          </p:cNvPr>
          <p:cNvSpPr>
            <a:spLocks noGrp="1"/>
          </p:cNvSpPr>
          <p:nvPr>
            <p:ph type="sldNum" sz="quarter" idx="12"/>
          </p:nvPr>
        </p:nvSpPr>
        <p:spPr/>
        <p:txBody>
          <a:bodyPr/>
          <a:lstStyle/>
          <a:p>
            <a:fld id="{2C11977B-EEE1-4D56-A6CE-8035002D8A82}" type="slidenum">
              <a:rPr lang="en-US" smtClean="0"/>
              <a:t>10</a:t>
            </a:fld>
            <a:endParaRPr lang="en-US"/>
          </a:p>
        </p:txBody>
      </p:sp>
      <p:pic>
        <p:nvPicPr>
          <p:cNvPr id="6" name="Picture 5">
            <a:extLst>
              <a:ext uri="{FF2B5EF4-FFF2-40B4-BE49-F238E27FC236}">
                <a16:creationId xmlns:a16="http://schemas.microsoft.com/office/drawing/2014/main" id="{DC80AEA0-7052-4883-9D8A-2DF6D983D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6E6B644A-5BF2-4F65-85E6-CFF08282199A}"/>
              </a:ext>
            </a:extLst>
          </p:cNvPr>
          <p:cNvSpPr txBox="1"/>
          <p:nvPr/>
        </p:nvSpPr>
        <p:spPr>
          <a:xfrm>
            <a:off x="3497247" y="209272"/>
            <a:ext cx="6094428"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Project Plan (Gantt Chart)</a:t>
            </a:r>
          </a:p>
        </p:txBody>
      </p:sp>
      <p:pic>
        <p:nvPicPr>
          <p:cNvPr id="9" name="Picture 8">
            <a:extLst>
              <a:ext uri="{FF2B5EF4-FFF2-40B4-BE49-F238E27FC236}">
                <a16:creationId xmlns:a16="http://schemas.microsoft.com/office/drawing/2014/main" id="{9C5F3D08-18B8-4BB0-9C2A-6ABE6FC3BF24}"/>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38200" y="1200035"/>
            <a:ext cx="9511646" cy="5448693"/>
          </a:xfrm>
          <a:prstGeom prst="rect">
            <a:avLst/>
          </a:prstGeom>
          <a:solidFill>
            <a:schemeClr val="bg1">
              <a:lumMod val="95000"/>
            </a:schemeClr>
          </a:solidFill>
          <a:ln>
            <a:solidFill>
              <a:schemeClr val="accent2">
                <a:lumMod val="40000"/>
                <a:lumOff val="60000"/>
              </a:schemeClr>
            </a:solidFill>
          </a:ln>
        </p:spPr>
        <p:style>
          <a:lnRef idx="2">
            <a:schemeClr val="accent2"/>
          </a:lnRef>
          <a:fillRef idx="1">
            <a:schemeClr val="lt1"/>
          </a:fillRef>
          <a:effectRef idx="0">
            <a:schemeClr val="accent2"/>
          </a:effectRef>
          <a:fontRef idx="minor">
            <a:schemeClr val="dk1"/>
          </a:fontRef>
        </p:style>
      </p:pic>
    </p:spTree>
    <p:extLst>
      <p:ext uri="{BB962C8B-B14F-4D97-AF65-F5344CB8AC3E}">
        <p14:creationId xmlns:p14="http://schemas.microsoft.com/office/powerpoint/2010/main" val="2431857718"/>
      </p:ext>
    </p:extLst>
  </p:cSld>
  <p:clrMapOvr>
    <a:masterClrMapping/>
  </p:clrMapOvr>
  <p:transition spd="slow">
    <p:push dir="u"/>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DAE4A-50A2-4738-BE9F-023133F733D7}"/>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8AB1C546-CE7E-4967-B0A6-759CFFC7C780}"/>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3E1226F-1C77-44EC-8441-5ECAEFE0456D}"/>
              </a:ext>
            </a:extLst>
          </p:cNvPr>
          <p:cNvSpPr>
            <a:spLocks noGrp="1"/>
          </p:cNvSpPr>
          <p:nvPr>
            <p:ph type="sldNum" sz="quarter" idx="12"/>
          </p:nvPr>
        </p:nvSpPr>
        <p:spPr/>
        <p:txBody>
          <a:bodyPr/>
          <a:lstStyle/>
          <a:p>
            <a:fld id="{2C11977B-EEE1-4D56-A6CE-8035002D8A82}" type="slidenum">
              <a:rPr lang="en-US" smtClean="0"/>
              <a:t>11</a:t>
            </a:fld>
            <a:endParaRPr lang="en-US"/>
          </a:p>
        </p:txBody>
      </p:sp>
      <p:pic>
        <p:nvPicPr>
          <p:cNvPr id="6" name="Picture 5">
            <a:extLst>
              <a:ext uri="{FF2B5EF4-FFF2-40B4-BE49-F238E27FC236}">
                <a16:creationId xmlns:a16="http://schemas.microsoft.com/office/drawing/2014/main" id="{DC80AEA0-7052-4883-9D8A-2DF6D983D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0" name="TextBox 9">
            <a:extLst>
              <a:ext uri="{FF2B5EF4-FFF2-40B4-BE49-F238E27FC236}">
                <a16:creationId xmlns:a16="http://schemas.microsoft.com/office/drawing/2014/main" id="{2CA48CD6-3E3E-42D2-9A0F-20278F518D32}"/>
              </a:ext>
            </a:extLst>
          </p:cNvPr>
          <p:cNvSpPr txBox="1"/>
          <p:nvPr/>
        </p:nvSpPr>
        <p:spPr>
          <a:xfrm>
            <a:off x="4274343" y="136525"/>
            <a:ext cx="3409950"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System Architecture</a:t>
            </a:r>
          </a:p>
        </p:txBody>
      </p:sp>
      <p:pic>
        <p:nvPicPr>
          <p:cNvPr id="12" name="صورة 1">
            <a:extLst>
              <a:ext uri="{FF2B5EF4-FFF2-40B4-BE49-F238E27FC236}">
                <a16:creationId xmlns:a16="http://schemas.microsoft.com/office/drawing/2014/main" id="{91B7ED73-AB8F-40D4-930A-C8BD36C46977}"/>
              </a:ext>
            </a:extLst>
          </p:cNvPr>
          <p:cNvPicPr/>
          <p:nvPr/>
        </p:nvPicPr>
        <p:blipFill rotWithShape="1">
          <a:blip r:embed="rId3"/>
          <a:srcRect t="4563"/>
          <a:stretch/>
        </p:blipFill>
        <p:spPr bwMode="auto">
          <a:xfrm>
            <a:off x="3295650" y="898478"/>
            <a:ext cx="5219700" cy="5822997"/>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4218569799"/>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1AEF8-E43B-4516-BE7F-6A8D687542D1}"/>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37CE5C59-02F9-43E9-9ECE-7CDB4D6590BF}"/>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3BF506C1-501D-4365-8F16-AB59877B85AD}"/>
              </a:ext>
            </a:extLst>
          </p:cNvPr>
          <p:cNvSpPr>
            <a:spLocks noGrp="1"/>
          </p:cNvSpPr>
          <p:nvPr>
            <p:ph type="sldNum" sz="quarter" idx="12"/>
          </p:nvPr>
        </p:nvSpPr>
        <p:spPr/>
        <p:txBody>
          <a:bodyPr/>
          <a:lstStyle/>
          <a:p>
            <a:fld id="{2C11977B-EEE1-4D56-A6CE-8035002D8A82}" type="slidenum">
              <a:rPr lang="en-US" smtClean="0"/>
              <a:t>12</a:t>
            </a:fld>
            <a:endParaRPr lang="en-US"/>
          </a:p>
        </p:txBody>
      </p:sp>
      <p:pic>
        <p:nvPicPr>
          <p:cNvPr id="6" name="Picture 5">
            <a:extLst>
              <a:ext uri="{FF2B5EF4-FFF2-40B4-BE49-F238E27FC236}">
                <a16:creationId xmlns:a16="http://schemas.microsoft.com/office/drawing/2014/main" id="{3D5E5339-BF02-4985-B1B4-6DD7E9008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8" name="TextBox 7">
            <a:extLst>
              <a:ext uri="{FF2B5EF4-FFF2-40B4-BE49-F238E27FC236}">
                <a16:creationId xmlns:a16="http://schemas.microsoft.com/office/drawing/2014/main" id="{E1D5C63F-2186-4DD0-942A-8793574AE02B}"/>
              </a:ext>
            </a:extLst>
          </p:cNvPr>
          <p:cNvSpPr txBox="1"/>
          <p:nvPr/>
        </p:nvSpPr>
        <p:spPr>
          <a:xfrm>
            <a:off x="4533900" y="136525"/>
            <a:ext cx="3505200"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Use Case Diagram</a:t>
            </a:r>
          </a:p>
        </p:txBody>
      </p:sp>
      <p:pic>
        <p:nvPicPr>
          <p:cNvPr id="9" name="صورة 2">
            <a:extLst>
              <a:ext uri="{FF2B5EF4-FFF2-40B4-BE49-F238E27FC236}">
                <a16:creationId xmlns:a16="http://schemas.microsoft.com/office/drawing/2014/main" id="{512D5CE6-B575-42CE-B946-8245A622733E}"/>
              </a:ext>
            </a:extLst>
          </p:cNvPr>
          <p:cNvPicPr/>
          <p:nvPr/>
        </p:nvPicPr>
        <p:blipFill>
          <a:blip r:embed="rId3">
            <a:extLst>
              <a:ext uri="{28A0092B-C50C-407E-A947-70E740481C1C}">
                <a14:useLocalDpi xmlns:a14="http://schemas.microsoft.com/office/drawing/2010/main" val="0"/>
              </a:ext>
            </a:extLst>
          </a:blip>
          <a:stretch>
            <a:fillRect/>
          </a:stretch>
        </p:blipFill>
        <p:spPr>
          <a:xfrm>
            <a:off x="2800350" y="898478"/>
            <a:ext cx="6267450" cy="5814378"/>
          </a:xfrm>
          <a:prstGeom prst="rect">
            <a:avLst/>
          </a:prstGeom>
        </p:spPr>
      </p:pic>
      <p:sp>
        <p:nvSpPr>
          <p:cNvPr id="11" name="Oval 10">
            <a:extLst>
              <a:ext uri="{FF2B5EF4-FFF2-40B4-BE49-F238E27FC236}">
                <a16:creationId xmlns:a16="http://schemas.microsoft.com/office/drawing/2014/main" id="{736A4E42-E79C-45CA-B2DD-F42EAECF3C2C}"/>
              </a:ext>
            </a:extLst>
          </p:cNvPr>
          <p:cNvSpPr/>
          <p:nvPr/>
        </p:nvSpPr>
        <p:spPr>
          <a:xfrm>
            <a:off x="10606088" y="4430718"/>
            <a:ext cx="1543050" cy="590550"/>
          </a:xfrm>
          <a:prstGeom prst="ellipse">
            <a:avLst/>
          </a:prstGeom>
          <a:solidFill>
            <a:srgbClr val="2DC73C"/>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solidFill>
                  <a:schemeClr val="tx1"/>
                </a:solidFill>
              </a:rPr>
              <a:t>Semester</a:t>
            </a:r>
            <a:endParaRPr lang="ar-AE" dirty="0">
              <a:solidFill>
                <a:schemeClr val="tx1"/>
              </a:solidFill>
            </a:endParaRPr>
          </a:p>
        </p:txBody>
      </p:sp>
      <p:sp>
        <p:nvSpPr>
          <p:cNvPr id="13" name="Oval 12">
            <a:extLst>
              <a:ext uri="{FF2B5EF4-FFF2-40B4-BE49-F238E27FC236}">
                <a16:creationId xmlns:a16="http://schemas.microsoft.com/office/drawing/2014/main" id="{283CE7A3-DF18-4EF7-A24A-E622034D58D3}"/>
              </a:ext>
            </a:extLst>
          </p:cNvPr>
          <p:cNvSpPr/>
          <p:nvPr/>
        </p:nvSpPr>
        <p:spPr>
          <a:xfrm>
            <a:off x="10644188" y="5168108"/>
            <a:ext cx="1466850" cy="590550"/>
          </a:xfrm>
          <a:prstGeom prst="ellipse">
            <a:avLst/>
          </a:prstGeom>
          <a:solidFill>
            <a:srgbClr val="1ED6CD"/>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Grad 1</a:t>
            </a:r>
            <a:endParaRPr lang="ar-AE" dirty="0">
              <a:solidFill>
                <a:schemeClr val="tx1"/>
              </a:solidFill>
            </a:endParaRPr>
          </a:p>
        </p:txBody>
      </p:sp>
      <p:sp>
        <p:nvSpPr>
          <p:cNvPr id="14" name="Oval 13">
            <a:extLst>
              <a:ext uri="{FF2B5EF4-FFF2-40B4-BE49-F238E27FC236}">
                <a16:creationId xmlns:a16="http://schemas.microsoft.com/office/drawing/2014/main" id="{37751CB2-1B71-4D9B-AD4E-EDC8880922D6}"/>
              </a:ext>
            </a:extLst>
          </p:cNvPr>
          <p:cNvSpPr/>
          <p:nvPr/>
        </p:nvSpPr>
        <p:spPr>
          <a:xfrm>
            <a:off x="10687051" y="5903913"/>
            <a:ext cx="1381125" cy="590550"/>
          </a:xfrm>
          <a:prstGeom prst="ellipse">
            <a:avLst/>
          </a:prstGeom>
          <a:solidFill>
            <a:schemeClr val="bg1"/>
          </a:solidFill>
          <a:ln>
            <a:solidFill>
              <a:schemeClr val="tx1"/>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solidFill>
                  <a:schemeClr val="tx1"/>
                </a:solidFill>
              </a:rPr>
              <a:t>Grad 2</a:t>
            </a:r>
            <a:endParaRPr lang="ar-AE" dirty="0">
              <a:solidFill>
                <a:schemeClr val="tx1"/>
              </a:solidFill>
            </a:endParaRPr>
          </a:p>
        </p:txBody>
      </p:sp>
    </p:spTree>
    <p:extLst>
      <p:ext uri="{BB962C8B-B14F-4D97-AF65-F5344CB8AC3E}">
        <p14:creationId xmlns:p14="http://schemas.microsoft.com/office/powerpoint/2010/main" val="4193057062"/>
      </p:ext>
    </p:extLst>
  </p:cSld>
  <p:clrMapOvr>
    <a:masterClrMapping/>
  </p:clrMapOvr>
  <p:transition spd="slow">
    <p:push dir="u"/>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DAE4A-50A2-4738-BE9F-023133F733D7}"/>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8AB1C546-CE7E-4967-B0A6-759CFFC7C780}"/>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3E1226F-1C77-44EC-8441-5ECAEFE0456D}"/>
              </a:ext>
            </a:extLst>
          </p:cNvPr>
          <p:cNvSpPr>
            <a:spLocks noGrp="1"/>
          </p:cNvSpPr>
          <p:nvPr>
            <p:ph type="sldNum" sz="quarter" idx="12"/>
          </p:nvPr>
        </p:nvSpPr>
        <p:spPr/>
        <p:txBody>
          <a:bodyPr/>
          <a:lstStyle/>
          <a:p>
            <a:fld id="{2C11977B-EEE1-4D56-A6CE-8035002D8A82}" type="slidenum">
              <a:rPr lang="en-US" smtClean="0"/>
              <a:t>13</a:t>
            </a:fld>
            <a:endParaRPr lang="en-US"/>
          </a:p>
        </p:txBody>
      </p:sp>
      <p:pic>
        <p:nvPicPr>
          <p:cNvPr id="6" name="Picture 5">
            <a:extLst>
              <a:ext uri="{FF2B5EF4-FFF2-40B4-BE49-F238E27FC236}">
                <a16:creationId xmlns:a16="http://schemas.microsoft.com/office/drawing/2014/main" id="{DC80AEA0-7052-4883-9D8A-2DF6D983D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611D7A3D-A826-4423-81B0-B531A8D347F3}"/>
              </a:ext>
            </a:extLst>
          </p:cNvPr>
          <p:cNvSpPr txBox="1"/>
          <p:nvPr/>
        </p:nvSpPr>
        <p:spPr>
          <a:xfrm>
            <a:off x="4324350" y="136525"/>
            <a:ext cx="4591050"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Use Case Description</a:t>
            </a:r>
          </a:p>
        </p:txBody>
      </p:sp>
      <p:graphicFrame>
        <p:nvGraphicFramePr>
          <p:cNvPr id="8" name="Table 7">
            <a:extLst>
              <a:ext uri="{FF2B5EF4-FFF2-40B4-BE49-F238E27FC236}">
                <a16:creationId xmlns:a16="http://schemas.microsoft.com/office/drawing/2014/main" id="{64CDB47A-DF66-4324-A049-1AD4FA0773FF}"/>
              </a:ext>
            </a:extLst>
          </p:cNvPr>
          <p:cNvGraphicFramePr>
            <a:graphicFrameLocks noGrp="1"/>
          </p:cNvGraphicFramePr>
          <p:nvPr>
            <p:extLst>
              <p:ext uri="{D42A27DB-BD31-4B8C-83A1-F6EECF244321}">
                <p14:modId xmlns:p14="http://schemas.microsoft.com/office/powerpoint/2010/main" val="3662571857"/>
              </p:ext>
            </p:extLst>
          </p:nvPr>
        </p:nvGraphicFramePr>
        <p:xfrm>
          <a:off x="838200" y="1352550"/>
          <a:ext cx="10139553" cy="4581527"/>
        </p:xfrm>
        <a:graphic>
          <a:graphicData uri="http://schemas.openxmlformats.org/drawingml/2006/table">
            <a:tbl>
              <a:tblPr firstRow="1" firstCol="1" bandRow="1">
                <a:tableStyleId>{69012ECD-51FC-41F1-AA8D-1B2483CD663E}</a:tableStyleId>
              </a:tblPr>
              <a:tblGrid>
                <a:gridCol w="1970050">
                  <a:extLst>
                    <a:ext uri="{9D8B030D-6E8A-4147-A177-3AD203B41FA5}">
                      <a16:colId xmlns:a16="http://schemas.microsoft.com/office/drawing/2014/main" val="1113321076"/>
                    </a:ext>
                  </a:extLst>
                </a:gridCol>
                <a:gridCol w="8169503">
                  <a:extLst>
                    <a:ext uri="{9D8B030D-6E8A-4147-A177-3AD203B41FA5}">
                      <a16:colId xmlns:a16="http://schemas.microsoft.com/office/drawing/2014/main" val="783876674"/>
                    </a:ext>
                  </a:extLst>
                </a:gridCol>
              </a:tblGrid>
              <a:tr h="375994">
                <a:tc>
                  <a:txBody>
                    <a:bodyPr/>
                    <a:lstStyle/>
                    <a:p>
                      <a:pPr>
                        <a:lnSpc>
                          <a:spcPct val="107000"/>
                        </a:lnSpc>
                        <a:spcAft>
                          <a:spcPts val="800"/>
                        </a:spcAft>
                      </a:pPr>
                      <a:r>
                        <a:rPr lang="en-US" sz="1600" kern="100" dirty="0">
                          <a:effectLst/>
                        </a:rPr>
                        <a:t>ID</a:t>
                      </a:r>
                      <a:endParaRPr lang="en-US" sz="1600" kern="100" dirty="0">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dirty="0">
                          <a:effectLst/>
                        </a:rPr>
                        <a:t>REQ-054</a:t>
                      </a:r>
                      <a:endParaRPr lang="en-US" sz="1600" kern="100" dirty="0">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extLst>
                  <a:ext uri="{0D108BD9-81ED-4DB2-BD59-A6C34878D82A}">
                    <a16:rowId xmlns:a16="http://schemas.microsoft.com/office/drawing/2014/main" val="3868844651"/>
                  </a:ext>
                </a:extLst>
              </a:tr>
              <a:tr h="375994">
                <a:tc>
                  <a:txBody>
                    <a:bodyPr/>
                    <a:lstStyle/>
                    <a:p>
                      <a:pPr>
                        <a:lnSpc>
                          <a:spcPct val="107000"/>
                        </a:lnSpc>
                        <a:spcAft>
                          <a:spcPts val="800"/>
                        </a:spcAft>
                      </a:pPr>
                      <a:r>
                        <a:rPr lang="en-US" sz="1600" kern="100" dirty="0">
                          <a:solidFill>
                            <a:schemeClr val="bg1"/>
                          </a:solidFill>
                          <a:effectLst/>
                        </a:rPr>
                        <a:t>Use case</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dirty="0">
                          <a:effectLst/>
                        </a:rPr>
                        <a:t>Change article status</a:t>
                      </a:r>
                      <a:endParaRPr lang="en-US" sz="16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828959477"/>
                  </a:ext>
                </a:extLst>
              </a:tr>
              <a:tr h="375994">
                <a:tc>
                  <a:txBody>
                    <a:bodyPr/>
                    <a:lstStyle/>
                    <a:p>
                      <a:pPr>
                        <a:lnSpc>
                          <a:spcPct val="107000"/>
                        </a:lnSpc>
                        <a:spcAft>
                          <a:spcPts val="800"/>
                        </a:spcAft>
                      </a:pPr>
                      <a:r>
                        <a:rPr lang="en-US" sz="1600" kern="100" dirty="0">
                          <a:solidFill>
                            <a:schemeClr val="bg1"/>
                          </a:solidFill>
                          <a:effectLst/>
                        </a:rPr>
                        <a:t>Brief description</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dirty="0">
                          <a:effectLst/>
                        </a:rPr>
                        <a:t>Changing the status of an article (Available, Hidden)</a:t>
                      </a:r>
                      <a:endParaRPr lang="en-US" sz="16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990562965"/>
                  </a:ext>
                </a:extLst>
              </a:tr>
              <a:tr h="375994">
                <a:tc>
                  <a:txBody>
                    <a:bodyPr/>
                    <a:lstStyle/>
                    <a:p>
                      <a:pPr>
                        <a:lnSpc>
                          <a:spcPct val="107000"/>
                        </a:lnSpc>
                        <a:spcAft>
                          <a:spcPts val="800"/>
                        </a:spcAft>
                      </a:pPr>
                      <a:r>
                        <a:rPr lang="en-US" sz="1600" kern="100" dirty="0">
                          <a:solidFill>
                            <a:schemeClr val="bg1"/>
                          </a:solidFill>
                          <a:effectLst/>
                        </a:rPr>
                        <a:t>Actors</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a:effectLst/>
                        </a:rPr>
                        <a:t>Doctor, Specialist</a:t>
                      </a:r>
                      <a:endParaRPr lang="en-US" sz="1600" kern="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855647317"/>
                  </a:ext>
                </a:extLst>
              </a:tr>
              <a:tr h="769389">
                <a:tc>
                  <a:txBody>
                    <a:bodyPr/>
                    <a:lstStyle/>
                    <a:p>
                      <a:pPr>
                        <a:lnSpc>
                          <a:spcPct val="107000"/>
                        </a:lnSpc>
                        <a:spcAft>
                          <a:spcPts val="800"/>
                        </a:spcAft>
                      </a:pPr>
                      <a:r>
                        <a:rPr lang="en-US" sz="1600" kern="100" dirty="0">
                          <a:solidFill>
                            <a:schemeClr val="bg1"/>
                          </a:solidFill>
                          <a:effectLst/>
                        </a:rPr>
                        <a:t>Previous conditions</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a:effectLst/>
                        </a:rPr>
                        <a:t>- Login</a:t>
                      </a:r>
                      <a:br>
                        <a:rPr lang="en-US" sz="1600" kern="100">
                          <a:effectLst/>
                        </a:rPr>
                      </a:br>
                      <a:r>
                        <a:rPr lang="en-US" sz="1600" kern="100">
                          <a:effectLst/>
                        </a:rPr>
                        <a:t>- Article exists</a:t>
                      </a:r>
                      <a:endParaRPr lang="en-US" sz="1600" kern="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838242548"/>
                  </a:ext>
                </a:extLst>
              </a:tr>
              <a:tr h="375994">
                <a:tc>
                  <a:txBody>
                    <a:bodyPr/>
                    <a:lstStyle/>
                    <a:p>
                      <a:pPr>
                        <a:lnSpc>
                          <a:spcPct val="107000"/>
                        </a:lnSpc>
                        <a:spcAft>
                          <a:spcPts val="800"/>
                        </a:spcAft>
                      </a:pPr>
                      <a:r>
                        <a:rPr lang="en-US" sz="1600" kern="100" dirty="0">
                          <a:solidFill>
                            <a:schemeClr val="bg1"/>
                          </a:solidFill>
                          <a:effectLst/>
                        </a:rPr>
                        <a:t>Subsequent terms</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a:effectLst/>
                        </a:rPr>
                        <a:t>- Successful completion of the operation</a:t>
                      </a:r>
                      <a:endParaRPr lang="en-US" sz="1600" kern="10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4074520705"/>
                  </a:ext>
                </a:extLst>
              </a:tr>
              <a:tr h="1556174">
                <a:tc>
                  <a:txBody>
                    <a:bodyPr/>
                    <a:lstStyle/>
                    <a:p>
                      <a:pPr>
                        <a:lnSpc>
                          <a:spcPct val="107000"/>
                        </a:lnSpc>
                        <a:spcAft>
                          <a:spcPts val="800"/>
                        </a:spcAft>
                      </a:pPr>
                      <a:r>
                        <a:rPr lang="en-US" sz="1600" kern="100" dirty="0">
                          <a:solidFill>
                            <a:schemeClr val="bg1"/>
                          </a:solidFill>
                          <a:effectLst/>
                        </a:rPr>
                        <a:t>The main flow</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marL="342900" lvl="0" indent="-342900" rtl="0">
                        <a:lnSpc>
                          <a:spcPct val="107000"/>
                        </a:lnSpc>
                        <a:buFont typeface="Simplified Arabic" panose="02020603050405020304" pitchFamily="18" charset="-78"/>
                        <a:buChar char="-"/>
                      </a:pPr>
                      <a:r>
                        <a:rPr lang="en-US" sz="1600" kern="100" dirty="0">
                          <a:effectLst/>
                        </a:rPr>
                        <a:t>When the user views the articles list, the system displays the status toggle for each article.</a:t>
                      </a:r>
                    </a:p>
                    <a:p>
                      <a:pPr marL="342900" lvl="0" indent="-342900">
                        <a:lnSpc>
                          <a:spcPct val="107000"/>
                        </a:lnSpc>
                        <a:buFont typeface="Simplified Arabic" panose="02020603050405020304" pitchFamily="18" charset="-78"/>
                        <a:buChar char="-"/>
                      </a:pPr>
                      <a:r>
                        <a:rPr lang="en-US" sz="1600" kern="100" dirty="0">
                          <a:effectLst/>
                        </a:rPr>
                        <a:t>The user changes the status (from Available to Hidden, or vice versa).</a:t>
                      </a:r>
                    </a:p>
                    <a:p>
                      <a:pPr marL="342900" lvl="0" indent="-342900">
                        <a:lnSpc>
                          <a:spcPct val="107000"/>
                        </a:lnSpc>
                        <a:buFont typeface="Simplified Arabic" panose="02020603050405020304" pitchFamily="18" charset="-78"/>
                        <a:buChar char="-"/>
                      </a:pPr>
                      <a:r>
                        <a:rPr lang="en-US" sz="1600" kern="100" dirty="0">
                          <a:effectLst/>
                        </a:rPr>
                        <a:t>The system immediately updates the status in the database.</a:t>
                      </a:r>
                    </a:p>
                    <a:p>
                      <a:pPr marL="342900" lvl="0" indent="-342900">
                        <a:lnSpc>
                          <a:spcPct val="107000"/>
                        </a:lnSpc>
                        <a:spcAft>
                          <a:spcPts val="800"/>
                        </a:spcAft>
                        <a:buFont typeface="Simplified Arabic" panose="02020603050405020304" pitchFamily="18" charset="-78"/>
                        <a:buChar char="-"/>
                      </a:pPr>
                      <a:r>
                        <a:rPr lang="en-US" sz="1600" kern="100" dirty="0">
                          <a:effectLst/>
                        </a:rPr>
                        <a:t>Hidden articles are no longer visible to patients.</a:t>
                      </a:r>
                      <a:endParaRPr lang="en-US" sz="16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577543463"/>
                  </a:ext>
                </a:extLst>
              </a:tr>
              <a:tr h="375994">
                <a:tc>
                  <a:txBody>
                    <a:bodyPr/>
                    <a:lstStyle/>
                    <a:p>
                      <a:pPr>
                        <a:lnSpc>
                          <a:spcPct val="107000"/>
                        </a:lnSpc>
                        <a:spcAft>
                          <a:spcPts val="800"/>
                        </a:spcAft>
                      </a:pPr>
                      <a:r>
                        <a:rPr lang="en-US" sz="1600" kern="100" dirty="0">
                          <a:solidFill>
                            <a:schemeClr val="bg1"/>
                          </a:solidFill>
                          <a:effectLst/>
                        </a:rPr>
                        <a:t>Alternative flow</a:t>
                      </a:r>
                      <a:endParaRPr lang="en-US" sz="1600" kern="100" dirty="0">
                        <a:solidFill>
                          <a:schemeClr val="bg1"/>
                        </a:solidFill>
                        <a:effectLst/>
                        <a:latin typeface="Calibri" panose="020F0502020204030204" pitchFamily="34" charset="0"/>
                        <a:ea typeface="Calibri" panose="020F0502020204030204" pitchFamily="34" charset="0"/>
                      </a:endParaRPr>
                    </a:p>
                  </a:txBody>
                  <a:tcPr marL="68580" marR="68580" marT="0" marB="0">
                    <a:solidFill>
                      <a:schemeClr val="accent5">
                        <a:lumMod val="50000"/>
                      </a:schemeClr>
                    </a:solidFill>
                  </a:tcPr>
                </a:tc>
                <a:tc>
                  <a:txBody>
                    <a:bodyPr/>
                    <a:lstStyle/>
                    <a:p>
                      <a:pPr>
                        <a:lnSpc>
                          <a:spcPct val="107000"/>
                        </a:lnSpc>
                        <a:spcAft>
                          <a:spcPts val="800"/>
                        </a:spcAft>
                      </a:pPr>
                      <a:r>
                        <a:rPr lang="en-US" sz="1600" kern="100" dirty="0">
                          <a:effectLst/>
                        </a:rPr>
                        <a:t>- None — status change is always permitted.</a:t>
                      </a:r>
                      <a:endParaRPr lang="en-US" sz="1600" kern="100" dirty="0">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542863028"/>
                  </a:ext>
                </a:extLst>
              </a:tr>
            </a:tbl>
          </a:graphicData>
        </a:graphic>
      </p:graphicFrame>
    </p:spTree>
    <p:extLst>
      <p:ext uri="{BB962C8B-B14F-4D97-AF65-F5344CB8AC3E}">
        <p14:creationId xmlns:p14="http://schemas.microsoft.com/office/powerpoint/2010/main" val="2848468914"/>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1AEF8-E43B-4516-BE7F-6A8D687542D1}"/>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37CE5C59-02F9-43E9-9ECE-7CDB4D6590BF}"/>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3BF506C1-501D-4365-8F16-AB59877B85AD}"/>
              </a:ext>
            </a:extLst>
          </p:cNvPr>
          <p:cNvSpPr>
            <a:spLocks noGrp="1"/>
          </p:cNvSpPr>
          <p:nvPr>
            <p:ph type="sldNum" sz="quarter" idx="12"/>
          </p:nvPr>
        </p:nvSpPr>
        <p:spPr/>
        <p:txBody>
          <a:bodyPr/>
          <a:lstStyle/>
          <a:p>
            <a:fld id="{2C11977B-EEE1-4D56-A6CE-8035002D8A82}" type="slidenum">
              <a:rPr lang="en-US" smtClean="0"/>
              <a:t>14</a:t>
            </a:fld>
            <a:endParaRPr lang="en-US"/>
          </a:p>
        </p:txBody>
      </p:sp>
      <p:pic>
        <p:nvPicPr>
          <p:cNvPr id="6" name="Picture 5">
            <a:extLst>
              <a:ext uri="{FF2B5EF4-FFF2-40B4-BE49-F238E27FC236}">
                <a16:creationId xmlns:a16="http://schemas.microsoft.com/office/drawing/2014/main" id="{3D5E5339-BF02-4985-B1B4-6DD7E9008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FA1B768A-992F-4480-96D3-C74998A9E512}"/>
              </a:ext>
            </a:extLst>
          </p:cNvPr>
          <p:cNvSpPr txBox="1"/>
          <p:nvPr/>
        </p:nvSpPr>
        <p:spPr>
          <a:xfrm>
            <a:off x="4600575" y="69850"/>
            <a:ext cx="3371850"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Activity Diagram</a:t>
            </a:r>
          </a:p>
        </p:txBody>
      </p:sp>
      <p:pic>
        <p:nvPicPr>
          <p:cNvPr id="8" name="Picture 7">
            <a:extLst>
              <a:ext uri="{FF2B5EF4-FFF2-40B4-BE49-F238E27FC236}">
                <a16:creationId xmlns:a16="http://schemas.microsoft.com/office/drawing/2014/main" id="{CD48DCF9-22E3-4863-8739-D62C17258226}"/>
              </a:ext>
            </a:extLst>
          </p:cNvPr>
          <p:cNvPicPr/>
          <p:nvPr/>
        </p:nvPicPr>
        <p:blipFill rotWithShape="1">
          <a:blip r:embed="rId3" cstate="print">
            <a:extLst>
              <a:ext uri="{28A0092B-C50C-407E-A947-70E740481C1C}">
                <a14:useLocalDpi xmlns:a14="http://schemas.microsoft.com/office/drawing/2010/main" val="0"/>
              </a:ext>
            </a:extLst>
          </a:blip>
          <a:srcRect t="2671"/>
          <a:stretch/>
        </p:blipFill>
        <p:spPr bwMode="auto">
          <a:xfrm>
            <a:off x="2552700" y="831803"/>
            <a:ext cx="6410325" cy="6026197"/>
          </a:xfrm>
          <a:prstGeom prst="rect">
            <a:avLst/>
          </a:prstGeom>
          <a:solidFill>
            <a:schemeClr val="bg1"/>
          </a:solid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02367562"/>
      </p:ext>
    </p:extLst>
  </p:cSld>
  <p:clrMapOvr>
    <a:masterClrMapping/>
  </p:clrMapOvr>
  <p:transition spd="slow">
    <p:push dir="u"/>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DAE4A-50A2-4738-BE9F-023133F733D7}"/>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8AB1C546-CE7E-4967-B0A6-759CFFC7C780}"/>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3E1226F-1C77-44EC-8441-5ECAEFE0456D}"/>
              </a:ext>
            </a:extLst>
          </p:cNvPr>
          <p:cNvSpPr>
            <a:spLocks noGrp="1"/>
          </p:cNvSpPr>
          <p:nvPr>
            <p:ph type="sldNum" sz="quarter" idx="12"/>
          </p:nvPr>
        </p:nvSpPr>
        <p:spPr/>
        <p:txBody>
          <a:bodyPr/>
          <a:lstStyle/>
          <a:p>
            <a:fld id="{2C11977B-EEE1-4D56-A6CE-8035002D8A82}" type="slidenum">
              <a:rPr lang="en-US" smtClean="0"/>
              <a:t>15</a:t>
            </a:fld>
            <a:endParaRPr lang="en-US"/>
          </a:p>
        </p:txBody>
      </p:sp>
      <p:pic>
        <p:nvPicPr>
          <p:cNvPr id="6" name="Picture 5">
            <a:extLst>
              <a:ext uri="{FF2B5EF4-FFF2-40B4-BE49-F238E27FC236}">
                <a16:creationId xmlns:a16="http://schemas.microsoft.com/office/drawing/2014/main" id="{DC80AEA0-7052-4883-9D8A-2DF6D983D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3628134F-9487-448E-B5C5-CC7188D2196D}"/>
              </a:ext>
            </a:extLst>
          </p:cNvPr>
          <p:cNvSpPr txBox="1"/>
          <p:nvPr/>
        </p:nvSpPr>
        <p:spPr>
          <a:xfrm>
            <a:off x="4362450" y="0"/>
            <a:ext cx="3467100"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Sequence Diagram</a:t>
            </a:r>
          </a:p>
        </p:txBody>
      </p:sp>
      <p:pic>
        <p:nvPicPr>
          <p:cNvPr id="8" name="Picture 7">
            <a:extLst>
              <a:ext uri="{FF2B5EF4-FFF2-40B4-BE49-F238E27FC236}">
                <a16:creationId xmlns:a16="http://schemas.microsoft.com/office/drawing/2014/main" id="{98FEEBA5-A6CB-4740-A15E-CE533B3F3B45}"/>
              </a:ext>
            </a:extLst>
          </p:cNvPr>
          <p:cNvPicPr/>
          <p:nvPr/>
        </p:nvPicPr>
        <p:blipFill rotWithShape="1">
          <a:blip r:embed="rId3" cstate="print">
            <a:extLst>
              <a:ext uri="{28A0092B-C50C-407E-A947-70E740481C1C}">
                <a14:useLocalDpi xmlns:a14="http://schemas.microsoft.com/office/drawing/2010/main" val="0"/>
              </a:ext>
            </a:extLst>
          </a:blip>
          <a:srcRect t="1402"/>
          <a:stretch/>
        </p:blipFill>
        <p:spPr bwMode="auto">
          <a:xfrm>
            <a:off x="2695575" y="761953"/>
            <a:ext cx="6581775" cy="5902372"/>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41791756"/>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1AEF8-E43B-4516-BE7F-6A8D687542D1}"/>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37CE5C59-02F9-43E9-9ECE-7CDB4D6590BF}"/>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3BF506C1-501D-4365-8F16-AB59877B85AD}"/>
              </a:ext>
            </a:extLst>
          </p:cNvPr>
          <p:cNvSpPr>
            <a:spLocks noGrp="1"/>
          </p:cNvSpPr>
          <p:nvPr>
            <p:ph type="sldNum" sz="quarter" idx="12"/>
          </p:nvPr>
        </p:nvSpPr>
        <p:spPr/>
        <p:txBody>
          <a:bodyPr/>
          <a:lstStyle/>
          <a:p>
            <a:fld id="{2C11977B-EEE1-4D56-A6CE-8035002D8A82}" type="slidenum">
              <a:rPr lang="en-US" smtClean="0"/>
              <a:t>16</a:t>
            </a:fld>
            <a:endParaRPr lang="en-US"/>
          </a:p>
        </p:txBody>
      </p:sp>
      <p:pic>
        <p:nvPicPr>
          <p:cNvPr id="6" name="Picture 5">
            <a:extLst>
              <a:ext uri="{FF2B5EF4-FFF2-40B4-BE49-F238E27FC236}">
                <a16:creationId xmlns:a16="http://schemas.microsoft.com/office/drawing/2014/main" id="{3D5E5339-BF02-4985-B1B4-6DD7E9008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9380E356-1413-498C-9A05-4A0AAB3659E4}"/>
              </a:ext>
            </a:extLst>
          </p:cNvPr>
          <p:cNvSpPr txBox="1"/>
          <p:nvPr/>
        </p:nvSpPr>
        <p:spPr>
          <a:xfrm>
            <a:off x="5029200" y="136525"/>
            <a:ext cx="3048000"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Class Diagram</a:t>
            </a:r>
          </a:p>
        </p:txBody>
      </p:sp>
      <p:pic>
        <p:nvPicPr>
          <p:cNvPr id="8" name="Picture 7">
            <a:extLst>
              <a:ext uri="{FF2B5EF4-FFF2-40B4-BE49-F238E27FC236}">
                <a16:creationId xmlns:a16="http://schemas.microsoft.com/office/drawing/2014/main" id="{31508122-D03F-4894-8D17-5E22D63CE06B}"/>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528762" y="1120751"/>
            <a:ext cx="9134475" cy="4876800"/>
          </a:xfrm>
          <a:prstGeom prst="rect">
            <a:avLst/>
          </a:prstGeom>
          <a:noFill/>
          <a:ln>
            <a:noFill/>
          </a:ln>
        </p:spPr>
      </p:pic>
    </p:spTree>
    <p:extLst>
      <p:ext uri="{BB962C8B-B14F-4D97-AF65-F5344CB8AC3E}">
        <p14:creationId xmlns:p14="http://schemas.microsoft.com/office/powerpoint/2010/main" val="3395389064"/>
      </p:ext>
    </p:extLst>
  </p:cSld>
  <p:clrMapOvr>
    <a:masterClrMapping/>
  </p:clrMapOvr>
  <p:transition spd="slow">
    <p:push dir="u"/>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3ADAE4A-50A2-4738-BE9F-023133F733D7}"/>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8AB1C546-CE7E-4967-B0A6-759CFFC7C780}"/>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43E1226F-1C77-44EC-8441-5ECAEFE0456D}"/>
              </a:ext>
            </a:extLst>
          </p:cNvPr>
          <p:cNvSpPr>
            <a:spLocks noGrp="1"/>
          </p:cNvSpPr>
          <p:nvPr>
            <p:ph type="sldNum" sz="quarter" idx="12"/>
          </p:nvPr>
        </p:nvSpPr>
        <p:spPr/>
        <p:txBody>
          <a:bodyPr/>
          <a:lstStyle/>
          <a:p>
            <a:fld id="{2C11977B-EEE1-4D56-A6CE-8035002D8A82}" type="slidenum">
              <a:rPr lang="en-US" smtClean="0"/>
              <a:t>17</a:t>
            </a:fld>
            <a:endParaRPr lang="en-US"/>
          </a:p>
        </p:txBody>
      </p:sp>
      <p:pic>
        <p:nvPicPr>
          <p:cNvPr id="6" name="Picture 5">
            <a:extLst>
              <a:ext uri="{FF2B5EF4-FFF2-40B4-BE49-F238E27FC236}">
                <a16:creationId xmlns:a16="http://schemas.microsoft.com/office/drawing/2014/main" id="{DC80AEA0-7052-4883-9D8A-2DF6D983DE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D8A8F669-1EEA-453E-93F8-25C263472493}"/>
              </a:ext>
            </a:extLst>
          </p:cNvPr>
          <p:cNvSpPr txBox="1"/>
          <p:nvPr/>
        </p:nvSpPr>
        <p:spPr>
          <a:xfrm>
            <a:off x="5353050" y="136525"/>
            <a:ext cx="1628775"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ERD</a:t>
            </a:r>
          </a:p>
        </p:txBody>
      </p:sp>
      <p:pic>
        <p:nvPicPr>
          <p:cNvPr id="8" name="Picture 7">
            <a:extLst>
              <a:ext uri="{FF2B5EF4-FFF2-40B4-BE49-F238E27FC236}">
                <a16:creationId xmlns:a16="http://schemas.microsoft.com/office/drawing/2014/main" id="{CE74EA00-94A5-497C-B918-F6DC55683FAD}"/>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1209675" y="898478"/>
            <a:ext cx="9134475" cy="5457872"/>
          </a:xfrm>
          <a:prstGeom prst="rect">
            <a:avLst/>
          </a:prstGeom>
          <a:noFill/>
          <a:ln>
            <a:noFill/>
          </a:ln>
        </p:spPr>
      </p:pic>
    </p:spTree>
    <p:extLst>
      <p:ext uri="{BB962C8B-B14F-4D97-AF65-F5344CB8AC3E}">
        <p14:creationId xmlns:p14="http://schemas.microsoft.com/office/powerpoint/2010/main" val="347672774"/>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4E1AEF8-E43B-4516-BE7F-6A8D687542D1}"/>
              </a:ext>
            </a:extLst>
          </p:cNvPr>
          <p:cNvSpPr>
            <a:spLocks noGrp="1"/>
          </p:cNvSpPr>
          <p:nvPr>
            <p:ph type="dt" sz="half" idx="10"/>
          </p:nvPr>
        </p:nvSpPr>
        <p:spPr/>
        <p:txBody>
          <a:bodyPr/>
          <a:lstStyle/>
          <a:p>
            <a:fld id="{4E54A005-A4AE-48B5-9B72-AC59F9D0C9F3}" type="datetime1">
              <a:rPr lang="en-US" smtClean="0"/>
              <a:t>10/30/2026</a:t>
            </a:fld>
            <a:endParaRPr lang="en-US"/>
          </a:p>
        </p:txBody>
      </p:sp>
      <p:sp>
        <p:nvSpPr>
          <p:cNvPr id="3" name="Footer Placeholder 2">
            <a:extLst>
              <a:ext uri="{FF2B5EF4-FFF2-40B4-BE49-F238E27FC236}">
                <a16:creationId xmlns:a16="http://schemas.microsoft.com/office/drawing/2014/main" id="{37CE5C59-02F9-43E9-9ECE-7CDB4D6590BF}"/>
              </a:ext>
            </a:extLst>
          </p:cNvPr>
          <p:cNvSpPr>
            <a:spLocks noGrp="1"/>
          </p:cNvSpPr>
          <p:nvPr>
            <p:ph type="ftr" sz="quarter" idx="11"/>
          </p:nvPr>
        </p:nvSpPr>
        <p:spPr/>
        <p:txBody>
          <a:bodyPr/>
          <a:lstStyle/>
          <a:p>
            <a:r>
              <a:rPr lang="ar-LB"/>
              <a:t>مشروع فصلي....</a:t>
            </a:r>
            <a:endParaRPr lang="en-US"/>
          </a:p>
        </p:txBody>
      </p:sp>
      <p:sp>
        <p:nvSpPr>
          <p:cNvPr id="4" name="Slide Number Placeholder 3">
            <a:extLst>
              <a:ext uri="{FF2B5EF4-FFF2-40B4-BE49-F238E27FC236}">
                <a16:creationId xmlns:a16="http://schemas.microsoft.com/office/drawing/2014/main" id="{3BF506C1-501D-4365-8F16-AB59877B85AD}"/>
              </a:ext>
            </a:extLst>
          </p:cNvPr>
          <p:cNvSpPr>
            <a:spLocks noGrp="1"/>
          </p:cNvSpPr>
          <p:nvPr>
            <p:ph type="sldNum" sz="quarter" idx="12"/>
          </p:nvPr>
        </p:nvSpPr>
        <p:spPr/>
        <p:txBody>
          <a:bodyPr/>
          <a:lstStyle/>
          <a:p>
            <a:fld id="{2C11977B-EEE1-4D56-A6CE-8035002D8A82}" type="slidenum">
              <a:rPr lang="en-US" smtClean="0"/>
              <a:t>18</a:t>
            </a:fld>
            <a:endParaRPr lang="en-US"/>
          </a:p>
        </p:txBody>
      </p:sp>
      <p:pic>
        <p:nvPicPr>
          <p:cNvPr id="6" name="Picture 5">
            <a:extLst>
              <a:ext uri="{FF2B5EF4-FFF2-40B4-BE49-F238E27FC236}">
                <a16:creationId xmlns:a16="http://schemas.microsoft.com/office/drawing/2014/main" id="{3D5E5339-BF02-4985-B1B4-6DD7E9008A8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extBox 6">
            <a:extLst>
              <a:ext uri="{FF2B5EF4-FFF2-40B4-BE49-F238E27FC236}">
                <a16:creationId xmlns:a16="http://schemas.microsoft.com/office/drawing/2014/main" id="{3163BA70-9C7F-49F7-8543-A5414ED2DB7E}"/>
              </a:ext>
            </a:extLst>
          </p:cNvPr>
          <p:cNvSpPr txBox="1"/>
          <p:nvPr/>
        </p:nvSpPr>
        <p:spPr>
          <a:xfrm>
            <a:off x="5295899" y="-73025"/>
            <a:ext cx="2743201" cy="625428"/>
          </a:xfrm>
          <a:prstGeom prst="rect">
            <a:avLst/>
          </a:prstGeom>
          <a:noFill/>
        </p:spPr>
        <p:txBody>
          <a:bodyPr wrap="square">
            <a:spAutoFit/>
          </a:bodyPr>
          <a:lstStyle/>
          <a:p>
            <a:pPr algn="l">
              <a:lnSpc>
                <a:spcPct val="115000"/>
              </a:lnSpc>
              <a:spcAft>
                <a:spcPts val="800"/>
              </a:spcAft>
            </a:pPr>
            <a:r>
              <a:rPr lang="en-US" sz="3200" b="1" dirty="0">
                <a:solidFill>
                  <a:schemeClr val="accent2">
                    <a:lumMod val="50000"/>
                  </a:schemeClr>
                </a:solidFill>
                <a:latin typeface="Calibri Light" panose="020F0302020204030204" pitchFamily="34" charset="0"/>
                <a:cs typeface="Times New Roman" panose="02020603050405020304" pitchFamily="18" charset="0"/>
              </a:rPr>
              <a:t>Sitemap</a:t>
            </a:r>
          </a:p>
        </p:txBody>
      </p:sp>
      <p:pic>
        <p:nvPicPr>
          <p:cNvPr id="8" name="Picture 7">
            <a:extLst>
              <a:ext uri="{FF2B5EF4-FFF2-40B4-BE49-F238E27FC236}">
                <a16:creationId xmlns:a16="http://schemas.microsoft.com/office/drawing/2014/main" id="{E68B4800-5602-448C-AB98-73D7D7550EBA}"/>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2647949" y="695325"/>
            <a:ext cx="6448425" cy="6162675"/>
          </a:xfrm>
          <a:prstGeom prst="rect">
            <a:avLst/>
          </a:prstGeom>
          <a:noFill/>
          <a:ln>
            <a:noFill/>
          </a:ln>
        </p:spPr>
      </p:pic>
    </p:spTree>
    <p:extLst>
      <p:ext uri="{BB962C8B-B14F-4D97-AF65-F5344CB8AC3E}">
        <p14:creationId xmlns:p14="http://schemas.microsoft.com/office/powerpoint/2010/main" val="1116299076"/>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1126</Words>
  <Application>Microsoft Office PowerPoint</Application>
  <PresentationFormat>Widescreen</PresentationFormat>
  <Paragraphs>236</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Plus Jakarta Sans</vt:lpstr>
      <vt:lpstr>Simplified Arabic</vt:lpstr>
      <vt:lpstr>Symbol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2026-10-27T08:59:23Z</dcterms:created>
  <dcterms:modified xsi:type="dcterms:W3CDTF">2026-10-30T12:21:06Z</dcterms:modified>
</cp:coreProperties>
</file>